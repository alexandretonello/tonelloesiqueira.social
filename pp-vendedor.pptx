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9486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proposta. Número, destinatário, data e validade vêm dos ajustes; o resto do texto é editável direto no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 e objeto — seção 1 da proposta. Substitua a descrição do ativo ou negócio a ser avaliado: é o único bloco que muda a cada proposta.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Quem conduz e assina. Não há equipe júnior no caso: o Cliente fala com quem calcula, do primeiro contato ao fechamento.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o trabalho é feito por dentro: métodos de avaliação e os padrões técnicos que a casa segue na modelagem e na documentação.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5 — intermediação. Só se aplica quando a proposta abrange a condução da venda; desligue nos ajustes para propostas de laudo isolado.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Seções 4 e 6 — o que entra em cada contratação e o que não entra em nenhuma. Dois pontos sensíveis: o detalhamento não integra o mandato exclusivo, e o modelo financeiro é instrumento de trabalho, não entregável.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Seções 7 a 12 — as condições contratuais. Prazo de 30 dias corridos contados do recebimento das informações e da confirmação do adiantamento.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8 — preço. Coluna 1: só o laudo. Colunas 2 e 3: laudo somado à condução da venda — mais fixo e menos taxa, ou menos fixo e mais taxa. Apague as colunas que não se aplicam.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como aceitar e como levantamos as informações. Deixar claro que os itens citados são exemplos, não uma lista fechada — a lista definitiva sai dos questionários e do diagnóstico, para não limitar o escopo antecipadamente.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0E2438">
                  <a:alpha val="100000"/>
                </a:srgbClr>
              </a:gs>
              <a:gs pos="45000">
                <a:srgbClr val="173A59">
                  <a:alpha val="100000"/>
                </a:srgbClr>
              </a:gs>
              <a:gs pos="72000">
                <a:srgbClr val="245078">
                  <a:alpha val="100000"/>
                </a:srgbClr>
              </a:gs>
              <a:gs pos="100000">
                <a:srgbClr val="356C9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D4AF6A">
                  <a:alpha val="16000"/>
                </a:srgbClr>
              </a:gs>
              <a:gs pos="55000">
                <a:srgbClr val="D4AF6A">
                  <a:alpha val="0"/>
                </a:srgbClr>
              </a:gs>
            </a:gsLst>
            <a:path path="circle">
              <a:fillToRect l="88000" r="12000" b="100000"/>
            </a:path>
          </a:gradFill>
          <a:ln/>
        </p:spPr>
        <p:txBody>
          <a:bodyPr/>
          <a:lstStyle/>
          <a:p>
            <a:endParaRPr lang="en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13000"/>
          </a:blip>
          <a:stretch>
            <a:fillRect/>
          </a:stretch>
        </p:blipFill>
        <p:spPr>
          <a:xfrm>
            <a:off x="8125295" y="-476260"/>
            <a:ext cx="11877160" cy="112394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715478" y="0"/>
            <a:ext cx="9525" cy="10286977"/>
          </a:xfrm>
          <a:prstGeom prst="rect">
            <a:avLst/>
          </a:prstGeom>
          <a:gradFill rotWithShape="1">
            <a:gsLst>
              <a:gs pos="0">
                <a:srgbClr val="D4AF6A">
                  <a:alpha val="0"/>
                </a:srgbClr>
              </a:gs>
              <a:gs pos="30000">
                <a:srgbClr val="D4AF6A">
                  <a:alpha val="35000"/>
                </a:srgbClr>
              </a:gs>
              <a:gs pos="70000">
                <a:srgbClr val="D4AF6A">
                  <a:alpha val="35000"/>
                </a:srgbClr>
              </a:gs>
              <a:gs pos="100000">
                <a:srgbClr val="D4AF6A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997" y="914344"/>
            <a:ext cx="4155033" cy="49528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142997" y="3810693"/>
            <a:ext cx="400042" cy="19021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4"/>
          <p:cNvSpPr/>
          <p:nvPr/>
        </p:nvSpPr>
        <p:spPr>
          <a:xfrm>
            <a:off x="1714428" y="3714572"/>
            <a:ext cx="2742479" cy="246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8756"/>
              </a:lnSpc>
              <a:buNone/>
            </a:pPr>
            <a:r>
              <a:rPr lang="en-US" sz="1425" b="1" kern="0" spc="22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COMERCIAL</a:t>
            </a:r>
            <a:endParaRPr lang="en-US" sz="1425" dirty="0"/>
          </a:p>
        </p:txBody>
      </p:sp>
      <p:sp>
        <p:nvSpPr>
          <p:cNvPr id="9" name="Text 5"/>
          <p:cNvSpPr/>
          <p:nvPr/>
        </p:nvSpPr>
        <p:spPr>
          <a:xfrm>
            <a:off x="1142997" y="4269699"/>
            <a:ext cx="11079488" cy="18608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539"/>
              </a:lnSpc>
              <a:buNone/>
            </a:pPr>
            <a:r>
              <a:rPr lang="en-US" sz="6900" kern="0" spc="-103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 </a:t>
            </a:r>
            <a:r>
              <a:rPr lang="en-US" sz="6900" i="1" kern="0" spc="-103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r>
              <a:rPr lang="en-US" sz="6900" kern="0" spc="-103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venda, com as </a:t>
            </a:r>
            <a:r>
              <a:rPr lang="en-US" sz="6900" i="1" kern="0" spc="-103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condições </a:t>
            </a:r>
            <a:r>
              <a:rPr lang="en-US" sz="6900" kern="0" spc="-103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mesa.</a:t>
            </a:r>
            <a:endParaRPr lang="en-US" sz="6900" dirty="0"/>
          </a:p>
        </p:txBody>
      </p:sp>
      <p:sp>
        <p:nvSpPr>
          <p:cNvPr id="10" name="Shape 6"/>
          <p:cNvSpPr/>
          <p:nvPr/>
        </p:nvSpPr>
        <p:spPr>
          <a:xfrm>
            <a:off x="1142997" y="8358228"/>
            <a:ext cx="16001964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Text 7"/>
          <p:cNvSpPr/>
          <p:nvPr/>
        </p:nvSpPr>
        <p:spPr>
          <a:xfrm>
            <a:off x="1142997" y="8633618"/>
            <a:ext cx="1961865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DESTINATÁRIO</a:t>
            </a:r>
            <a:endParaRPr lang="en-US" sz="1125" dirty="0"/>
          </a:p>
        </p:txBody>
      </p:sp>
      <p:sp>
        <p:nvSpPr>
          <p:cNvPr id="12" name="Text 8"/>
          <p:cNvSpPr/>
          <p:nvPr/>
        </p:nvSpPr>
        <p:spPr>
          <a:xfrm>
            <a:off x="1142997" y="8976395"/>
            <a:ext cx="1961865" cy="43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408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Márcio / Bispo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3688486" y="8633618"/>
            <a:ext cx="2517060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EMISSÃO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3688486" y="8976395"/>
            <a:ext cx="2517060" cy="43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2408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05 de </a:t>
            </a:r>
            <a:r>
              <a:rPr lang="en-US" sz="1950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outubro</a:t>
            </a:r>
            <a:r>
              <a:rPr lang="en-US" sz="1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2026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6738699" y="8633618"/>
            <a:ext cx="2270473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</a:t>
            </a:r>
            <a:endParaRPr lang="en-US" sz="1125" dirty="0"/>
          </a:p>
        </p:txBody>
      </p:sp>
      <p:sp>
        <p:nvSpPr>
          <p:cNvPr id="16" name="Text 12"/>
          <p:cNvSpPr/>
          <p:nvPr/>
        </p:nvSpPr>
        <p:spPr>
          <a:xfrm>
            <a:off x="6738699" y="8976395"/>
            <a:ext cx="2270473" cy="43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2408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dias da emissão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965835"/>
            <a:ext cx="342845" cy="19021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57231" y="877322"/>
            <a:ext cx="2755353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CONTEXTO E OBJETO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2997" y="1341083"/>
            <a:ext cx="6046549" cy="687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399"/>
              </a:lnSpc>
              <a:buNone/>
            </a:pPr>
            <a:r>
              <a:rPr lang="en-US" sz="4650" kern="0" spc="-46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</a:t>
            </a:r>
            <a:r>
              <a:rPr lang="en-US" sz="4650" i="1" kern="0" spc="-46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avaliar.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6452886" y="1655329"/>
            <a:ext cx="768275" cy="37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/ 09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142997" y="2371587"/>
            <a:ext cx="17390" cy="90660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Text 5"/>
          <p:cNvSpPr/>
          <p:nvPr/>
        </p:nvSpPr>
        <p:spPr>
          <a:xfrm>
            <a:off x="1465188" y="2371587"/>
            <a:ext cx="8618925" cy="944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150"/>
              </a:lnSpc>
              <a:buNone/>
            </a:pPr>
            <a:r>
              <a:rPr lang="en-US" sz="25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Descreva aqui o negócio ou o ativo a ser avaliado: o que é, onde está, o que produz e em que condição opera hoje.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142997" y="4021753"/>
            <a:ext cx="8941115" cy="1233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849"/>
              </a:lnSpc>
              <a:buNone/>
            </a:pPr>
            <a:r>
              <a:rPr lang="en-US" sz="20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de qualquer número, é preciso acordo sobre o que está sendo avaliado. Este slide fixa isso por escrito: o ativo, a finalidade e a data a que a conclusão de valor se refere.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142997" y="5961099"/>
            <a:ext cx="8941115" cy="1233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849"/>
              </a:lnSpc>
              <a:buNone/>
            </a:pPr>
            <a:r>
              <a:rPr lang="en-US" sz="20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finalidade muda o trabalho. Vender, negociar com sócio, planejar sucessão ou instruir processo levam a recortes diferentes — e é a finalidade que você declarar que define qual deles adotamos.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142997" y="7900513"/>
            <a:ext cx="8941115" cy="1233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849"/>
              </a:lnSpc>
              <a:buNone/>
            </a:pPr>
            <a:r>
              <a:rPr lang="en-US" sz="20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 decisão for vender, conduzimos também a venda: é a seção 4 desta proposta. A conclusão de valor vem em três cenários, por unidade e nas combinações que você indicar — total ou parcial.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10547559" y="2371587"/>
            <a:ext cx="6597336" cy="9525"/>
          </a:xfrm>
          <a:prstGeom prst="rect">
            <a:avLst/>
          </a:prstGeom>
          <a:solidFill>
            <a:srgbClr val="1A2733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Shape 10"/>
          <p:cNvSpPr/>
          <p:nvPr/>
        </p:nvSpPr>
        <p:spPr>
          <a:xfrm>
            <a:off x="10547559" y="4138661"/>
            <a:ext cx="659733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/>
          <p:nvPr/>
        </p:nvSpPr>
        <p:spPr>
          <a:xfrm>
            <a:off x="10547559" y="2911838"/>
            <a:ext cx="7257069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CONDUZ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10547559" y="3235594"/>
            <a:ext cx="7257069" cy="409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07"/>
              </a:lnSpc>
              <a:buNone/>
            </a:pPr>
            <a:r>
              <a:rPr lang="en-US" sz="19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dois sócios, sem equipe júnior no caso.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0547559" y="5905804"/>
            <a:ext cx="659733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/>
          <p:nvPr/>
        </p:nvSpPr>
        <p:spPr>
          <a:xfrm>
            <a:off x="10547559" y="4493191"/>
            <a:ext cx="7257069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TÉCNICO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0547559" y="4816947"/>
            <a:ext cx="6795256" cy="781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07"/>
              </a:lnSpc>
              <a:buNone/>
            </a:pPr>
            <a:r>
              <a:rPr lang="en-US" sz="19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sócio que assina o laudo e responde por ele perante terceiros.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0547559" y="7672946"/>
            <a:ext cx="659733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Text 17"/>
          <p:cNvSpPr/>
          <p:nvPr/>
        </p:nvSpPr>
        <p:spPr>
          <a:xfrm>
            <a:off x="10547559" y="6260332"/>
            <a:ext cx="7257069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FINALIDADE DECLARADA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0547559" y="6584089"/>
            <a:ext cx="6795256" cy="781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07"/>
              </a:lnSpc>
              <a:buNone/>
            </a:pPr>
            <a:r>
              <a:rPr lang="en-US" sz="19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Declarada por você na contratação e registrada no laudo — é ela que define o recorte do trabalho.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547559" y="9440088"/>
            <a:ext cx="659733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2" name="Text 20"/>
          <p:cNvSpPr/>
          <p:nvPr/>
        </p:nvSpPr>
        <p:spPr>
          <a:xfrm>
            <a:off x="10547559" y="8027475"/>
            <a:ext cx="7257069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DATA-BASE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0547559" y="8351232"/>
            <a:ext cx="6795256" cy="781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507"/>
              </a:lnSpc>
              <a:buNone/>
            </a:pPr>
            <a:r>
              <a:rPr lang="en-US" sz="19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Definida no diagnóstico e declarada no laudo — a conclusão de valor se refere a ela.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89617"/>
            <a:ext cx="342845" cy="19021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57231" y="801104"/>
            <a:ext cx="3306424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RESPONSÁVEIS TÉCNICOS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2997" y="1245776"/>
            <a:ext cx="4096789" cy="666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399"/>
              </a:lnSpc>
              <a:buNone/>
            </a:pPr>
            <a:r>
              <a:rPr lang="en-US" sz="4500" kern="0" spc="-4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</a:t>
            </a:r>
            <a:r>
              <a:rPr lang="en-US" sz="4500" i="1" kern="0" spc="-4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assina.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454313" y="1539100"/>
            <a:ext cx="766849" cy="37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/ 09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142997" y="2179140"/>
            <a:ext cx="7772396" cy="73458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142997" y="9516306"/>
            <a:ext cx="777239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1142997" y="2179140"/>
            <a:ext cx="7772396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Shape 7"/>
          <p:cNvSpPr/>
          <p:nvPr/>
        </p:nvSpPr>
        <p:spPr>
          <a:xfrm>
            <a:off x="1142997" y="2179140"/>
            <a:ext cx="9525" cy="7345861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8906698" y="2179140"/>
            <a:ext cx="9525" cy="7345861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Shape 9"/>
          <p:cNvSpPr/>
          <p:nvPr/>
        </p:nvSpPr>
        <p:spPr>
          <a:xfrm>
            <a:off x="1437408" y="2482246"/>
            <a:ext cx="1866864" cy="6748345"/>
          </a:xfrm>
          <a:prstGeom prst="rect">
            <a:avLst/>
          </a:prstGeom>
          <a:ln w="8695">
            <a:solidFill>
              <a:srgbClr val="1A273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30563" r="28212"/>
          <a:stretch/>
        </p:blipFill>
        <p:spPr>
          <a:xfrm>
            <a:off x="1446103" y="2490941"/>
            <a:ext cx="1849474" cy="673095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589988" y="2482246"/>
            <a:ext cx="5534095" cy="42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415"/>
              </a:lnSpc>
              <a:buNone/>
            </a:pPr>
            <a:r>
              <a:rPr lang="en-US" sz="25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Alexandre Fillard Tonello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3589988" y="2966046"/>
            <a:ext cx="5534095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 · VALUATION E MODELAGEM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589988" y="3419278"/>
            <a:ext cx="5181926" cy="584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835"/>
              </a:lnSpc>
              <a:buNone/>
            </a:pPr>
            <a:r>
              <a:rPr lang="en-US" sz="180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Administrador pela UFSC e MBA Executivo pela FGV, soma quinze anos em finanças corporativas, Project Finance e valuation. No sistema Eletrobras, foi Head Latam, CFO da Rouar S.A. — sociedade binacional Brasil–Uruguai do Parque Eólico Artilleros — e Chief of Staff da Diretoria Administrativa da Eletrosul, onde conduziu estruturação de projetos, negociação com investidores e modelagem econômico-financeira de ativos de longo prazo. Tem formação executiva complementar em Wharton, Yale, Cambridge Judge e University of London. É dele o rigor analítico dos modelos da casa: a taxa de desconto calibrada ao porte do negócio, a projeção que resiste a pergunta de comprador e a memória de cálculo que qualquer técnico consegue replicar.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372565" y="2179140"/>
            <a:ext cx="7772396" cy="734586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Shape 14"/>
          <p:cNvSpPr/>
          <p:nvPr/>
        </p:nvSpPr>
        <p:spPr>
          <a:xfrm>
            <a:off x="9372565" y="9516306"/>
            <a:ext cx="7772396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8" name="Shape 15"/>
          <p:cNvSpPr/>
          <p:nvPr/>
        </p:nvSpPr>
        <p:spPr>
          <a:xfrm>
            <a:off x="9372565" y="2179140"/>
            <a:ext cx="7772396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Shape 16"/>
          <p:cNvSpPr/>
          <p:nvPr/>
        </p:nvSpPr>
        <p:spPr>
          <a:xfrm>
            <a:off x="9372565" y="2179140"/>
            <a:ext cx="9525" cy="7345861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Shape 17"/>
          <p:cNvSpPr/>
          <p:nvPr/>
        </p:nvSpPr>
        <p:spPr>
          <a:xfrm>
            <a:off x="17136266" y="2179140"/>
            <a:ext cx="9525" cy="7345861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Shape 18"/>
          <p:cNvSpPr/>
          <p:nvPr/>
        </p:nvSpPr>
        <p:spPr>
          <a:xfrm>
            <a:off x="9666976" y="2482246"/>
            <a:ext cx="1866864" cy="6748345"/>
          </a:xfrm>
          <a:prstGeom prst="rect">
            <a:avLst/>
          </a:prstGeom>
          <a:ln w="8695">
            <a:solidFill>
              <a:srgbClr val="1A2733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rcRect l="29387" r="29387"/>
          <a:stretch/>
        </p:blipFill>
        <p:spPr>
          <a:xfrm>
            <a:off x="9675671" y="2490941"/>
            <a:ext cx="1849474" cy="673095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1819555" y="2482246"/>
            <a:ext cx="5534095" cy="426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415"/>
              </a:lnSpc>
              <a:buNone/>
            </a:pPr>
            <a:r>
              <a:rPr lang="en-US" sz="25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Felipe Monteiro de Siqueira</a:t>
            </a:r>
            <a:endParaRPr lang="en-US" sz="2550" dirty="0"/>
          </a:p>
        </p:txBody>
      </p:sp>
      <p:sp>
        <p:nvSpPr>
          <p:cNvPr id="24" name="Text 20"/>
          <p:cNvSpPr/>
          <p:nvPr/>
        </p:nvSpPr>
        <p:spPr>
          <a:xfrm>
            <a:off x="11819555" y="2966046"/>
            <a:ext cx="5534095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SÓCIO · VENDA DE EMPRESA E NEGOCIAÇÃO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1819555" y="3419278"/>
            <a:ext cx="5181926" cy="584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835"/>
              </a:lnSpc>
              <a:buNone/>
            </a:pPr>
            <a:r>
              <a:rPr lang="en-US" sz="180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Administrador de empresas, pós-graduado em Marketing pela UFSC/Fepese e com formação em Valuation e Finanças pela FIPECAFI. Especialista em compra e venda de empresas, já assessorou dezenas de transações — da avaliação inicial e da preparação da empresa para venda até o fechamento, com discrição e foco no melhor valor para quem vende. Conhece o outro lado da mesa: sabe o que o comprador vai questionar, onde o preço costuma cair na diligência e como sustentar o valor sem expor o negócio. É autor do e-book </a:t>
            </a:r>
            <a:r>
              <a:rPr lang="en-US" sz="1800" i="1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 sua Empresa </a:t>
            </a:r>
            <a:r>
              <a:rPr lang="en-US" sz="180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do blog </a:t>
            </a:r>
            <a:r>
              <a:rPr lang="en-US" sz="1800" i="1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 e Venda de Empresas </a:t>
            </a:r>
            <a:r>
              <a:rPr lang="en-US" sz="180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dirigido a donos de PME.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6051" y="661031"/>
            <a:ext cx="342845" cy="19021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7010285" y="572518"/>
            <a:ext cx="2018059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METODOLOGIA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96051" y="998170"/>
            <a:ext cx="8702445" cy="58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146"/>
              </a:lnSpc>
              <a:buNone/>
            </a:pPr>
            <a:r>
              <a:rPr lang="en-US" sz="3900" kern="0" spc="-39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Método declarado, cálculo </a:t>
            </a:r>
            <a:r>
              <a:rPr lang="en-US" sz="3900" i="1" kern="0" spc="-39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auditável.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6451527" y="1207667"/>
            <a:ext cx="769634" cy="3734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/ 09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496051" y="1695340"/>
            <a:ext cx="10648910" cy="9525"/>
          </a:xfrm>
          <a:prstGeom prst="rect">
            <a:avLst/>
          </a:prstGeom>
          <a:solidFill>
            <a:srgbClr val="1A2733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1811811" y="1704035"/>
            <a:ext cx="9525" cy="140337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/>
          <p:nvPr/>
        </p:nvSpPr>
        <p:spPr>
          <a:xfrm>
            <a:off x="6496051" y="1827804"/>
            <a:ext cx="5512127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· ESCOPO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496051" y="2113452"/>
            <a:ext cx="5161355" cy="908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se avalia, para quem, para qual finalidade e em que data-base — antes de qualquer escolha de metodologia.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2125242" y="1827804"/>
            <a:ext cx="552169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· BASE E PREMISSA DE VALOR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125242" y="2113452"/>
            <a:ext cx="5170311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Mercado, uso ou investimento; continuidade, uso atual ou liquidação. Aqui se testa o aproveitamento eficiente.</a:t>
            </a:r>
            <a:endParaRPr lang="en-US" sz="1575" dirty="0"/>
          </a:p>
        </p:txBody>
      </p:sp>
      <p:sp>
        <p:nvSpPr>
          <p:cNvPr id="12" name="Shape 10"/>
          <p:cNvSpPr/>
          <p:nvPr/>
        </p:nvSpPr>
        <p:spPr>
          <a:xfrm>
            <a:off x="6496051" y="3240757"/>
            <a:ext cx="10648910" cy="9525"/>
          </a:xfrm>
          <a:prstGeom prst="rect">
            <a:avLst/>
          </a:prstGeom>
          <a:solidFill>
            <a:srgbClr val="1A2733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Text 11"/>
          <p:cNvSpPr/>
          <p:nvPr/>
        </p:nvSpPr>
        <p:spPr>
          <a:xfrm>
            <a:off x="6496051" y="3344691"/>
            <a:ext cx="1781183" cy="26661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· ABORDAGENS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8305786" y="3249452"/>
            <a:ext cx="9525" cy="681682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/>
          <p:nvPr/>
        </p:nvSpPr>
        <p:spPr>
          <a:xfrm>
            <a:off x="8543067" y="3344691"/>
            <a:ext cx="2728528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543067" y="3611250"/>
            <a:ext cx="2728528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Approach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252133" y="3249452"/>
            <a:ext cx="9525" cy="681682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/>
          <p:nvPr/>
        </p:nvSpPr>
        <p:spPr>
          <a:xfrm>
            <a:off x="11489414" y="3344691"/>
            <a:ext cx="2728602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RENDA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1489414" y="3611250"/>
            <a:ext cx="2728602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 Approach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198547" y="3249452"/>
            <a:ext cx="9525" cy="681682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/>
          <p:nvPr/>
        </p:nvSpPr>
        <p:spPr>
          <a:xfrm>
            <a:off x="14435828" y="3344691"/>
            <a:ext cx="2980047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ATIVOS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4435828" y="3611250"/>
            <a:ext cx="2980047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i="1" dirty="0">
                <a:solidFill>
                  <a:srgbClr val="8A96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Approach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6051" y="3931134"/>
            <a:ext cx="180973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4" name="Text 22"/>
          <p:cNvSpPr/>
          <p:nvPr/>
        </p:nvSpPr>
        <p:spPr>
          <a:xfrm>
            <a:off x="6496051" y="4025554"/>
            <a:ext cx="1695435" cy="90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APLICÁVEL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305786" y="3931134"/>
            <a:ext cx="2946347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Shape 24"/>
          <p:cNvSpPr/>
          <p:nvPr/>
        </p:nvSpPr>
        <p:spPr>
          <a:xfrm>
            <a:off x="8305786" y="3931134"/>
            <a:ext cx="9525" cy="1050204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Text 25"/>
          <p:cNvSpPr/>
          <p:nvPr/>
        </p:nvSpPr>
        <p:spPr>
          <a:xfrm>
            <a:off x="8543081" y="4025554"/>
            <a:ext cx="2568842" cy="90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existe amostra observável de comparáveis.</a:t>
            </a:r>
            <a:endParaRPr lang="en-US" sz="1575" dirty="0"/>
          </a:p>
        </p:txBody>
      </p:sp>
      <p:sp>
        <p:nvSpPr>
          <p:cNvPr id="28" name="Shape 26"/>
          <p:cNvSpPr/>
          <p:nvPr/>
        </p:nvSpPr>
        <p:spPr>
          <a:xfrm>
            <a:off x="11252133" y="3931134"/>
            <a:ext cx="294641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Shape 27"/>
          <p:cNvSpPr/>
          <p:nvPr/>
        </p:nvSpPr>
        <p:spPr>
          <a:xfrm>
            <a:off x="11252133" y="3931134"/>
            <a:ext cx="9525" cy="1050204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/>
          <p:nvPr/>
        </p:nvSpPr>
        <p:spPr>
          <a:xfrm>
            <a:off x="11489428" y="4025554"/>
            <a:ext cx="2568912" cy="90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o fluxo é projetável e mede o ativo, não a política de preço do gestor.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14198547" y="3931134"/>
            <a:ext cx="294641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2" name="Shape 30"/>
          <p:cNvSpPr/>
          <p:nvPr/>
        </p:nvSpPr>
        <p:spPr>
          <a:xfrm>
            <a:off x="14198547" y="3931134"/>
            <a:ext cx="9525" cy="1050204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3" name="Text 31"/>
          <p:cNvSpPr/>
          <p:nvPr/>
        </p:nvSpPr>
        <p:spPr>
          <a:xfrm>
            <a:off x="14435842" y="4025554"/>
            <a:ext cx="2797512" cy="908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o patrimônio supera o que a operação rende, ou o ativo é sem mercado.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6496051" y="4981338"/>
            <a:ext cx="180973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5" name="Text 33"/>
          <p:cNvSpPr/>
          <p:nvPr/>
        </p:nvSpPr>
        <p:spPr>
          <a:xfrm>
            <a:off x="6496051" y="5075758"/>
            <a:ext cx="1695435" cy="1198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05786" y="4981338"/>
            <a:ext cx="2946347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7" name="Shape 35"/>
          <p:cNvSpPr/>
          <p:nvPr/>
        </p:nvSpPr>
        <p:spPr>
          <a:xfrm>
            <a:off x="8305786" y="4981338"/>
            <a:ext cx="9525" cy="1340267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8" name="Text 36"/>
          <p:cNvSpPr/>
          <p:nvPr/>
        </p:nvSpPr>
        <p:spPr>
          <a:xfrm>
            <a:off x="8543081" y="5075758"/>
            <a:ext cx="2568842" cy="1198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múltiplos de empresas listadas · múltiplos de transações · unidades de comparação</a:t>
            </a:r>
            <a:endParaRPr lang="en-US" sz="1575" dirty="0"/>
          </a:p>
        </p:txBody>
      </p:sp>
      <p:sp>
        <p:nvSpPr>
          <p:cNvPr id="39" name="Shape 37"/>
          <p:cNvSpPr/>
          <p:nvPr/>
        </p:nvSpPr>
        <p:spPr>
          <a:xfrm>
            <a:off x="11252133" y="4981338"/>
            <a:ext cx="294641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0" name="Shape 38"/>
          <p:cNvSpPr/>
          <p:nvPr/>
        </p:nvSpPr>
        <p:spPr>
          <a:xfrm>
            <a:off x="11252133" y="4981338"/>
            <a:ext cx="9525" cy="1340267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1" name="Text 39"/>
          <p:cNvSpPr/>
          <p:nvPr/>
        </p:nvSpPr>
        <p:spPr>
          <a:xfrm>
            <a:off x="11489428" y="5075758"/>
            <a:ext cx="2568912" cy="1198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de caixa descontado · capitalização direta</a:t>
            </a:r>
            <a:endParaRPr lang="en-US" sz="1575" dirty="0"/>
          </a:p>
        </p:txBody>
      </p:sp>
      <p:sp>
        <p:nvSpPr>
          <p:cNvPr id="42" name="Shape 40"/>
          <p:cNvSpPr/>
          <p:nvPr/>
        </p:nvSpPr>
        <p:spPr>
          <a:xfrm>
            <a:off x="14198547" y="4981338"/>
            <a:ext cx="294641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3" name="Shape 41"/>
          <p:cNvSpPr/>
          <p:nvPr/>
        </p:nvSpPr>
        <p:spPr>
          <a:xfrm>
            <a:off x="14198547" y="4981338"/>
            <a:ext cx="9525" cy="1340267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4" name="Text 42"/>
          <p:cNvSpPr/>
          <p:nvPr/>
        </p:nvSpPr>
        <p:spPr>
          <a:xfrm>
            <a:off x="14435842" y="5075758"/>
            <a:ext cx="2797512" cy="1198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patrimônio líquido a valor de mercado · custo de reposição · custo de reprodução</a:t>
            </a:r>
            <a:endParaRPr lang="en-US" sz="1575" dirty="0"/>
          </a:p>
        </p:txBody>
      </p:sp>
      <p:sp>
        <p:nvSpPr>
          <p:cNvPr id="45" name="Shape 43"/>
          <p:cNvSpPr/>
          <p:nvPr/>
        </p:nvSpPr>
        <p:spPr>
          <a:xfrm>
            <a:off x="6496051" y="6321606"/>
            <a:ext cx="180973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6" name="Text 44"/>
          <p:cNvSpPr/>
          <p:nvPr/>
        </p:nvSpPr>
        <p:spPr>
          <a:xfrm>
            <a:off x="6496051" y="6435076"/>
            <a:ext cx="1695435" cy="1488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305786" y="6321606"/>
            <a:ext cx="2946347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8" name="Shape 46"/>
          <p:cNvSpPr/>
          <p:nvPr/>
        </p:nvSpPr>
        <p:spPr>
          <a:xfrm>
            <a:off x="8305786" y="6321606"/>
            <a:ext cx="9525" cy="1563758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9" name="Text 47"/>
          <p:cNvSpPr/>
          <p:nvPr/>
        </p:nvSpPr>
        <p:spPr>
          <a:xfrm>
            <a:off x="8543081" y="6435076"/>
            <a:ext cx="2568842" cy="1488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 do múltiplo — receita ou resultado — e o valor ou faixa do multiplicador.</a:t>
            </a:r>
            <a:endParaRPr lang="en-US" sz="1575" dirty="0"/>
          </a:p>
        </p:txBody>
      </p:sp>
      <p:sp>
        <p:nvSpPr>
          <p:cNvPr id="50" name="Shape 48"/>
          <p:cNvSpPr/>
          <p:nvPr/>
        </p:nvSpPr>
        <p:spPr>
          <a:xfrm>
            <a:off x="11252133" y="6321606"/>
            <a:ext cx="294641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1" name="Shape 49"/>
          <p:cNvSpPr/>
          <p:nvPr/>
        </p:nvSpPr>
        <p:spPr>
          <a:xfrm>
            <a:off x="11252133" y="6321606"/>
            <a:ext cx="9525" cy="1563758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2" name="Text 50"/>
          <p:cNvSpPr/>
          <p:nvPr/>
        </p:nvSpPr>
        <p:spPr>
          <a:xfrm>
            <a:off x="11489428" y="6435076"/>
            <a:ext cx="2568912" cy="1488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horizonte — </a:t>
            </a:r>
            <a:r>
              <a:rPr lang="en-US" sz="157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janela</a:t>
            </a: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57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concessão </a:t>
            </a: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 </a:t>
            </a:r>
            <a:r>
              <a:rPr lang="en-US" sz="1575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perpetuidade de Gordon </a:t>
            </a: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e a taxa de desconto montada por </a:t>
            </a:r>
            <a:r>
              <a:rPr lang="en-US" sz="1575" i="1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build-up</a:t>
            </a: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575" dirty="0"/>
          </a:p>
        </p:txBody>
      </p:sp>
      <p:sp>
        <p:nvSpPr>
          <p:cNvPr id="53" name="Shape 51"/>
          <p:cNvSpPr/>
          <p:nvPr/>
        </p:nvSpPr>
        <p:spPr>
          <a:xfrm>
            <a:off x="14198547" y="6321606"/>
            <a:ext cx="294641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4" name="Shape 52"/>
          <p:cNvSpPr/>
          <p:nvPr/>
        </p:nvSpPr>
        <p:spPr>
          <a:xfrm>
            <a:off x="14198547" y="6321606"/>
            <a:ext cx="9525" cy="1563758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5" name="Text 53"/>
          <p:cNvSpPr/>
          <p:nvPr/>
        </p:nvSpPr>
        <p:spPr>
          <a:xfrm>
            <a:off x="14435842" y="6435076"/>
            <a:ext cx="2797512" cy="1488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quais ativos se reavaliam, quem assina cada laudo e o tratamento dos não operacionais.</a:t>
            </a:r>
            <a:endParaRPr lang="en-US" sz="1575" dirty="0"/>
          </a:p>
        </p:txBody>
      </p:sp>
      <p:sp>
        <p:nvSpPr>
          <p:cNvPr id="56" name="Shape 54"/>
          <p:cNvSpPr/>
          <p:nvPr/>
        </p:nvSpPr>
        <p:spPr>
          <a:xfrm>
            <a:off x="6496051" y="8018712"/>
            <a:ext cx="10648910" cy="9525"/>
          </a:xfrm>
          <a:prstGeom prst="rect">
            <a:avLst/>
          </a:prstGeom>
          <a:solidFill>
            <a:srgbClr val="1A2733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7" name="Text 55"/>
          <p:cNvSpPr/>
          <p:nvPr/>
        </p:nvSpPr>
        <p:spPr>
          <a:xfrm>
            <a:off x="6496051" y="8151176"/>
            <a:ext cx="10968378" cy="618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 · Reconciliação. </a:t>
            </a: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indicação recebe peso conforme a qualidade dos insumos e a natureza do ativo — nunca média aritmética, nunca preferência de resultado. As abordagens descartadas constam do laudo, com a razão de cada descarte.</a:t>
            </a:r>
            <a:endParaRPr lang="en-US" sz="1575" dirty="0"/>
          </a:p>
        </p:txBody>
      </p:sp>
      <p:sp>
        <p:nvSpPr>
          <p:cNvPr id="58" name="Shape 56"/>
          <p:cNvSpPr/>
          <p:nvPr/>
        </p:nvSpPr>
        <p:spPr>
          <a:xfrm>
            <a:off x="6496051" y="8805482"/>
            <a:ext cx="10648910" cy="9525"/>
          </a:xfrm>
          <a:prstGeom prst="rect">
            <a:avLst/>
          </a:prstGeom>
          <a:solidFill>
            <a:srgbClr val="1A2733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9" name="Text 57"/>
          <p:cNvSpPr/>
          <p:nvPr/>
        </p:nvSpPr>
        <p:spPr>
          <a:xfrm>
            <a:off x="6496051" y="8966545"/>
            <a:ext cx="1885935" cy="825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ADOTADOS</a:t>
            </a:r>
            <a:endParaRPr lang="en-US" sz="1125" dirty="0"/>
          </a:p>
        </p:txBody>
      </p:sp>
      <p:sp>
        <p:nvSpPr>
          <p:cNvPr id="60" name="Text 58"/>
          <p:cNvSpPr/>
          <p:nvPr/>
        </p:nvSpPr>
        <p:spPr>
          <a:xfrm>
            <a:off x="8534372" y="8966545"/>
            <a:ext cx="8868907" cy="825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423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casa adota na íntegra o </a:t>
            </a:r>
            <a:r>
              <a:rPr lang="en-US" sz="14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 Valuation Standards (IVS)</a:t>
            </a: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edição em vigor desde 31.01.2025, e o </a:t>
            </a:r>
            <a:r>
              <a:rPr lang="en-US" sz="142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Standard 02c </a:t>
            </a: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(2019) nas planilhas de cálculo. IFRS/CPC na leitura contábil; Damodaran e Kroll no custo de capital.</a:t>
            </a:r>
            <a:endParaRPr lang="en-US" sz="1425" dirty="0"/>
          </a:p>
        </p:txBody>
      </p:sp>
      <p:pic>
        <p:nvPicPr>
          <p:cNvPr id="61" name="Image 0" descr="preencoded.png"/>
          <p:cNvPicPr>
            <a:picLocks noChangeAspect="1"/>
          </p:cNvPicPr>
          <p:nvPr/>
        </p:nvPicPr>
        <p:blipFill>
          <a:blip r:embed="rId3"/>
          <a:srcRect l="8184" r="8184"/>
          <a:stretch/>
        </p:blipFill>
        <p:spPr>
          <a:xfrm>
            <a:off x="0" y="0"/>
            <a:ext cx="5734076" cy="10286977"/>
          </a:xfrm>
          <a:prstGeom prst="rect">
            <a:avLst/>
          </a:prstGeom>
        </p:spPr>
      </p:pic>
      <p:sp>
        <p:nvSpPr>
          <p:cNvPr id="62" name="Shape 59"/>
          <p:cNvSpPr/>
          <p:nvPr/>
        </p:nvSpPr>
        <p:spPr>
          <a:xfrm>
            <a:off x="0" y="0"/>
            <a:ext cx="5734076" cy="10286977"/>
          </a:xfrm>
          <a:prstGeom prst="rect">
            <a:avLst/>
          </a:prstGeom>
          <a:gradFill rotWithShape="1">
            <a:gsLst>
              <a:gs pos="0">
                <a:srgbClr val="0E2438">
                  <a:alpha val="28000"/>
                </a:srgbClr>
              </a:gs>
              <a:gs pos="100000">
                <a:srgbClr val="0E2438">
                  <a:alpha val="62000"/>
                </a:srgbClr>
              </a:gs>
            </a:gsLst>
            <a:lin ang="6600000" scaled="0"/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63" name="Text 60"/>
          <p:cNvSpPr/>
          <p:nvPr/>
        </p:nvSpPr>
        <p:spPr>
          <a:xfrm>
            <a:off x="609540" y="8416444"/>
            <a:ext cx="496649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PELA MODELAGEM</a:t>
            </a:r>
            <a:endParaRPr lang="en-US" sz="1125" dirty="0"/>
          </a:p>
        </p:txBody>
      </p:sp>
      <p:sp>
        <p:nvSpPr>
          <p:cNvPr id="64" name="Text 61"/>
          <p:cNvSpPr/>
          <p:nvPr/>
        </p:nvSpPr>
        <p:spPr>
          <a:xfrm>
            <a:off x="609540" y="8759222"/>
            <a:ext cx="4966496" cy="42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907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Alexandre Fillard Tonello</a:t>
            </a:r>
            <a:endParaRPr lang="en-US" sz="2250" dirty="0"/>
          </a:p>
        </p:txBody>
      </p:sp>
      <p:sp>
        <p:nvSpPr>
          <p:cNvPr id="65" name="Text 62"/>
          <p:cNvSpPr/>
          <p:nvPr/>
        </p:nvSpPr>
        <p:spPr>
          <a:xfrm>
            <a:off x="609540" y="9221148"/>
            <a:ext cx="4966496" cy="3419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650" dirty="0">
                <a:solidFill>
                  <a:srgbClr val="EAF1F5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Conduz o cálculo e assina a memória do laudo.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15967" r="14739"/>
          <a:stretch/>
        </p:blipFill>
        <p:spPr>
          <a:xfrm>
            <a:off x="13536905" y="0"/>
            <a:ext cx="4751054" cy="102869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536905" y="0"/>
            <a:ext cx="4751054" cy="10286977"/>
          </a:xfrm>
          <a:prstGeom prst="rect">
            <a:avLst/>
          </a:prstGeom>
          <a:gradFill rotWithShape="1">
            <a:gsLst>
              <a:gs pos="40000">
                <a:srgbClr val="0E2438">
                  <a:alpha val="12000"/>
                </a:srgbClr>
              </a:gs>
              <a:gs pos="100000">
                <a:srgbClr val="0E2438">
                  <a:alpha val="68000"/>
                </a:srgbClr>
              </a:gs>
            </a:gsLst>
            <a:lin ang="6000000" scaled="0"/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4" name="Text 1"/>
          <p:cNvSpPr/>
          <p:nvPr/>
        </p:nvSpPr>
        <p:spPr>
          <a:xfrm>
            <a:off x="14146445" y="8112591"/>
            <a:ext cx="3885172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RESPONSÁVEL PELA VENDA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14146445" y="8455369"/>
            <a:ext cx="3885172" cy="423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907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Felipe Monteiro de Siqueira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4146445" y="8917296"/>
            <a:ext cx="3637934" cy="645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650" dirty="0">
                <a:solidFill>
                  <a:srgbClr val="EAF1F5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Conduz a abordagem e acompanha a negociação até a assinatura.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1142997" y="813399"/>
            <a:ext cx="342845" cy="19021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5"/>
          <p:cNvSpPr/>
          <p:nvPr/>
        </p:nvSpPr>
        <p:spPr>
          <a:xfrm>
            <a:off x="1657231" y="724886"/>
            <a:ext cx="2228372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INTERMEDIAÇÃO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42997" y="1112429"/>
            <a:ext cx="5131859" cy="5409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209"/>
              </a:lnSpc>
              <a:buNone/>
            </a:pPr>
            <a:r>
              <a:rPr lang="en-US" sz="3600" kern="0" spc="-36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a decisão for </a:t>
            </a:r>
            <a:r>
              <a:rPr lang="en-US" sz="3600" i="1" kern="0" spc="-36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vender.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12089171" y="1280013"/>
            <a:ext cx="761958" cy="37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/ 09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142997" y="1843904"/>
            <a:ext cx="11980890" cy="6458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6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 próprio, contratado junto com a avaliação ou depois dela e remunerado na forma da seção 7. A casa conduz a venda sob sigilo, com preço ancorado no laudo e abordagem reservada — sem anúncio em vitrine pública, portal ou marketplace.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142997" y="2565868"/>
            <a:ext cx="11631932" cy="9525"/>
          </a:xfrm>
          <a:prstGeom prst="rect">
            <a:avLst/>
          </a:prstGeom>
          <a:solidFill>
            <a:srgbClr val="1A2733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Shape 10"/>
          <p:cNvSpPr/>
          <p:nvPr/>
        </p:nvSpPr>
        <p:spPr>
          <a:xfrm>
            <a:off x="4042268" y="2574563"/>
            <a:ext cx="9525" cy="2532854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1"/>
          <p:cNvSpPr/>
          <p:nvPr/>
        </p:nvSpPr>
        <p:spPr>
          <a:xfrm>
            <a:off x="1142997" y="2726931"/>
            <a:ext cx="2937753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· PREPARAÇÃO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1142997" y="3022089"/>
            <a:ext cx="2750805" cy="197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50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Preço-alvo e preço-piso por escrito a partir da faixa do laudo. Materiais de apresentação, organização da diligência e os pontos que costumam derrubar preço apontados antes.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950234" y="2574563"/>
            <a:ext cx="9525" cy="2532854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Text 14"/>
          <p:cNvSpPr/>
          <p:nvPr/>
        </p:nvSpPr>
        <p:spPr>
          <a:xfrm>
            <a:off x="4050963" y="2726931"/>
            <a:ext cx="2937753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· ABORDAGEM RESERVADA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4050963" y="3022089"/>
            <a:ext cx="2750805" cy="1971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50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 de compradores submetida ao Cliente antes de qualquer contato, com direito de veto. A aproximação é dos sócios, sem identificar o negócio — identidade só sob NDA.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858200" y="2574563"/>
            <a:ext cx="9525" cy="2532854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7"/>
          <p:cNvSpPr/>
          <p:nvPr/>
        </p:nvSpPr>
        <p:spPr>
          <a:xfrm>
            <a:off x="6958929" y="2726931"/>
            <a:ext cx="2937753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· NEGOCIAÇÃO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6958929" y="3022089"/>
            <a:ext cx="2750805" cy="169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50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 dos termos, comparação com a faixa do laudo e defesa do valor com premissa e memória na mesa. Nenhuma proposta avança sem manifestação do Cliente.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866895" y="2726931"/>
            <a:ext cx="2947393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 · FECHAMENTO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9866895" y="3022089"/>
            <a:ext cx="2759831" cy="1694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7072"/>
              </a:lnSpc>
              <a:buNone/>
            </a:pPr>
            <a:r>
              <a:rPr lang="en-US" sz="150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Estruturação do preço — à vista, saldo a prazo e eventual retenção — e conferência do que entra no Valor Apurado da Operação. A redação é do advogado do Cliente.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1142997" y="5569005"/>
            <a:ext cx="11631932" cy="9525"/>
          </a:xfrm>
          <a:prstGeom prst="rect">
            <a:avLst/>
          </a:prstGeom>
          <a:solidFill>
            <a:srgbClr val="1A2733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Text 22"/>
          <p:cNvSpPr/>
          <p:nvPr/>
        </p:nvSpPr>
        <p:spPr>
          <a:xfrm>
            <a:off x="1142997" y="5672938"/>
            <a:ext cx="1657349" cy="495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FORMAS DE CONTRATAR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2952732" y="5577700"/>
            <a:ext cx="9525" cy="801851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Text 24"/>
          <p:cNvSpPr/>
          <p:nvPr/>
        </p:nvSpPr>
        <p:spPr>
          <a:xfrm>
            <a:off x="3247142" y="5672938"/>
            <a:ext cx="4764070" cy="35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687"/>
              </a:lnSpc>
              <a:buNone/>
            </a:pPr>
            <a:r>
              <a:rPr lang="en-US" sz="21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Mandato </a:t>
            </a:r>
            <a:r>
              <a:rPr lang="en-US" sz="2100" i="1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aberto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3247142" y="6040578"/>
            <a:ext cx="4764070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8A96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casa é uma das frentes de venda.</a:t>
            </a:r>
            <a:endParaRPr lang="en-US" sz="1425" dirty="0"/>
          </a:p>
        </p:txBody>
      </p:sp>
      <p:sp>
        <p:nvSpPr>
          <p:cNvPr id="29" name="Shape 26"/>
          <p:cNvSpPr/>
          <p:nvPr/>
        </p:nvSpPr>
        <p:spPr>
          <a:xfrm>
            <a:off x="7863830" y="5577700"/>
            <a:ext cx="9525" cy="801851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Text 27"/>
          <p:cNvSpPr/>
          <p:nvPr/>
        </p:nvSpPr>
        <p:spPr>
          <a:xfrm>
            <a:off x="8158241" y="5672938"/>
            <a:ext cx="5078357" cy="35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687"/>
              </a:lnSpc>
              <a:buNone/>
            </a:pPr>
            <a:r>
              <a:rPr lang="en-US" sz="21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Mandato </a:t>
            </a:r>
            <a:r>
              <a:rPr lang="en-US" sz="2100" i="1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exclusivo</a:t>
            </a:r>
            <a:endParaRPr lang="en-US" sz="2100" dirty="0"/>
          </a:p>
        </p:txBody>
      </p:sp>
      <p:sp>
        <p:nvSpPr>
          <p:cNvPr id="31" name="Text 28"/>
          <p:cNvSpPr/>
          <p:nvPr/>
        </p:nvSpPr>
        <p:spPr>
          <a:xfrm>
            <a:off x="8158241" y="6040578"/>
            <a:ext cx="5078357" cy="291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995"/>
              </a:lnSpc>
              <a:buNone/>
            </a:pPr>
            <a:r>
              <a:rPr lang="en-US" sz="1425" dirty="0">
                <a:solidFill>
                  <a:srgbClr val="8A96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casa é a única a conduzir a venda.</a:t>
            </a:r>
            <a:endParaRPr lang="en-US" sz="1425" dirty="0"/>
          </a:p>
        </p:txBody>
      </p:sp>
      <p:sp>
        <p:nvSpPr>
          <p:cNvPr id="32" name="Shape 29"/>
          <p:cNvSpPr/>
          <p:nvPr/>
        </p:nvSpPr>
        <p:spPr>
          <a:xfrm>
            <a:off x="1142997" y="6379551"/>
            <a:ext cx="180973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3" name="Text 30"/>
          <p:cNvSpPr/>
          <p:nvPr/>
        </p:nvSpPr>
        <p:spPr>
          <a:xfrm>
            <a:off x="1142997" y="6512071"/>
            <a:ext cx="1657335" cy="61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2952732" y="6379551"/>
            <a:ext cx="4911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5" name="Shape 32"/>
          <p:cNvSpPr/>
          <p:nvPr/>
        </p:nvSpPr>
        <p:spPr>
          <a:xfrm>
            <a:off x="2952732" y="6379551"/>
            <a:ext cx="9525" cy="83635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6" name="Text 33"/>
          <p:cNvSpPr/>
          <p:nvPr/>
        </p:nvSpPr>
        <p:spPr>
          <a:xfrm>
            <a:off x="3247177" y="6512071"/>
            <a:ext cx="4478236" cy="61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meses, </a:t>
            </a:r>
            <a:r>
              <a:rPr lang="en-US" sz="1575" dirty="0" err="1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</a:t>
            </a: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75" dirty="0" err="1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exclusividade</a:t>
            </a:r>
            <a:endParaRPr lang="en-US" sz="1575" dirty="0"/>
          </a:p>
        </p:txBody>
      </p:sp>
      <p:sp>
        <p:nvSpPr>
          <p:cNvPr id="37" name="Shape 34"/>
          <p:cNvSpPr/>
          <p:nvPr/>
        </p:nvSpPr>
        <p:spPr>
          <a:xfrm>
            <a:off x="7863830" y="6379551"/>
            <a:ext cx="4911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8" name="Shape 35"/>
          <p:cNvSpPr/>
          <p:nvPr/>
        </p:nvSpPr>
        <p:spPr>
          <a:xfrm>
            <a:off x="7863830" y="6379551"/>
            <a:ext cx="9525" cy="83635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9" name="Text 36"/>
          <p:cNvSpPr/>
          <p:nvPr/>
        </p:nvSpPr>
        <p:spPr>
          <a:xfrm>
            <a:off x="8158276" y="6512071"/>
            <a:ext cx="4763986" cy="61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meses, com </a:t>
            </a:r>
            <a:r>
              <a:rPr lang="en-US" sz="1575" dirty="0" err="1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exclusividade</a:t>
            </a: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575" dirty="0"/>
          </a:p>
        </p:txBody>
      </p:sp>
      <p:sp>
        <p:nvSpPr>
          <p:cNvPr id="40" name="Shape 37"/>
          <p:cNvSpPr/>
          <p:nvPr/>
        </p:nvSpPr>
        <p:spPr>
          <a:xfrm>
            <a:off x="1142997" y="7215910"/>
            <a:ext cx="180973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1" name="Text 38"/>
          <p:cNvSpPr/>
          <p:nvPr/>
        </p:nvSpPr>
        <p:spPr>
          <a:xfrm>
            <a:off x="1142997" y="7348430"/>
            <a:ext cx="1657335" cy="61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2952732" y="7215910"/>
            <a:ext cx="4911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3" name="Shape 40"/>
          <p:cNvSpPr/>
          <p:nvPr/>
        </p:nvSpPr>
        <p:spPr>
          <a:xfrm>
            <a:off x="2952732" y="7215910"/>
            <a:ext cx="9525" cy="83635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4" name="Text 41"/>
          <p:cNvSpPr/>
          <p:nvPr/>
        </p:nvSpPr>
        <p:spPr>
          <a:xfrm>
            <a:off x="3247177" y="7348430"/>
            <a:ext cx="4478236" cy="61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tempo real: cada contato feito, cada resposta e o estágio de cada conversa.</a:t>
            </a:r>
            <a:endParaRPr lang="en-US" sz="1575" dirty="0"/>
          </a:p>
        </p:txBody>
      </p:sp>
      <p:sp>
        <p:nvSpPr>
          <p:cNvPr id="45" name="Shape 42"/>
          <p:cNvSpPr/>
          <p:nvPr/>
        </p:nvSpPr>
        <p:spPr>
          <a:xfrm>
            <a:off x="7863830" y="7215910"/>
            <a:ext cx="4911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6" name="Shape 43"/>
          <p:cNvSpPr/>
          <p:nvPr/>
        </p:nvSpPr>
        <p:spPr>
          <a:xfrm>
            <a:off x="7863830" y="7215910"/>
            <a:ext cx="9525" cy="83635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7" name="Text 44"/>
          <p:cNvSpPr/>
          <p:nvPr/>
        </p:nvSpPr>
        <p:spPr>
          <a:xfrm>
            <a:off x="8158276" y="7348430"/>
            <a:ext cx="4763986" cy="61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reportes trimestrais: leitura do mercado, objeções recorrentes e recomendação de ajuste.</a:t>
            </a:r>
            <a:endParaRPr lang="en-US" sz="1575" dirty="0"/>
          </a:p>
        </p:txBody>
      </p:sp>
      <p:sp>
        <p:nvSpPr>
          <p:cNvPr id="48" name="Shape 45"/>
          <p:cNvSpPr/>
          <p:nvPr/>
        </p:nvSpPr>
        <p:spPr>
          <a:xfrm>
            <a:off x="1142997" y="8052270"/>
            <a:ext cx="180973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9" name="Text 46"/>
          <p:cNvSpPr/>
          <p:nvPr/>
        </p:nvSpPr>
        <p:spPr>
          <a:xfrm>
            <a:off x="1142997" y="8184790"/>
            <a:ext cx="1657335" cy="61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NARRATIVA DE PREÇO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2952732" y="8052270"/>
            <a:ext cx="4911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1" name="Shape 48"/>
          <p:cNvSpPr/>
          <p:nvPr/>
        </p:nvSpPr>
        <p:spPr>
          <a:xfrm>
            <a:off x="2952732" y="8052270"/>
            <a:ext cx="9525" cy="83635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2" name="Text 49"/>
          <p:cNvSpPr/>
          <p:nvPr/>
        </p:nvSpPr>
        <p:spPr>
          <a:xfrm>
            <a:off x="3247177" y="8184790"/>
            <a:ext cx="4478236" cy="61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Convive com outras mensagens no mercado; o preço-piso do laudo é a referência comum.</a:t>
            </a:r>
            <a:endParaRPr lang="en-US" sz="1575" dirty="0"/>
          </a:p>
        </p:txBody>
      </p:sp>
      <p:sp>
        <p:nvSpPr>
          <p:cNvPr id="53" name="Shape 50"/>
          <p:cNvSpPr/>
          <p:nvPr/>
        </p:nvSpPr>
        <p:spPr>
          <a:xfrm>
            <a:off x="7863830" y="8052270"/>
            <a:ext cx="4911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4" name="Shape 51"/>
          <p:cNvSpPr/>
          <p:nvPr/>
        </p:nvSpPr>
        <p:spPr>
          <a:xfrm>
            <a:off x="7863830" y="8052270"/>
            <a:ext cx="9525" cy="836359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5" name="Text 52"/>
          <p:cNvSpPr/>
          <p:nvPr/>
        </p:nvSpPr>
        <p:spPr>
          <a:xfrm>
            <a:off x="8158276" y="8184790"/>
            <a:ext cx="4763986" cy="6181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única narrativa de preço, sustentada pelo laudo, em todas as conversas.</a:t>
            </a:r>
            <a:endParaRPr lang="en-US" sz="1575" dirty="0"/>
          </a:p>
        </p:txBody>
      </p:sp>
      <p:sp>
        <p:nvSpPr>
          <p:cNvPr id="56" name="Shape 53"/>
          <p:cNvSpPr/>
          <p:nvPr/>
        </p:nvSpPr>
        <p:spPr>
          <a:xfrm>
            <a:off x="1142997" y="8888629"/>
            <a:ext cx="1809735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7" name="Text 54"/>
          <p:cNvSpPr/>
          <p:nvPr/>
        </p:nvSpPr>
        <p:spPr>
          <a:xfrm>
            <a:off x="1142997" y="9021149"/>
            <a:ext cx="1657335" cy="6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050" b="1" kern="0" spc="116" dirty="0">
                <a:solidFill>
                  <a:srgbClr val="8A96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REMUNERAÇÃO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2952732" y="8888629"/>
            <a:ext cx="4911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9" name="Shape 56"/>
          <p:cNvSpPr/>
          <p:nvPr/>
        </p:nvSpPr>
        <p:spPr>
          <a:xfrm>
            <a:off x="2952732" y="8888629"/>
            <a:ext cx="9525" cy="712590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0" name="Text 57"/>
          <p:cNvSpPr/>
          <p:nvPr/>
        </p:nvSpPr>
        <p:spPr>
          <a:xfrm>
            <a:off x="3247177" y="9021149"/>
            <a:ext cx="4478236" cy="6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Fixo maior na contratação e taxa menor no fechamento (seção 7).</a:t>
            </a:r>
            <a:endParaRPr lang="en-US" sz="1575" dirty="0"/>
          </a:p>
        </p:txBody>
      </p:sp>
      <p:sp>
        <p:nvSpPr>
          <p:cNvPr id="61" name="Shape 58"/>
          <p:cNvSpPr/>
          <p:nvPr/>
        </p:nvSpPr>
        <p:spPr>
          <a:xfrm>
            <a:off x="7863830" y="8888629"/>
            <a:ext cx="4911098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2" name="Shape 59"/>
          <p:cNvSpPr/>
          <p:nvPr/>
        </p:nvSpPr>
        <p:spPr>
          <a:xfrm>
            <a:off x="7863830" y="8888629"/>
            <a:ext cx="9525" cy="712590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3" name="Text 60"/>
          <p:cNvSpPr/>
          <p:nvPr/>
        </p:nvSpPr>
        <p:spPr>
          <a:xfrm>
            <a:off x="8158276" y="9021149"/>
            <a:ext cx="4763986" cy="61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Fixo reduzido na contratação e taxa maior no fechamento (seção 7).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737181"/>
            <a:ext cx="342845" cy="19021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57231" y="648668"/>
            <a:ext cx="3578811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ENTREGÁVEIS E EXCLUSÕES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2997" y="1036211"/>
            <a:ext cx="9122242" cy="58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146"/>
              </a:lnSpc>
              <a:buNone/>
            </a:pPr>
            <a:r>
              <a:rPr lang="en-US" sz="3900" kern="0" spc="-39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você </a:t>
            </a:r>
            <a:r>
              <a:rPr lang="en-US" sz="3900" i="1" kern="0" spc="-39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recebe </a:t>
            </a:r>
            <a:r>
              <a:rPr lang="en-US" sz="3900" kern="0" spc="-39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e o que não entra.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6451324" y="1245708"/>
            <a:ext cx="769838" cy="37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/ 09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2997" y="1790510"/>
            <a:ext cx="10750017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ENTREGÁVEIS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11144327" y="1790510"/>
            <a:ext cx="9525" cy="542696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6"/>
          <p:cNvSpPr/>
          <p:nvPr/>
        </p:nvSpPr>
        <p:spPr>
          <a:xfrm>
            <a:off x="11262970" y="1790510"/>
            <a:ext cx="1771619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</a:t>
            </a:r>
            <a:endParaRPr lang="en-US" sz="1125" dirty="0"/>
          </a:p>
        </p:txBody>
      </p:sp>
      <p:sp>
        <p:nvSpPr>
          <p:cNvPr id="9" name="Shape 7"/>
          <p:cNvSpPr/>
          <p:nvPr/>
        </p:nvSpPr>
        <p:spPr>
          <a:xfrm>
            <a:off x="13144538" y="1790510"/>
            <a:ext cx="9525" cy="542696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13305610" y="1790510"/>
            <a:ext cx="1686763" cy="495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 ABERTO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15144750" y="1790510"/>
            <a:ext cx="9525" cy="542696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15305822" y="1790510"/>
            <a:ext cx="1686763" cy="495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8372"/>
              </a:lnSpc>
              <a:buNone/>
            </a:pPr>
            <a:r>
              <a:rPr lang="en-US" sz="1125" b="1" kern="0" spc="146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 EXCLUSIVO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1142997" y="2333207"/>
            <a:ext cx="10001329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Text 12"/>
          <p:cNvSpPr/>
          <p:nvPr/>
        </p:nvSpPr>
        <p:spPr>
          <a:xfrm>
            <a:off x="1142997" y="2427562"/>
            <a:ext cx="10750017" cy="28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163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Laudo de avaliação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142997" y="2726659"/>
            <a:ext cx="10750017" cy="25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17"/>
              </a:lnSpc>
              <a:buNone/>
            </a:pPr>
            <a:r>
              <a:rPr lang="en-US" sz="12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Documento assinado com a conclusão de valor e a faixa em três cenários, por unidade e nas combinações que o Cliente pedir.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1144327" y="2333207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Shape 15"/>
          <p:cNvSpPr/>
          <p:nvPr/>
        </p:nvSpPr>
        <p:spPr>
          <a:xfrm>
            <a:off x="11144327" y="2333207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8" name="Text 16"/>
          <p:cNvSpPr/>
          <p:nvPr/>
        </p:nvSpPr>
        <p:spPr>
          <a:xfrm>
            <a:off x="11305422" y="2427627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3144538" y="2333207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Shape 18"/>
          <p:cNvSpPr/>
          <p:nvPr/>
        </p:nvSpPr>
        <p:spPr>
          <a:xfrm>
            <a:off x="13144538" y="2333207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Text 19"/>
          <p:cNvSpPr/>
          <p:nvPr/>
        </p:nvSpPr>
        <p:spPr>
          <a:xfrm>
            <a:off x="13305633" y="2427627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144750" y="2333207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Shape 21"/>
          <p:cNvSpPr/>
          <p:nvPr/>
        </p:nvSpPr>
        <p:spPr>
          <a:xfrm>
            <a:off x="15144750" y="2333207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4" name="Text 22"/>
          <p:cNvSpPr/>
          <p:nvPr/>
        </p:nvSpPr>
        <p:spPr>
          <a:xfrm>
            <a:off x="15305845" y="2427627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142997" y="3030920"/>
            <a:ext cx="10001329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/>
          <p:nvPr/>
        </p:nvSpPr>
        <p:spPr>
          <a:xfrm>
            <a:off x="1142997" y="3125275"/>
            <a:ext cx="10750017" cy="28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163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Detalhamento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1142997" y="3424373"/>
            <a:ext cx="10750017" cy="25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17"/>
              </a:lnSpc>
              <a:buNone/>
            </a:pPr>
            <a:r>
              <a:rPr lang="en-US" sz="12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Relatório de fundamentação: premissas e sua origem, apuração por componente, custo de capital e balizas de mercado com as fontes.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11144327" y="3030920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Shape 27"/>
          <p:cNvSpPr/>
          <p:nvPr/>
        </p:nvSpPr>
        <p:spPr>
          <a:xfrm>
            <a:off x="11144327" y="3030920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/>
          <p:nvPr/>
        </p:nvSpPr>
        <p:spPr>
          <a:xfrm>
            <a:off x="11305422" y="3125340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3144538" y="3030920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2" name="Shape 30"/>
          <p:cNvSpPr/>
          <p:nvPr/>
        </p:nvSpPr>
        <p:spPr>
          <a:xfrm>
            <a:off x="13144538" y="3030920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3" name="Text 31"/>
          <p:cNvSpPr/>
          <p:nvPr/>
        </p:nvSpPr>
        <p:spPr>
          <a:xfrm>
            <a:off x="13305633" y="3125340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144750" y="3030920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5" name="Shape 33"/>
          <p:cNvSpPr/>
          <p:nvPr/>
        </p:nvSpPr>
        <p:spPr>
          <a:xfrm>
            <a:off x="15144750" y="3030920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6" name="Text 34"/>
          <p:cNvSpPr/>
          <p:nvPr/>
        </p:nvSpPr>
        <p:spPr>
          <a:xfrm>
            <a:off x="16021334" y="3116580"/>
            <a:ext cx="255740" cy="277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7636"/>
              </a:lnSpc>
              <a:buNone/>
            </a:pPr>
            <a:r>
              <a:rPr lang="en-US" sz="1650" dirty="0">
                <a:solidFill>
                  <a:srgbClr val="C2CB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15263393" y="3431981"/>
            <a:ext cx="1771619" cy="22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466"/>
              </a:lnSpc>
              <a:buNone/>
            </a:pPr>
            <a:r>
              <a:rPr lang="en-US" sz="1125" dirty="0">
                <a:solidFill>
                  <a:srgbClr val="8A96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integra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1142997" y="3728633"/>
            <a:ext cx="10001329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9" name="Text 37"/>
          <p:cNvSpPr/>
          <p:nvPr/>
        </p:nvSpPr>
        <p:spPr>
          <a:xfrm>
            <a:off x="1142997" y="3822989"/>
            <a:ext cx="10750017" cy="28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163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Reunião de </a:t>
            </a:r>
            <a:r>
              <a:rPr lang="en-US" sz="1650" dirty="0" err="1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apresentação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142997" y="4122086"/>
            <a:ext cx="10750017" cy="25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17"/>
              </a:lnSpc>
              <a:buNone/>
            </a:pPr>
            <a:r>
              <a:rPr lang="en-US" sz="12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Sessão com o sócio responsável para percorrer o laudo e discutir as premissas críticas.</a:t>
            </a:r>
            <a:endParaRPr lang="en-US" sz="1275" dirty="0"/>
          </a:p>
        </p:txBody>
      </p:sp>
      <p:sp>
        <p:nvSpPr>
          <p:cNvPr id="41" name="Shape 39"/>
          <p:cNvSpPr/>
          <p:nvPr/>
        </p:nvSpPr>
        <p:spPr>
          <a:xfrm>
            <a:off x="11144327" y="3728633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2" name="Shape 40"/>
          <p:cNvSpPr/>
          <p:nvPr/>
        </p:nvSpPr>
        <p:spPr>
          <a:xfrm>
            <a:off x="11144327" y="3728633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3" name="Text 41"/>
          <p:cNvSpPr/>
          <p:nvPr/>
        </p:nvSpPr>
        <p:spPr>
          <a:xfrm>
            <a:off x="11305422" y="3823054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3144538" y="3728633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5" name="Shape 43"/>
          <p:cNvSpPr/>
          <p:nvPr/>
        </p:nvSpPr>
        <p:spPr>
          <a:xfrm>
            <a:off x="13144538" y="3728633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6" name="Text 44"/>
          <p:cNvSpPr/>
          <p:nvPr/>
        </p:nvSpPr>
        <p:spPr>
          <a:xfrm>
            <a:off x="13305633" y="3823054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5144750" y="3728633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8" name="Shape 46"/>
          <p:cNvSpPr/>
          <p:nvPr/>
        </p:nvSpPr>
        <p:spPr>
          <a:xfrm>
            <a:off x="15144750" y="3728633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9" name="Text 47"/>
          <p:cNvSpPr/>
          <p:nvPr/>
        </p:nvSpPr>
        <p:spPr>
          <a:xfrm>
            <a:off x="15305845" y="3823054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142997" y="4426347"/>
            <a:ext cx="10001329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1" name="Text 49"/>
          <p:cNvSpPr/>
          <p:nvPr/>
        </p:nvSpPr>
        <p:spPr>
          <a:xfrm>
            <a:off x="1142997" y="4520702"/>
            <a:ext cx="10750017" cy="28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163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Revisão de premissa</a:t>
            </a:r>
            <a:endParaRPr lang="en-US" sz="1650" dirty="0"/>
          </a:p>
        </p:txBody>
      </p:sp>
      <p:sp>
        <p:nvSpPr>
          <p:cNvPr id="52" name="Text 50"/>
          <p:cNvSpPr/>
          <p:nvPr/>
        </p:nvSpPr>
        <p:spPr>
          <a:xfrm>
            <a:off x="1142997" y="4819800"/>
            <a:ext cx="10750017" cy="25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17"/>
              </a:lnSpc>
              <a:buNone/>
            </a:pPr>
            <a:r>
              <a:rPr lang="en-US" sz="12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rodada incluída. Mudança de premissa após a entrega é orçada em proposta específica.</a:t>
            </a:r>
            <a:endParaRPr lang="en-US" sz="1275" dirty="0"/>
          </a:p>
        </p:txBody>
      </p:sp>
      <p:sp>
        <p:nvSpPr>
          <p:cNvPr id="53" name="Shape 51"/>
          <p:cNvSpPr/>
          <p:nvPr/>
        </p:nvSpPr>
        <p:spPr>
          <a:xfrm>
            <a:off x="11144327" y="4426347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4" name="Shape 52"/>
          <p:cNvSpPr/>
          <p:nvPr/>
        </p:nvSpPr>
        <p:spPr>
          <a:xfrm>
            <a:off x="11144327" y="4426347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5" name="Text 53"/>
          <p:cNvSpPr/>
          <p:nvPr/>
        </p:nvSpPr>
        <p:spPr>
          <a:xfrm>
            <a:off x="11305422" y="4520767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56" name="Shape 54"/>
          <p:cNvSpPr/>
          <p:nvPr/>
        </p:nvSpPr>
        <p:spPr>
          <a:xfrm>
            <a:off x="13144538" y="4426347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7" name="Shape 55"/>
          <p:cNvSpPr/>
          <p:nvPr/>
        </p:nvSpPr>
        <p:spPr>
          <a:xfrm>
            <a:off x="13144538" y="4426347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8" name="Text 56"/>
          <p:cNvSpPr/>
          <p:nvPr/>
        </p:nvSpPr>
        <p:spPr>
          <a:xfrm>
            <a:off x="13305633" y="4520767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59" name="Shape 57"/>
          <p:cNvSpPr/>
          <p:nvPr/>
        </p:nvSpPr>
        <p:spPr>
          <a:xfrm>
            <a:off x="15144750" y="4426347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0" name="Shape 58"/>
          <p:cNvSpPr/>
          <p:nvPr/>
        </p:nvSpPr>
        <p:spPr>
          <a:xfrm>
            <a:off x="15144750" y="4426347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1" name="Text 59"/>
          <p:cNvSpPr/>
          <p:nvPr/>
        </p:nvSpPr>
        <p:spPr>
          <a:xfrm>
            <a:off x="15305845" y="4520767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62" name="Shape 60"/>
          <p:cNvSpPr/>
          <p:nvPr/>
        </p:nvSpPr>
        <p:spPr>
          <a:xfrm>
            <a:off x="1142997" y="5124060"/>
            <a:ext cx="10001329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3" name="Text 61"/>
          <p:cNvSpPr/>
          <p:nvPr/>
        </p:nvSpPr>
        <p:spPr>
          <a:xfrm>
            <a:off x="1142997" y="5218416"/>
            <a:ext cx="10750017" cy="28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163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Condução da venda</a:t>
            </a:r>
            <a:endParaRPr lang="en-US" sz="1650" dirty="0"/>
          </a:p>
        </p:txBody>
      </p:sp>
      <p:sp>
        <p:nvSpPr>
          <p:cNvPr id="64" name="Text 62"/>
          <p:cNvSpPr/>
          <p:nvPr/>
        </p:nvSpPr>
        <p:spPr>
          <a:xfrm>
            <a:off x="1142997" y="5517513"/>
            <a:ext cx="10750017" cy="25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17"/>
              </a:lnSpc>
              <a:buNone/>
            </a:pPr>
            <a:r>
              <a:rPr lang="en-US" sz="12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Preparação, abordagem reservada, apoio técnico em cada proposta e acompanhamento até a assinatura.</a:t>
            </a:r>
            <a:endParaRPr lang="en-US" sz="1275" dirty="0"/>
          </a:p>
        </p:txBody>
      </p:sp>
      <p:sp>
        <p:nvSpPr>
          <p:cNvPr id="65" name="Shape 63"/>
          <p:cNvSpPr/>
          <p:nvPr/>
        </p:nvSpPr>
        <p:spPr>
          <a:xfrm>
            <a:off x="11144327" y="5124060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6" name="Shape 64"/>
          <p:cNvSpPr/>
          <p:nvPr/>
        </p:nvSpPr>
        <p:spPr>
          <a:xfrm>
            <a:off x="11144327" y="5124060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7" name="Text 65"/>
          <p:cNvSpPr/>
          <p:nvPr/>
        </p:nvSpPr>
        <p:spPr>
          <a:xfrm>
            <a:off x="12020910" y="5209720"/>
            <a:ext cx="255740" cy="277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7636"/>
              </a:lnSpc>
              <a:buNone/>
            </a:pPr>
            <a:r>
              <a:rPr lang="en-US" sz="1650" dirty="0">
                <a:solidFill>
                  <a:srgbClr val="C2CB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650" dirty="0"/>
          </a:p>
        </p:txBody>
      </p:sp>
      <p:sp>
        <p:nvSpPr>
          <p:cNvPr id="68" name="Text 66"/>
          <p:cNvSpPr/>
          <p:nvPr/>
        </p:nvSpPr>
        <p:spPr>
          <a:xfrm>
            <a:off x="11262970" y="5525121"/>
            <a:ext cx="1771619" cy="22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466"/>
              </a:lnSpc>
              <a:buNone/>
            </a:pPr>
            <a:r>
              <a:rPr lang="en-US" sz="1125" dirty="0">
                <a:solidFill>
                  <a:srgbClr val="8A96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integra</a:t>
            </a:r>
            <a:endParaRPr lang="en-US" sz="1125" dirty="0"/>
          </a:p>
        </p:txBody>
      </p:sp>
      <p:sp>
        <p:nvSpPr>
          <p:cNvPr id="69" name="Shape 67"/>
          <p:cNvSpPr/>
          <p:nvPr/>
        </p:nvSpPr>
        <p:spPr>
          <a:xfrm>
            <a:off x="13144538" y="5124060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0" name="Shape 68"/>
          <p:cNvSpPr/>
          <p:nvPr/>
        </p:nvSpPr>
        <p:spPr>
          <a:xfrm>
            <a:off x="13144538" y="5124060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1" name="Text 69"/>
          <p:cNvSpPr/>
          <p:nvPr/>
        </p:nvSpPr>
        <p:spPr>
          <a:xfrm>
            <a:off x="13305633" y="5218481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72" name="Shape 70"/>
          <p:cNvSpPr/>
          <p:nvPr/>
        </p:nvSpPr>
        <p:spPr>
          <a:xfrm>
            <a:off x="15144750" y="5124060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3" name="Shape 71"/>
          <p:cNvSpPr/>
          <p:nvPr/>
        </p:nvSpPr>
        <p:spPr>
          <a:xfrm>
            <a:off x="15144750" y="5124060"/>
            <a:ext cx="9525" cy="69771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4" name="Text 72"/>
          <p:cNvSpPr/>
          <p:nvPr/>
        </p:nvSpPr>
        <p:spPr>
          <a:xfrm>
            <a:off x="15305845" y="5218481"/>
            <a:ext cx="1686716" cy="55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75" name="Shape 73"/>
          <p:cNvSpPr/>
          <p:nvPr/>
        </p:nvSpPr>
        <p:spPr>
          <a:xfrm>
            <a:off x="1142997" y="5821774"/>
            <a:ext cx="10001329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6" name="Text 74"/>
          <p:cNvSpPr/>
          <p:nvPr/>
        </p:nvSpPr>
        <p:spPr>
          <a:xfrm>
            <a:off x="1142997" y="5916129"/>
            <a:ext cx="10750017" cy="2895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163"/>
              </a:lnSpc>
              <a:buNone/>
            </a:pPr>
            <a:r>
              <a:rPr lang="en-US" sz="16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Reporte das abordagens</a:t>
            </a:r>
            <a:endParaRPr lang="en-US" sz="1650" dirty="0"/>
          </a:p>
        </p:txBody>
      </p:sp>
      <p:sp>
        <p:nvSpPr>
          <p:cNvPr id="77" name="Text 75"/>
          <p:cNvSpPr/>
          <p:nvPr/>
        </p:nvSpPr>
        <p:spPr>
          <a:xfrm>
            <a:off x="1142997" y="6215227"/>
            <a:ext cx="10750017" cy="25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17"/>
              </a:lnSpc>
              <a:buNone/>
            </a:pPr>
            <a:r>
              <a:rPr lang="en-US" sz="12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Materiais de apresentação e o estágio de cada conversa — em tempo real no aberto, trimestral no exclusivo.</a:t>
            </a:r>
            <a:endParaRPr lang="en-US" sz="1275" dirty="0"/>
          </a:p>
        </p:txBody>
      </p:sp>
      <p:sp>
        <p:nvSpPr>
          <p:cNvPr id="78" name="Shape 76"/>
          <p:cNvSpPr/>
          <p:nvPr/>
        </p:nvSpPr>
        <p:spPr>
          <a:xfrm>
            <a:off x="11144327" y="5821774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9" name="Shape 77"/>
          <p:cNvSpPr/>
          <p:nvPr/>
        </p:nvSpPr>
        <p:spPr>
          <a:xfrm>
            <a:off x="11144327" y="5821774"/>
            <a:ext cx="9525" cy="61205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0" name="Text 78"/>
          <p:cNvSpPr/>
          <p:nvPr/>
        </p:nvSpPr>
        <p:spPr>
          <a:xfrm>
            <a:off x="12020910" y="5907434"/>
            <a:ext cx="255740" cy="277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7636"/>
              </a:lnSpc>
              <a:buNone/>
            </a:pPr>
            <a:r>
              <a:rPr lang="en-US" sz="1650" dirty="0">
                <a:solidFill>
                  <a:srgbClr val="C2CB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650" dirty="0"/>
          </a:p>
        </p:txBody>
      </p:sp>
      <p:sp>
        <p:nvSpPr>
          <p:cNvPr id="81" name="Text 79"/>
          <p:cNvSpPr/>
          <p:nvPr/>
        </p:nvSpPr>
        <p:spPr>
          <a:xfrm>
            <a:off x="11262970" y="6222835"/>
            <a:ext cx="1771619" cy="2237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5466"/>
              </a:lnSpc>
              <a:buNone/>
            </a:pPr>
            <a:r>
              <a:rPr lang="en-US" sz="1125" dirty="0">
                <a:solidFill>
                  <a:srgbClr val="8A96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integra</a:t>
            </a:r>
            <a:endParaRPr lang="en-US" sz="1125" dirty="0"/>
          </a:p>
        </p:txBody>
      </p:sp>
      <p:sp>
        <p:nvSpPr>
          <p:cNvPr id="82" name="Shape 80"/>
          <p:cNvSpPr/>
          <p:nvPr/>
        </p:nvSpPr>
        <p:spPr>
          <a:xfrm>
            <a:off x="13144538" y="5821774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3" name="Shape 81"/>
          <p:cNvSpPr/>
          <p:nvPr/>
        </p:nvSpPr>
        <p:spPr>
          <a:xfrm>
            <a:off x="13144538" y="5821774"/>
            <a:ext cx="9525" cy="61205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4" name="Text 82"/>
          <p:cNvSpPr/>
          <p:nvPr/>
        </p:nvSpPr>
        <p:spPr>
          <a:xfrm>
            <a:off x="13305633" y="5916194"/>
            <a:ext cx="1686716" cy="555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85" name="Shape 83"/>
          <p:cNvSpPr/>
          <p:nvPr/>
        </p:nvSpPr>
        <p:spPr>
          <a:xfrm>
            <a:off x="15144750" y="5821774"/>
            <a:ext cx="200021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6" name="Shape 84"/>
          <p:cNvSpPr/>
          <p:nvPr/>
        </p:nvSpPr>
        <p:spPr>
          <a:xfrm>
            <a:off x="15144750" y="5821774"/>
            <a:ext cx="9525" cy="612053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7" name="Text 85"/>
          <p:cNvSpPr/>
          <p:nvPr/>
        </p:nvSpPr>
        <p:spPr>
          <a:xfrm>
            <a:off x="15305845" y="5916194"/>
            <a:ext cx="1686716" cy="5557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41886"/>
              </a:lnSpc>
              <a:buNone/>
            </a:pPr>
            <a:r>
              <a:rPr lang="en-US" sz="16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●</a:t>
            </a:r>
            <a:endParaRPr lang="en-US" sz="1650" dirty="0"/>
          </a:p>
        </p:txBody>
      </p:sp>
      <p:sp>
        <p:nvSpPr>
          <p:cNvPr id="88" name="Shape 86"/>
          <p:cNvSpPr/>
          <p:nvPr/>
        </p:nvSpPr>
        <p:spPr>
          <a:xfrm>
            <a:off x="1142997" y="6548086"/>
            <a:ext cx="16001964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9" name="Text 87"/>
          <p:cNvSpPr/>
          <p:nvPr/>
        </p:nvSpPr>
        <p:spPr>
          <a:xfrm>
            <a:off x="1142997" y="6661556"/>
            <a:ext cx="16482023" cy="300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423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entrega é o laudo, em PDF assinado. O modelo financeiro empregado para produzi-lo é instrumento de trabalho da Tonello &amp; Siqueira e permanece de sua propriedade.</a:t>
            </a:r>
            <a:endParaRPr lang="en-US" sz="1425" dirty="0"/>
          </a:p>
        </p:txBody>
      </p:sp>
      <p:sp>
        <p:nvSpPr>
          <p:cNvPr id="90" name="Text 88"/>
          <p:cNvSpPr/>
          <p:nvPr/>
        </p:nvSpPr>
        <p:spPr>
          <a:xfrm>
            <a:off x="1142997" y="8097647"/>
            <a:ext cx="17602160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58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INTEGRAM O SERVIÇO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1142997" y="8474729"/>
            <a:ext cx="16001964" cy="9525"/>
          </a:xfrm>
          <a:prstGeom prst="rect">
            <a:avLst/>
          </a:prstGeom>
          <a:solidFill>
            <a:srgbClr val="1A2733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2" name="Text 90"/>
          <p:cNvSpPr/>
          <p:nvPr/>
        </p:nvSpPr>
        <p:spPr>
          <a:xfrm>
            <a:off x="1142997" y="8616771"/>
            <a:ext cx="223134" cy="51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7"/>
              </a:lnSpc>
              <a:buNone/>
            </a:pPr>
            <a:r>
              <a:rPr lang="en-US" sz="13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1423278" y="8616771"/>
            <a:ext cx="4943683" cy="51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7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Certificação técnica de premissas que exija profissional habilitado, que o Cliente deve fornecer já certificadas.</a:t>
            </a:r>
            <a:endParaRPr lang="en-US" sz="1350" dirty="0"/>
          </a:p>
        </p:txBody>
      </p:sp>
      <p:sp>
        <p:nvSpPr>
          <p:cNvPr id="94" name="Text 92"/>
          <p:cNvSpPr/>
          <p:nvPr/>
        </p:nvSpPr>
        <p:spPr>
          <a:xfrm>
            <a:off x="6603925" y="8616771"/>
            <a:ext cx="223134" cy="51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7"/>
              </a:lnSpc>
              <a:buNone/>
            </a:pPr>
            <a:r>
              <a:rPr lang="en-US" sz="13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350" dirty="0"/>
          </a:p>
        </p:txBody>
      </p:sp>
      <p:sp>
        <p:nvSpPr>
          <p:cNvPr id="95" name="Text 93"/>
          <p:cNvSpPr/>
          <p:nvPr/>
        </p:nvSpPr>
        <p:spPr>
          <a:xfrm>
            <a:off x="6884206" y="8616771"/>
            <a:ext cx="4943753" cy="51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7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 jurídico de qualquer natureza, incluindo a redação dos instrumentos da operação.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12064921" y="8616771"/>
            <a:ext cx="223134" cy="51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7"/>
              </a:lnSpc>
              <a:buNone/>
            </a:pPr>
            <a:r>
              <a:rPr lang="en-US" sz="13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350" dirty="0"/>
          </a:p>
        </p:txBody>
      </p:sp>
      <p:sp>
        <p:nvSpPr>
          <p:cNvPr id="97" name="Text 95"/>
          <p:cNvSpPr/>
          <p:nvPr/>
        </p:nvSpPr>
        <p:spPr>
          <a:xfrm>
            <a:off x="12345201" y="8616771"/>
            <a:ext cx="4943683" cy="51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7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Verificação de titularidade, licenças, direitos de uso e situação tributária do ativo.</a:t>
            </a:r>
            <a:endParaRPr lang="en-US" sz="1350" dirty="0"/>
          </a:p>
        </p:txBody>
      </p:sp>
      <p:sp>
        <p:nvSpPr>
          <p:cNvPr id="98" name="Text 96"/>
          <p:cNvSpPr/>
          <p:nvPr/>
        </p:nvSpPr>
        <p:spPr>
          <a:xfrm>
            <a:off x="1142997" y="9204234"/>
            <a:ext cx="223134" cy="51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7"/>
              </a:lnSpc>
              <a:buNone/>
            </a:pPr>
            <a:r>
              <a:rPr lang="en-US" sz="13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1423278" y="9204234"/>
            <a:ext cx="4943683" cy="51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7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Recomendação de compra, venda ou investimento e parecer de equidade.</a:t>
            </a:r>
            <a:endParaRPr lang="en-US" sz="1350" dirty="0"/>
          </a:p>
        </p:txBody>
      </p:sp>
      <p:sp>
        <p:nvSpPr>
          <p:cNvPr id="100" name="Text 98"/>
          <p:cNvSpPr/>
          <p:nvPr/>
        </p:nvSpPr>
        <p:spPr>
          <a:xfrm>
            <a:off x="6603925" y="9204234"/>
            <a:ext cx="223134" cy="51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7"/>
              </a:lnSpc>
              <a:buNone/>
            </a:pPr>
            <a:r>
              <a:rPr lang="en-US" sz="13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350" dirty="0"/>
          </a:p>
        </p:txBody>
      </p:sp>
      <p:sp>
        <p:nvSpPr>
          <p:cNvPr id="101" name="Text 99"/>
          <p:cNvSpPr/>
          <p:nvPr/>
        </p:nvSpPr>
        <p:spPr>
          <a:xfrm>
            <a:off x="6884206" y="9204234"/>
            <a:ext cx="4182568" cy="51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7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Auditoria, perícia contábil e diligência prévia jurídica.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12064921" y="9204234"/>
            <a:ext cx="223134" cy="51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7"/>
              </a:lnSpc>
              <a:buNone/>
            </a:pPr>
            <a:r>
              <a:rPr lang="en-US" sz="1350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1350" dirty="0"/>
          </a:p>
        </p:txBody>
      </p:sp>
      <p:sp>
        <p:nvSpPr>
          <p:cNvPr id="103" name="Text 101"/>
          <p:cNvSpPr/>
          <p:nvPr/>
        </p:nvSpPr>
        <p:spPr>
          <a:xfrm>
            <a:off x="12345201" y="9204234"/>
            <a:ext cx="4943683" cy="511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937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ausência de certificação, adota-se a premissa conforme informada, sem responsabilidade da Tonello &amp; Siqueira.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3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D4AF6A">
                  <a:alpha val="13000"/>
                </a:srgbClr>
              </a:gs>
              <a:gs pos="60000">
                <a:srgbClr val="D4AF6A">
                  <a:alpha val="0"/>
                </a:srgbClr>
              </a:gs>
            </a:gsLst>
            <a:path path="circle">
              <a:fillToRect l="8000" t="100000" r="92000"/>
            </a:path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1142997" y="889617"/>
            <a:ext cx="342845" cy="19021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" name="Text 2"/>
          <p:cNvSpPr/>
          <p:nvPr/>
        </p:nvSpPr>
        <p:spPr>
          <a:xfrm>
            <a:off x="1657231" y="801104"/>
            <a:ext cx="1709247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CONDIÇÕES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2997" y="1245776"/>
            <a:ext cx="5892992" cy="666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399"/>
              </a:lnSpc>
              <a:buNone/>
            </a:pPr>
            <a:r>
              <a:rPr lang="en-US" sz="4500" kern="0" spc="-4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Prazo, sigilo e </a:t>
            </a:r>
            <a:r>
              <a:rPr lang="en-US" sz="4500" i="1" kern="0" spc="-45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6464638" y="1539100"/>
            <a:ext cx="756523" cy="37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EAF1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/ 09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42997" y="2160120"/>
            <a:ext cx="16001964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1142997" y="6116388"/>
            <a:ext cx="533396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Shape 7"/>
          <p:cNvSpPr/>
          <p:nvPr/>
        </p:nvSpPr>
        <p:spPr>
          <a:xfrm>
            <a:off x="6468267" y="2168815"/>
            <a:ext cx="9525" cy="39562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1142997" y="2416421"/>
            <a:ext cx="5438748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142997" y="2778287"/>
            <a:ext cx="5438748" cy="375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58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dias corridos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142997" y="3210460"/>
            <a:ext cx="5092646" cy="1538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Contados do recebimento das informações necessárias e da confirmação do adiantamento. O prazo fica suspenso enquanto pendente, por ato do Cliente, informação necessária ao trabalho; a prorrogação depende de acordo escrito.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6476963" y="6116388"/>
            <a:ext cx="5333965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Shape 12"/>
          <p:cNvSpPr/>
          <p:nvPr/>
        </p:nvSpPr>
        <p:spPr>
          <a:xfrm>
            <a:off x="11802233" y="2168815"/>
            <a:ext cx="9525" cy="395626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Text 13"/>
          <p:cNvSpPr/>
          <p:nvPr/>
        </p:nvSpPr>
        <p:spPr>
          <a:xfrm>
            <a:off x="6857917" y="2416421"/>
            <a:ext cx="5019699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NATUREZA TÉCNICA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857917" y="2778287"/>
            <a:ext cx="5019699" cy="375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58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Obrigação de meio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6857917" y="3210460"/>
            <a:ext cx="4700263" cy="1538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laudo é estimativa técnica fundamentada de valor. Não é recomendação de compra ou venda, parecer de equidade nem garantia de preço de realização — a decisão de transacionar é exclusiva do Cliente.</a:t>
            </a:r>
            <a:endParaRPr lang="en-US" sz="1575" dirty="0"/>
          </a:p>
        </p:txBody>
      </p:sp>
      <p:sp>
        <p:nvSpPr>
          <p:cNvPr id="18" name="Shape 16"/>
          <p:cNvSpPr/>
          <p:nvPr/>
        </p:nvSpPr>
        <p:spPr>
          <a:xfrm>
            <a:off x="11810928" y="6116388"/>
            <a:ext cx="5334033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Text 17"/>
          <p:cNvSpPr/>
          <p:nvPr/>
        </p:nvSpPr>
        <p:spPr>
          <a:xfrm>
            <a:off x="12191883" y="2416421"/>
            <a:ext cx="5448388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CONFIDENCIALIDADE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12191883" y="2778287"/>
            <a:ext cx="5448388" cy="375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58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Sigilo recíproco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2191883" y="3210460"/>
            <a:ext cx="5101672" cy="123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parte mantém em sigilo as informações a que tiver acesso, usa-as apenas para a finalidade declarada e não as revela a terceiros sem anuência escrita. Havendo termo próprio, ele integra esta proposta como anexo.</a:t>
            </a:r>
            <a:endParaRPr lang="en-US" sz="1575" dirty="0"/>
          </a:p>
        </p:txBody>
      </p:sp>
      <p:sp>
        <p:nvSpPr>
          <p:cNvPr id="22" name="Shape 20"/>
          <p:cNvSpPr/>
          <p:nvPr/>
        </p:nvSpPr>
        <p:spPr>
          <a:xfrm>
            <a:off x="6468267" y="6125083"/>
            <a:ext cx="9525" cy="339991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Text 21"/>
          <p:cNvSpPr/>
          <p:nvPr/>
        </p:nvSpPr>
        <p:spPr>
          <a:xfrm>
            <a:off x="1142997" y="6372690"/>
            <a:ext cx="5438748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142997" y="6734555"/>
            <a:ext cx="5438748" cy="375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58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Reembolso aprovado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1142997" y="7166728"/>
            <a:ext cx="5092646" cy="123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Viagem, deslocamento e hospedagem, quando necessárias e previamente aprovadas pelo Cliente, são reembolsadas mediante comprovantes. Não há cobrança por hora adicional.</a:t>
            </a:r>
            <a:endParaRPr lang="en-US" sz="1575" dirty="0"/>
          </a:p>
        </p:txBody>
      </p:sp>
      <p:sp>
        <p:nvSpPr>
          <p:cNvPr id="26" name="Shape 24"/>
          <p:cNvSpPr/>
          <p:nvPr/>
        </p:nvSpPr>
        <p:spPr>
          <a:xfrm>
            <a:off x="11802233" y="6125083"/>
            <a:ext cx="9525" cy="3399918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Text 25"/>
          <p:cNvSpPr/>
          <p:nvPr/>
        </p:nvSpPr>
        <p:spPr>
          <a:xfrm>
            <a:off x="6857917" y="6372690"/>
            <a:ext cx="5019699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DIVULGAÇÃO DO CASO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857917" y="6734555"/>
            <a:ext cx="5019699" cy="375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58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Somente com autorização</a:t>
            </a:r>
            <a:endParaRPr lang="en-US" sz="2175" dirty="0"/>
          </a:p>
        </p:txBody>
      </p:sp>
      <p:sp>
        <p:nvSpPr>
          <p:cNvPr id="29" name="Text 27"/>
          <p:cNvSpPr/>
          <p:nvPr/>
        </p:nvSpPr>
        <p:spPr>
          <a:xfrm>
            <a:off x="6857917" y="7166728"/>
            <a:ext cx="4700263" cy="123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Valores, termos comerciais, documentos e dados pessoais nunca são divulgados. A menção ao caso depende de autorização escrita do Cliente, revogável para publicações futuras.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12191883" y="6372690"/>
            <a:ext cx="5448388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 MAIOR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12191883" y="6734555"/>
            <a:ext cx="5448388" cy="375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58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Prazos suspensos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12191883" y="7166728"/>
            <a:ext cx="5101672" cy="123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Nenhuma parte responde pelo descumprimento decorrente de caso fortuito ou força maior; a parte afetada comunica a outra assim que possível e os prazos ficam suspensos enquanto durar o evento.</a:t>
            </a:r>
            <a:endParaRPr lang="en-US" sz="15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0E2438">
                  <a:alpha val="100000"/>
                </a:srgbClr>
              </a:gs>
              <a:gs pos="45000">
                <a:srgbClr val="173A59">
                  <a:alpha val="100000"/>
                </a:srgbClr>
              </a:gs>
              <a:gs pos="72000">
                <a:srgbClr val="245078">
                  <a:alpha val="100000"/>
                </a:srgbClr>
              </a:gs>
              <a:gs pos="100000">
                <a:srgbClr val="356C9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7959" cy="10286977"/>
          </a:xfrm>
          <a:prstGeom prst="rect">
            <a:avLst/>
          </a:prstGeom>
          <a:gradFill rotWithShape="1">
            <a:gsLst>
              <a:gs pos="0">
                <a:srgbClr val="D4AF6A">
                  <a:alpha val="16000"/>
                </a:srgbClr>
              </a:gs>
              <a:gs pos="55000">
                <a:srgbClr val="D4AF6A">
                  <a:alpha val="0"/>
                </a:srgbClr>
              </a:gs>
            </a:gsLst>
            <a:path path="circle">
              <a:fillToRect l="88000" r="12000" b="100000"/>
            </a:path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4" name="Shape 2"/>
          <p:cNvSpPr/>
          <p:nvPr/>
        </p:nvSpPr>
        <p:spPr>
          <a:xfrm>
            <a:off x="1047691" y="813399"/>
            <a:ext cx="342845" cy="19021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" name="Text 3"/>
          <p:cNvSpPr/>
          <p:nvPr/>
        </p:nvSpPr>
        <p:spPr>
          <a:xfrm>
            <a:off x="1561924" y="724886"/>
            <a:ext cx="2814057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PREÇO E PAGAMENTO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47691" y="1150538"/>
            <a:ext cx="9855877" cy="624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093"/>
              </a:lnSpc>
              <a:buNone/>
            </a:pPr>
            <a:r>
              <a:rPr lang="en-US" sz="4200" kern="0" spc="-42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Preço fechado, sem cobrança por </a:t>
            </a:r>
            <a:r>
              <a:rPr lang="en-US" sz="4200" i="1" kern="0" spc="-42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hora.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4422667" y="1478166"/>
            <a:ext cx="1774800" cy="29718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38587"/>
              </a:lnSpc>
              <a:buNone/>
            </a:pPr>
            <a:r>
              <a:rPr lang="en-US" sz="1275" kern="0" spc="51" dirty="0">
                <a:solidFill>
                  <a:srgbClr val="EAF1F5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em reais (R$)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6464112" y="1401948"/>
            <a:ext cx="776155" cy="37340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r">
              <a:lnSpc>
                <a:spcPct val="140217"/>
              </a:lnSpc>
              <a:buNone/>
            </a:pPr>
            <a:r>
              <a:rPr lang="en-US" sz="1650" dirty="0">
                <a:solidFill>
                  <a:srgbClr val="EAF1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/ 09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47691" y="1965839"/>
            <a:ext cx="2190689" cy="9525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Shape 8"/>
          <p:cNvSpPr/>
          <p:nvPr/>
        </p:nvSpPr>
        <p:spPr>
          <a:xfrm>
            <a:off x="3238379" y="1965839"/>
            <a:ext cx="4667296" cy="17390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Shape 9"/>
          <p:cNvSpPr/>
          <p:nvPr/>
        </p:nvSpPr>
        <p:spPr>
          <a:xfrm>
            <a:off x="3238379" y="1965839"/>
            <a:ext cx="9525" cy="124903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10"/>
          <p:cNvSpPr/>
          <p:nvPr/>
        </p:nvSpPr>
        <p:spPr>
          <a:xfrm>
            <a:off x="3551811" y="2078467"/>
            <a:ext cx="4454042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01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3551811" y="2440333"/>
            <a:ext cx="4454042" cy="363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28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 de empresa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7905676" y="1965839"/>
            <a:ext cx="4667296" cy="17390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7905676" y="1965839"/>
            <a:ext cx="9525" cy="124903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4"/>
          <p:cNvSpPr/>
          <p:nvPr/>
        </p:nvSpPr>
        <p:spPr>
          <a:xfrm>
            <a:off x="8219106" y="2078467"/>
            <a:ext cx="4454042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02 · OPÇÃO A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219106" y="2440333"/>
            <a:ext cx="4170603" cy="689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28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 + intermediação </a:t>
            </a:r>
            <a:r>
              <a:rPr lang="en-US" sz="2175" dirty="0">
                <a:solidFill>
                  <a:srgbClr val="E0EAF1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mandato aberto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2572972" y="1965839"/>
            <a:ext cx="4667296" cy="17390"/>
          </a:xfrm>
          <a:prstGeom prst="rect">
            <a:avLst/>
          </a:prstGeom>
          <a:solidFill>
            <a:srgbClr val="D4AF6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Shape 17"/>
          <p:cNvSpPr/>
          <p:nvPr/>
        </p:nvSpPr>
        <p:spPr>
          <a:xfrm>
            <a:off x="12572972" y="1965839"/>
            <a:ext cx="9525" cy="124903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8"/>
          <p:cNvSpPr/>
          <p:nvPr/>
        </p:nvSpPr>
        <p:spPr>
          <a:xfrm>
            <a:off x="12886403" y="2078467"/>
            <a:ext cx="4454042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SERVIÇO 02 · OPÇÃO B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12886403" y="2440333"/>
            <a:ext cx="4170603" cy="689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128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Avaliação + intermediação </a:t>
            </a:r>
            <a:r>
              <a:rPr lang="en-US" sz="2175" dirty="0">
                <a:solidFill>
                  <a:srgbClr val="E0EAF1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mandato exclusivo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1047691" y="3214876"/>
            <a:ext cx="2190689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Text 21"/>
          <p:cNvSpPr/>
          <p:nvPr/>
        </p:nvSpPr>
        <p:spPr>
          <a:xfrm>
            <a:off x="1047691" y="3318821"/>
            <a:ext cx="1981139" cy="11132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E0EAF1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HONORÁRIO FIXO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3238379" y="3214876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23"/>
          <p:cNvSpPr/>
          <p:nvPr/>
        </p:nvSpPr>
        <p:spPr>
          <a:xfrm>
            <a:off x="3238379" y="3214876"/>
            <a:ext cx="9525" cy="127430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6" name="Text 24"/>
          <p:cNvSpPr/>
          <p:nvPr/>
        </p:nvSpPr>
        <p:spPr>
          <a:xfrm>
            <a:off x="3551811" y="3318809"/>
            <a:ext cx="4454042" cy="47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404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R$ 10.000</a:t>
            </a:r>
            <a:endParaRPr lang="en-US" sz="3450" dirty="0"/>
          </a:p>
        </p:txBody>
      </p:sp>
      <p:sp>
        <p:nvSpPr>
          <p:cNvPr id="27" name="Text 25"/>
          <p:cNvSpPr/>
          <p:nvPr/>
        </p:nvSpPr>
        <p:spPr>
          <a:xfrm>
            <a:off x="3551811" y="3833111"/>
            <a:ext cx="4454042" cy="304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integral do laudo, sem etapa de venda.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905676" y="3214876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Shape 27"/>
          <p:cNvSpPr/>
          <p:nvPr/>
        </p:nvSpPr>
        <p:spPr>
          <a:xfrm>
            <a:off x="7905676" y="3214876"/>
            <a:ext cx="9525" cy="127430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Text 28"/>
          <p:cNvSpPr/>
          <p:nvPr/>
        </p:nvSpPr>
        <p:spPr>
          <a:xfrm>
            <a:off x="8219106" y="3318809"/>
            <a:ext cx="4454042" cy="47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404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R$ 12.000</a:t>
            </a:r>
            <a:endParaRPr lang="en-US" sz="3450" dirty="0"/>
          </a:p>
        </p:txBody>
      </p:sp>
      <p:sp>
        <p:nvSpPr>
          <p:cNvPr id="31" name="Text 29"/>
          <p:cNvSpPr/>
          <p:nvPr/>
        </p:nvSpPr>
        <p:spPr>
          <a:xfrm>
            <a:off x="8219106" y="3833111"/>
            <a:ext cx="4170603" cy="571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integral do laudo mais a condução da venda.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2572972" y="3214876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3" name="Shape 31"/>
          <p:cNvSpPr/>
          <p:nvPr/>
        </p:nvSpPr>
        <p:spPr>
          <a:xfrm>
            <a:off x="12572972" y="3214876"/>
            <a:ext cx="9525" cy="1274307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4" name="Text 32"/>
          <p:cNvSpPr/>
          <p:nvPr/>
        </p:nvSpPr>
        <p:spPr>
          <a:xfrm>
            <a:off x="12886403" y="3318809"/>
            <a:ext cx="4454042" cy="47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404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R$ 4.000</a:t>
            </a:r>
            <a:endParaRPr lang="en-US" sz="3450" dirty="0"/>
          </a:p>
        </p:txBody>
      </p:sp>
      <p:sp>
        <p:nvSpPr>
          <p:cNvPr id="35" name="Text 33"/>
          <p:cNvSpPr/>
          <p:nvPr/>
        </p:nvSpPr>
        <p:spPr>
          <a:xfrm>
            <a:off x="12886403" y="3833111"/>
            <a:ext cx="4170603" cy="571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Apenas a avaliação; a taxa de </a:t>
            </a:r>
            <a:r>
              <a:rPr lang="en-US" sz="1500" dirty="0" err="1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sucesso</a:t>
            </a:r>
            <a:r>
              <a:rPr lang="en-US" sz="1500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da venda é remunerada no êxito.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47691" y="4489183"/>
            <a:ext cx="2190689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7" name="Text 35"/>
          <p:cNvSpPr/>
          <p:nvPr/>
        </p:nvSpPr>
        <p:spPr>
          <a:xfrm>
            <a:off x="1047691" y="4593128"/>
            <a:ext cx="1981139" cy="846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E0EAF1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SUCESSO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3238379" y="4489183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9" name="Shape 37"/>
          <p:cNvSpPr/>
          <p:nvPr/>
        </p:nvSpPr>
        <p:spPr>
          <a:xfrm>
            <a:off x="3238379" y="4489183"/>
            <a:ext cx="9525" cy="100768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0" name="Text 38"/>
          <p:cNvSpPr/>
          <p:nvPr/>
        </p:nvSpPr>
        <p:spPr>
          <a:xfrm>
            <a:off x="3551811" y="4593116"/>
            <a:ext cx="4454042" cy="47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404"/>
              </a:lnSpc>
              <a:buNone/>
            </a:pPr>
            <a:r>
              <a:rPr lang="en-US" sz="3450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3450" dirty="0"/>
          </a:p>
        </p:txBody>
      </p:sp>
      <p:sp>
        <p:nvSpPr>
          <p:cNvPr id="41" name="Text 39"/>
          <p:cNvSpPr/>
          <p:nvPr/>
        </p:nvSpPr>
        <p:spPr>
          <a:xfrm>
            <a:off x="3551811" y="5107417"/>
            <a:ext cx="4454042" cy="304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há remuneração variável.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905676" y="4489183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3" name="Shape 41"/>
          <p:cNvSpPr/>
          <p:nvPr/>
        </p:nvSpPr>
        <p:spPr>
          <a:xfrm>
            <a:off x="7905676" y="4489183"/>
            <a:ext cx="9525" cy="100768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4" name="Text 42"/>
          <p:cNvSpPr/>
          <p:nvPr/>
        </p:nvSpPr>
        <p:spPr>
          <a:xfrm>
            <a:off x="8219106" y="4593116"/>
            <a:ext cx="4454042" cy="47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404"/>
              </a:lnSpc>
              <a:buNone/>
            </a:pPr>
            <a:r>
              <a:rPr lang="en-US" sz="3450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6%</a:t>
            </a:r>
            <a:endParaRPr lang="en-US" sz="3450" dirty="0"/>
          </a:p>
        </p:txBody>
      </p:sp>
      <p:sp>
        <p:nvSpPr>
          <p:cNvPr id="45" name="Text 43"/>
          <p:cNvSpPr/>
          <p:nvPr/>
        </p:nvSpPr>
        <p:spPr>
          <a:xfrm>
            <a:off x="8219106" y="5107417"/>
            <a:ext cx="4454042" cy="304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o Valor Apurado da Operação.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2572972" y="4489183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7" name="Shape 45"/>
          <p:cNvSpPr/>
          <p:nvPr/>
        </p:nvSpPr>
        <p:spPr>
          <a:xfrm>
            <a:off x="12572972" y="4489183"/>
            <a:ext cx="9525" cy="100768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8" name="Text 46"/>
          <p:cNvSpPr/>
          <p:nvPr/>
        </p:nvSpPr>
        <p:spPr>
          <a:xfrm>
            <a:off x="12886403" y="4593116"/>
            <a:ext cx="4454042" cy="4762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8404"/>
              </a:lnSpc>
              <a:buNone/>
            </a:pPr>
            <a:r>
              <a:rPr lang="en-US" sz="3450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3450" dirty="0"/>
          </a:p>
        </p:txBody>
      </p:sp>
      <p:sp>
        <p:nvSpPr>
          <p:cNvPr id="49" name="Text 47"/>
          <p:cNvSpPr/>
          <p:nvPr/>
        </p:nvSpPr>
        <p:spPr>
          <a:xfrm>
            <a:off x="12886403" y="5107417"/>
            <a:ext cx="4454042" cy="3047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690"/>
              </a:lnSpc>
              <a:buNone/>
            </a:pPr>
            <a:r>
              <a:rPr lang="en-US" sz="1500" dirty="0">
                <a:solidFill>
                  <a:srgbClr val="E0EAF1">
                    <a:alpha val="7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Sobre o Valor Apurado da Operação.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1047691" y="5496863"/>
            <a:ext cx="2190689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1" name="Text 49"/>
          <p:cNvSpPr/>
          <p:nvPr/>
        </p:nvSpPr>
        <p:spPr>
          <a:xfrm>
            <a:off x="1047691" y="5600808"/>
            <a:ext cx="1981139" cy="935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E0EAF1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3238379" y="5496863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3" name="Shape 51"/>
          <p:cNvSpPr/>
          <p:nvPr/>
        </p:nvSpPr>
        <p:spPr>
          <a:xfrm>
            <a:off x="3238379" y="5496863"/>
            <a:ext cx="9525" cy="1096941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4" name="Text 52"/>
          <p:cNvSpPr/>
          <p:nvPr/>
        </p:nvSpPr>
        <p:spPr>
          <a:xfrm>
            <a:off x="3551874" y="5600808"/>
            <a:ext cx="4189020" cy="935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Metade na contratação e metade na entrega do laudo, por TED ou PIX.</a:t>
            </a:r>
            <a:endParaRPr lang="en-US" sz="1575" dirty="0"/>
          </a:p>
        </p:txBody>
      </p:sp>
      <p:sp>
        <p:nvSpPr>
          <p:cNvPr id="55" name="Shape 53"/>
          <p:cNvSpPr/>
          <p:nvPr/>
        </p:nvSpPr>
        <p:spPr>
          <a:xfrm>
            <a:off x="7905676" y="5496863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6" name="Shape 54"/>
          <p:cNvSpPr/>
          <p:nvPr/>
        </p:nvSpPr>
        <p:spPr>
          <a:xfrm>
            <a:off x="7905676" y="5496863"/>
            <a:ext cx="9525" cy="1096941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7" name="Text 55"/>
          <p:cNvSpPr/>
          <p:nvPr/>
        </p:nvSpPr>
        <p:spPr>
          <a:xfrm>
            <a:off x="8219171" y="5600808"/>
            <a:ext cx="4189020" cy="935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Fixo em três parcelas, todas após a entrega do laudo; a taxa é devida no fechamento da operação.</a:t>
            </a:r>
            <a:endParaRPr lang="en-US" sz="1575" dirty="0"/>
          </a:p>
        </p:txBody>
      </p:sp>
      <p:sp>
        <p:nvSpPr>
          <p:cNvPr id="58" name="Shape 56"/>
          <p:cNvSpPr/>
          <p:nvPr/>
        </p:nvSpPr>
        <p:spPr>
          <a:xfrm>
            <a:off x="12572972" y="5496863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9" name="Shape 57"/>
          <p:cNvSpPr/>
          <p:nvPr/>
        </p:nvSpPr>
        <p:spPr>
          <a:xfrm>
            <a:off x="12572972" y="5496863"/>
            <a:ext cx="9525" cy="1096941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0" name="Text 58"/>
          <p:cNvSpPr/>
          <p:nvPr/>
        </p:nvSpPr>
        <p:spPr>
          <a:xfrm>
            <a:off x="12886467" y="5600808"/>
            <a:ext cx="4189020" cy="9358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Fixo na contratação; a condução da venda é remunerada no fechamento da operação.</a:t>
            </a:r>
            <a:endParaRPr lang="en-US" sz="1575" dirty="0"/>
          </a:p>
        </p:txBody>
      </p:sp>
      <p:sp>
        <p:nvSpPr>
          <p:cNvPr id="61" name="Shape 59"/>
          <p:cNvSpPr/>
          <p:nvPr/>
        </p:nvSpPr>
        <p:spPr>
          <a:xfrm>
            <a:off x="1047691" y="6593803"/>
            <a:ext cx="2190689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2" name="Text 60"/>
          <p:cNvSpPr/>
          <p:nvPr/>
        </p:nvSpPr>
        <p:spPr>
          <a:xfrm>
            <a:off x="1047691" y="6697748"/>
            <a:ext cx="1981139" cy="93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E0EAF1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</a:t>
            </a:r>
            <a:endParaRPr lang="en-US" sz="1125" dirty="0"/>
          </a:p>
        </p:txBody>
      </p:sp>
      <p:sp>
        <p:nvSpPr>
          <p:cNvPr id="63" name="Shape 61"/>
          <p:cNvSpPr/>
          <p:nvPr/>
        </p:nvSpPr>
        <p:spPr>
          <a:xfrm>
            <a:off x="3238379" y="6593803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4" name="Shape 62"/>
          <p:cNvSpPr/>
          <p:nvPr/>
        </p:nvSpPr>
        <p:spPr>
          <a:xfrm>
            <a:off x="3238379" y="6593803"/>
            <a:ext cx="9525" cy="109700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5" name="Text 63"/>
          <p:cNvSpPr/>
          <p:nvPr/>
        </p:nvSpPr>
        <p:spPr>
          <a:xfrm>
            <a:off x="3551874" y="6697748"/>
            <a:ext cx="4189020" cy="93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mandato de venda: a entrega do laudo encerra o escopo.</a:t>
            </a:r>
            <a:endParaRPr lang="en-US" sz="1575" dirty="0"/>
          </a:p>
        </p:txBody>
      </p:sp>
      <p:sp>
        <p:nvSpPr>
          <p:cNvPr id="66" name="Shape 64"/>
          <p:cNvSpPr/>
          <p:nvPr/>
        </p:nvSpPr>
        <p:spPr>
          <a:xfrm>
            <a:off x="7905676" y="6593803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7" name="Shape 65"/>
          <p:cNvSpPr/>
          <p:nvPr/>
        </p:nvSpPr>
        <p:spPr>
          <a:xfrm>
            <a:off x="7905676" y="6593803"/>
            <a:ext cx="9525" cy="109700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8" name="Text 66"/>
          <p:cNvSpPr/>
          <p:nvPr/>
        </p:nvSpPr>
        <p:spPr>
          <a:xfrm>
            <a:off x="8219171" y="6697748"/>
            <a:ext cx="4189020" cy="93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meses </a:t>
            </a: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</a:t>
            </a:r>
            <a:r>
              <a:rPr lang="en-US" sz="1575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vigência</a:t>
            </a: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r>
              <a:rPr lang="en-US" sz="1575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</a:t>
            </a: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575" dirty="0" err="1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exclusividade</a:t>
            </a: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575" dirty="0"/>
          </a:p>
        </p:txBody>
      </p:sp>
      <p:sp>
        <p:nvSpPr>
          <p:cNvPr id="69" name="Shape 67"/>
          <p:cNvSpPr/>
          <p:nvPr/>
        </p:nvSpPr>
        <p:spPr>
          <a:xfrm>
            <a:off x="12572972" y="6593803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0" name="Shape 68"/>
          <p:cNvSpPr/>
          <p:nvPr/>
        </p:nvSpPr>
        <p:spPr>
          <a:xfrm>
            <a:off x="12572972" y="6593803"/>
            <a:ext cx="9525" cy="1097009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1" name="Text 69"/>
          <p:cNvSpPr/>
          <p:nvPr/>
        </p:nvSpPr>
        <p:spPr>
          <a:xfrm>
            <a:off x="12886467" y="6697748"/>
            <a:ext cx="4189020" cy="93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4C4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meses </a:t>
            </a: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vigência, com exclusividade da casa na condução da venda.</a:t>
            </a:r>
            <a:endParaRPr lang="en-US" sz="1575" dirty="0"/>
          </a:p>
        </p:txBody>
      </p:sp>
      <p:sp>
        <p:nvSpPr>
          <p:cNvPr id="72" name="Shape 70"/>
          <p:cNvSpPr/>
          <p:nvPr/>
        </p:nvSpPr>
        <p:spPr>
          <a:xfrm>
            <a:off x="1047691" y="8787821"/>
            <a:ext cx="2190689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3" name="Shape 71"/>
          <p:cNvSpPr/>
          <p:nvPr/>
        </p:nvSpPr>
        <p:spPr>
          <a:xfrm>
            <a:off x="1047691" y="7690812"/>
            <a:ext cx="2190689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4" name="Text 72"/>
          <p:cNvSpPr/>
          <p:nvPr/>
        </p:nvSpPr>
        <p:spPr>
          <a:xfrm>
            <a:off x="1047691" y="7794757"/>
            <a:ext cx="1981139" cy="93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E0EAF1">
                    <a:alpha val="6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INCLUI</a:t>
            </a:r>
            <a:endParaRPr lang="en-US" sz="1125" dirty="0"/>
          </a:p>
        </p:txBody>
      </p:sp>
      <p:sp>
        <p:nvSpPr>
          <p:cNvPr id="75" name="Shape 73"/>
          <p:cNvSpPr/>
          <p:nvPr/>
        </p:nvSpPr>
        <p:spPr>
          <a:xfrm>
            <a:off x="3238379" y="8787821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6" name="Shape 74"/>
          <p:cNvSpPr/>
          <p:nvPr/>
        </p:nvSpPr>
        <p:spPr>
          <a:xfrm>
            <a:off x="3238379" y="7690812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7" name="Shape 75"/>
          <p:cNvSpPr/>
          <p:nvPr/>
        </p:nvSpPr>
        <p:spPr>
          <a:xfrm>
            <a:off x="3238379" y="7690812"/>
            <a:ext cx="9525" cy="110570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8" name="Text 76"/>
          <p:cNvSpPr/>
          <p:nvPr/>
        </p:nvSpPr>
        <p:spPr>
          <a:xfrm>
            <a:off x="3551874" y="7794757"/>
            <a:ext cx="4189020" cy="93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Laudo de avaliação com relatório de fundamentação completo e reunião de leitura.</a:t>
            </a:r>
            <a:endParaRPr lang="en-US" sz="1575" dirty="0"/>
          </a:p>
        </p:txBody>
      </p:sp>
      <p:sp>
        <p:nvSpPr>
          <p:cNvPr id="79" name="Shape 77"/>
          <p:cNvSpPr/>
          <p:nvPr/>
        </p:nvSpPr>
        <p:spPr>
          <a:xfrm>
            <a:off x="7905676" y="8787821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0" name="Shape 78"/>
          <p:cNvSpPr/>
          <p:nvPr/>
        </p:nvSpPr>
        <p:spPr>
          <a:xfrm>
            <a:off x="7905676" y="7690812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1" name="Shape 79"/>
          <p:cNvSpPr/>
          <p:nvPr/>
        </p:nvSpPr>
        <p:spPr>
          <a:xfrm>
            <a:off x="7905676" y="7690812"/>
            <a:ext cx="9525" cy="110570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2" name="Text 80"/>
          <p:cNvSpPr/>
          <p:nvPr/>
        </p:nvSpPr>
        <p:spPr>
          <a:xfrm>
            <a:off x="8219171" y="7794757"/>
            <a:ext cx="4189020" cy="93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laudo, a condução da venda e reporte das abordagens em tempo real.</a:t>
            </a:r>
            <a:endParaRPr lang="en-US" sz="1575" dirty="0"/>
          </a:p>
        </p:txBody>
      </p:sp>
      <p:sp>
        <p:nvSpPr>
          <p:cNvPr id="83" name="Shape 81"/>
          <p:cNvSpPr/>
          <p:nvPr/>
        </p:nvSpPr>
        <p:spPr>
          <a:xfrm>
            <a:off x="12572972" y="8787821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4" name="Shape 82"/>
          <p:cNvSpPr/>
          <p:nvPr/>
        </p:nvSpPr>
        <p:spPr>
          <a:xfrm>
            <a:off x="12572972" y="7690812"/>
            <a:ext cx="4667296" cy="9525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5" name="Shape 83"/>
          <p:cNvSpPr/>
          <p:nvPr/>
        </p:nvSpPr>
        <p:spPr>
          <a:xfrm>
            <a:off x="12572972" y="7690812"/>
            <a:ext cx="9525" cy="1105704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6" name="Text 84"/>
          <p:cNvSpPr/>
          <p:nvPr/>
        </p:nvSpPr>
        <p:spPr>
          <a:xfrm>
            <a:off x="12886467" y="7794757"/>
            <a:ext cx="4189020" cy="935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293"/>
              </a:lnSpc>
              <a:buNone/>
            </a:pPr>
            <a:r>
              <a:rPr lang="en-US" sz="1575" dirty="0">
                <a:solidFill>
                  <a:srgbClr val="E0EAF1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laudo, a condução da venda e três reportes trimestrais consolidados.</a:t>
            </a:r>
            <a:endParaRPr lang="en-US" sz="1575" dirty="0"/>
          </a:p>
        </p:txBody>
      </p:sp>
      <p:sp>
        <p:nvSpPr>
          <p:cNvPr id="87" name="Shape 85"/>
          <p:cNvSpPr/>
          <p:nvPr/>
        </p:nvSpPr>
        <p:spPr>
          <a:xfrm>
            <a:off x="1047691" y="8967904"/>
            <a:ext cx="14029061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8" name="Text 86"/>
          <p:cNvSpPr/>
          <p:nvPr/>
        </p:nvSpPr>
        <p:spPr>
          <a:xfrm>
            <a:off x="1047691" y="9128999"/>
            <a:ext cx="14449933" cy="510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835"/>
              </a:lnSpc>
              <a:buNone/>
            </a:pPr>
            <a:r>
              <a:rPr lang="en-US" sz="1200" dirty="0">
                <a:solidFill>
                  <a:srgbClr val="EAF1F5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Valor Apurado da Operação é tudo o que o comprador paga, entrega ou assume para adquirir o negócio, sem dedução da dívida — não é o valor estimado no laudo. A entrega é o laudo; a planilha de cálculo não faz parte da entrega. Escopos de complexidade acima do padrão são orçados em proposta específica.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2997" y="813399"/>
            <a:ext cx="342845" cy="19021"/>
          </a:xfrm>
          <a:prstGeom prst="rect">
            <a:avLst/>
          </a:prstGeom>
          <a:solidFill>
            <a:srgbClr val="194E7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" name="Text 1"/>
          <p:cNvSpPr/>
          <p:nvPr/>
        </p:nvSpPr>
        <p:spPr>
          <a:xfrm>
            <a:off x="1657231" y="724886"/>
            <a:ext cx="2225519" cy="23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350" b="1" kern="0" spc="216" dirty="0">
                <a:solidFill>
                  <a:srgbClr val="194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PRÓXIMO PASSO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142997" y="1112429"/>
            <a:ext cx="9124334" cy="58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7146"/>
              </a:lnSpc>
              <a:buNone/>
            </a:pPr>
            <a:r>
              <a:rPr lang="en-US" sz="3900" kern="0" spc="-39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</a:t>
            </a:r>
            <a:r>
              <a:rPr lang="en-US" sz="3900" i="1" kern="0" spc="-39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seguimos </a:t>
            </a:r>
            <a:r>
              <a:rPr lang="en-US" sz="3900" kern="0" spc="-39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e como levantamos.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13228093" y="1321926"/>
            <a:ext cx="769838" cy="373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650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/ 09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142997" y="5069105"/>
            <a:ext cx="406910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5"/>
          <p:cNvSpPr/>
          <p:nvPr/>
        </p:nvSpPr>
        <p:spPr>
          <a:xfrm>
            <a:off x="1142997" y="1866728"/>
            <a:ext cx="4069101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Shape 6"/>
          <p:cNvSpPr/>
          <p:nvPr/>
        </p:nvSpPr>
        <p:spPr>
          <a:xfrm>
            <a:off x="1142997" y="1866728"/>
            <a:ext cx="9525" cy="3211071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Shape 7"/>
          <p:cNvSpPr/>
          <p:nvPr/>
        </p:nvSpPr>
        <p:spPr>
          <a:xfrm>
            <a:off x="5203403" y="1866728"/>
            <a:ext cx="9525" cy="3211071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8"/>
          <p:cNvSpPr/>
          <p:nvPr/>
        </p:nvSpPr>
        <p:spPr>
          <a:xfrm>
            <a:off x="1437408" y="2150813"/>
            <a:ext cx="3828308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37408" y="2546916"/>
            <a:ext cx="3828308" cy="36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93"/>
              </a:lnSpc>
              <a:buNone/>
            </a:pPr>
            <a:r>
              <a:rPr lang="en-US" sz="21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Aceite da proposta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437408" y="3002117"/>
            <a:ext cx="3584688" cy="1838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Basta responder confirmando. Enviamos o contrato com o que está nesta proposta, assinado eletronicamente por você e pelos sócios — sem reunião presencial e sem burocracia de cartório.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5497814" y="5069105"/>
            <a:ext cx="406910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Shape 12"/>
          <p:cNvSpPr/>
          <p:nvPr/>
        </p:nvSpPr>
        <p:spPr>
          <a:xfrm>
            <a:off x="5497814" y="1866728"/>
            <a:ext cx="4069101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3"/>
          <p:cNvSpPr/>
          <p:nvPr/>
        </p:nvSpPr>
        <p:spPr>
          <a:xfrm>
            <a:off x="5497814" y="1866728"/>
            <a:ext cx="9525" cy="3211071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Shape 14"/>
          <p:cNvSpPr/>
          <p:nvPr/>
        </p:nvSpPr>
        <p:spPr>
          <a:xfrm>
            <a:off x="9558219" y="1866728"/>
            <a:ext cx="9525" cy="3211071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7" name="Text 15"/>
          <p:cNvSpPr/>
          <p:nvPr/>
        </p:nvSpPr>
        <p:spPr>
          <a:xfrm>
            <a:off x="5792224" y="2150813"/>
            <a:ext cx="3828308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92224" y="2546916"/>
            <a:ext cx="3828308" cy="36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93"/>
              </a:lnSpc>
              <a:buNone/>
            </a:pPr>
            <a:r>
              <a:rPr lang="en-US" sz="21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Início dos trabalhos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5792224" y="3002117"/>
            <a:ext cx="3584688" cy="1538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prazo passa a correr da primeira parcela do honorário fixo — metade na contratação, metade no aceite do laudo. É o marco que reserva a agenda dos sócios para o seu caso.</a:t>
            </a:r>
            <a:endParaRPr lang="en-US" sz="1575" dirty="0"/>
          </a:p>
        </p:txBody>
      </p:sp>
      <p:sp>
        <p:nvSpPr>
          <p:cNvPr id="20" name="Shape 18"/>
          <p:cNvSpPr/>
          <p:nvPr/>
        </p:nvSpPr>
        <p:spPr>
          <a:xfrm>
            <a:off x="9852630" y="5069105"/>
            <a:ext cx="4069101" cy="9525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1" name="Shape 19"/>
          <p:cNvSpPr/>
          <p:nvPr/>
        </p:nvSpPr>
        <p:spPr>
          <a:xfrm>
            <a:off x="9852630" y="1866728"/>
            <a:ext cx="4069101" cy="17390"/>
          </a:xfrm>
          <a:prstGeom prst="rect">
            <a:avLst/>
          </a:prstGeom>
          <a:solidFill>
            <a:srgbClr val="B0863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2" name="Shape 20"/>
          <p:cNvSpPr/>
          <p:nvPr/>
        </p:nvSpPr>
        <p:spPr>
          <a:xfrm>
            <a:off x="9852630" y="1866728"/>
            <a:ext cx="9525" cy="3211071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Shape 21"/>
          <p:cNvSpPr/>
          <p:nvPr/>
        </p:nvSpPr>
        <p:spPr>
          <a:xfrm>
            <a:off x="13913036" y="1866728"/>
            <a:ext cx="9525" cy="3211071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4" name="Text 22"/>
          <p:cNvSpPr/>
          <p:nvPr/>
        </p:nvSpPr>
        <p:spPr>
          <a:xfrm>
            <a:off x="10147040" y="2150813"/>
            <a:ext cx="3828308" cy="28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217"/>
              </a:lnSpc>
              <a:buNone/>
            </a:pPr>
            <a:r>
              <a:rPr lang="en-US" sz="1200" b="1" kern="0" spc="16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47040" y="2546916"/>
            <a:ext cx="3828308" cy="3695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93"/>
              </a:lnSpc>
              <a:buNone/>
            </a:pPr>
            <a:r>
              <a:rPr lang="en-US" sz="21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Envio das informações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10147040" y="3002117"/>
            <a:ext cx="3584688" cy="1538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largada você recebe o questionário diagnóstico, que orienta o que precisamos ver. A partir das suas respostas montamos a relação de documentos do seu caso.</a:t>
            </a:r>
            <a:endParaRPr lang="en-US" sz="1575" dirty="0"/>
          </a:p>
        </p:txBody>
      </p:sp>
      <p:sp>
        <p:nvSpPr>
          <p:cNvPr id="27" name="Shape 25"/>
          <p:cNvSpPr/>
          <p:nvPr/>
        </p:nvSpPr>
        <p:spPr>
          <a:xfrm>
            <a:off x="1142997" y="5325406"/>
            <a:ext cx="12778733" cy="9525"/>
          </a:xfrm>
          <a:prstGeom prst="rect">
            <a:avLst/>
          </a:prstGeom>
          <a:solidFill>
            <a:srgbClr val="1A2733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8" name="Shape 26"/>
          <p:cNvSpPr/>
          <p:nvPr/>
        </p:nvSpPr>
        <p:spPr>
          <a:xfrm>
            <a:off x="5393880" y="5708874"/>
            <a:ext cx="9525" cy="2233417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Text 27"/>
          <p:cNvSpPr/>
          <p:nvPr/>
        </p:nvSpPr>
        <p:spPr>
          <a:xfrm>
            <a:off x="1142997" y="5918371"/>
            <a:ext cx="434076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QUESTIONÁRIO DIAGNÓSTICO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142997" y="6232549"/>
            <a:ext cx="4064531" cy="123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Peça única, respondida a quatro mãos. Percorre resultado, patrimônio, operação e dependências do negócio — e é dele que sai a relação de documentos.</a:t>
            </a:r>
            <a:endParaRPr lang="en-US" sz="1575" dirty="0"/>
          </a:p>
        </p:txBody>
      </p:sp>
      <p:sp>
        <p:nvSpPr>
          <p:cNvPr id="31" name="Shape 29"/>
          <p:cNvSpPr/>
          <p:nvPr/>
        </p:nvSpPr>
        <p:spPr>
          <a:xfrm>
            <a:off x="9653458" y="5708874"/>
            <a:ext cx="9525" cy="2233417"/>
          </a:xfrm>
          <a:prstGeom prst="rect">
            <a:avLst/>
          </a:prstGeom>
          <a:solidFill>
            <a:srgbClr val="1A2733">
              <a:alpha val="1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2" name="Text 30"/>
          <p:cNvSpPr/>
          <p:nvPr/>
        </p:nvSpPr>
        <p:spPr>
          <a:xfrm>
            <a:off x="5707311" y="5918371"/>
            <a:ext cx="4005552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DOCUMENTOS, A TÍTULO DE EXEMPLO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5707311" y="6232549"/>
            <a:ext cx="3750653" cy="1238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Balanços, DRE e balancete do ano corrente; contrato social e os contratos que sustentam a receita; relação de bens e dívidas.</a:t>
            </a:r>
            <a:endParaRPr lang="en-US" sz="1575" dirty="0"/>
          </a:p>
        </p:txBody>
      </p:sp>
      <p:sp>
        <p:nvSpPr>
          <p:cNvPr id="34" name="Text 32"/>
          <p:cNvSpPr/>
          <p:nvPr/>
        </p:nvSpPr>
        <p:spPr>
          <a:xfrm>
            <a:off x="9966888" y="5918371"/>
            <a:ext cx="4350326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DISSO É LISTA FECHADA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9966888" y="6232549"/>
            <a:ext cx="4073487" cy="1538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717"/>
              </a:lnSpc>
              <a:buNone/>
            </a:pPr>
            <a:r>
              <a:rPr lang="en-US" sz="157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São exemplos, não um rol taxativo. O escopo real sai do diagnóstico — e se o ativo exigir laudo de engenheiro, licença ou certificação, isso vem de quem tem habilitação para assinar.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1142997" y="8488451"/>
            <a:ext cx="12778733" cy="9525"/>
          </a:xfrm>
          <a:prstGeom prst="rect">
            <a:avLst/>
          </a:prstGeom>
          <a:solidFill>
            <a:srgbClr val="1A2733">
              <a:alpha val="22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7" name="Text 35"/>
          <p:cNvSpPr/>
          <p:nvPr/>
        </p:nvSpPr>
        <p:spPr>
          <a:xfrm>
            <a:off x="1142997" y="8668534"/>
            <a:ext cx="9424424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B086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ASSINA ESTA PROPOSTA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1142997" y="8982713"/>
            <a:ext cx="9424424" cy="346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08"/>
              </a:lnSpc>
              <a:buNone/>
            </a:pPr>
            <a:r>
              <a:rPr lang="en-US" sz="1800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Tonello &amp; Siqueira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42997" y="9338872"/>
            <a:ext cx="9424424" cy="300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423"/>
              </a:lnSpc>
              <a:buNone/>
            </a:pPr>
            <a:r>
              <a:rPr lang="en-US" sz="142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Florianópolis/SC · 14 de agosto de 2026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9792437" y="8839380"/>
            <a:ext cx="4129294" cy="4190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1348"/>
              </a:lnSpc>
              <a:buNone/>
            </a:pPr>
            <a:r>
              <a:rPr lang="en-US" sz="18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 fala com quem </a:t>
            </a:r>
            <a:r>
              <a:rPr lang="en-US" sz="1875" i="1" dirty="0">
                <a:solidFill>
                  <a:srgbClr val="B086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assina </a:t>
            </a:r>
            <a:r>
              <a:rPr lang="en-US" sz="1875" dirty="0">
                <a:solidFill>
                  <a:srgbClr val="1A2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laudo.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9792437" y="9296483"/>
            <a:ext cx="4129294" cy="3428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0217"/>
              </a:lnSpc>
              <a:buNone/>
            </a:pPr>
            <a:r>
              <a:rPr lang="en-US" sz="1500" kern="0" spc="45" dirty="0">
                <a:solidFill>
                  <a:srgbClr val="5865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tonelloesiqueira.com.br</a:t>
            </a:r>
            <a:endParaRPr lang="en-US" sz="1500" dirty="0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rcRect l="28459" r="18973"/>
          <a:stretch/>
        </p:blipFill>
        <p:spPr>
          <a:xfrm>
            <a:off x="14683706" y="0"/>
            <a:ext cx="3604253" cy="10286977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4683706" y="0"/>
            <a:ext cx="3604253" cy="10286977"/>
          </a:xfrm>
          <a:prstGeom prst="rect">
            <a:avLst/>
          </a:prstGeom>
          <a:gradFill rotWithShape="1">
            <a:gsLst>
              <a:gs pos="40000">
                <a:srgbClr val="0E2438">
                  <a:alpha val="12000"/>
                </a:srgbClr>
              </a:gs>
              <a:gs pos="100000">
                <a:srgbClr val="0E2438">
                  <a:alpha val="68000"/>
                </a:srgbClr>
              </a:gs>
            </a:gsLst>
            <a:lin ang="6000000" scaled="0"/>
          </a:gradFill>
          <a:ln/>
        </p:spPr>
        <p:txBody>
          <a:bodyPr/>
          <a:lstStyle/>
          <a:p>
            <a:endParaRPr lang="en-BR"/>
          </a:p>
        </p:txBody>
      </p:sp>
      <p:sp>
        <p:nvSpPr>
          <p:cNvPr id="44" name="Text 41"/>
          <p:cNvSpPr/>
          <p:nvPr/>
        </p:nvSpPr>
        <p:spPr>
          <a:xfrm>
            <a:off x="15293246" y="7616496"/>
            <a:ext cx="2623691" cy="2666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72"/>
              </a:lnSpc>
              <a:buNone/>
            </a:pPr>
            <a:r>
              <a:rPr lang="en-US" sz="1125" b="1" kern="0" spc="158" dirty="0">
                <a:solidFill>
                  <a:srgbClr val="D4AF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EQUIPE JÚNIOR</a:t>
            </a:r>
            <a:endParaRPr lang="en-US" sz="1125" dirty="0"/>
          </a:p>
        </p:txBody>
      </p:sp>
      <p:sp>
        <p:nvSpPr>
          <p:cNvPr id="45" name="Text 42"/>
          <p:cNvSpPr/>
          <p:nvPr/>
        </p:nvSpPr>
        <p:spPr>
          <a:xfrm>
            <a:off x="15293246" y="7978361"/>
            <a:ext cx="2461373" cy="1584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4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premissa é discutida entre os dois sócios antes de entrar no laudo.</a:t>
            </a:r>
            <a:endParaRPr lang="en-US" sz="21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2599</Words>
  <Application>Microsoft Macintosh PowerPoint</Application>
  <PresentationFormat>Custom</PresentationFormat>
  <Paragraphs>251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Tonello &amp; Siqueira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Proposta</dc:title>
  <dc:subject>Deck</dc:subject>
  <dc:creator>Alexandre Fillard Tonello</dc:creator>
  <cp:keywords/>
  <dc:description/>
  <cp:lastModifiedBy>Alexandre Fillard Tonello</cp:lastModifiedBy>
  <cp:revision>6</cp:revision>
  <dcterms:created xsi:type="dcterms:W3CDTF">2026-08-26T23:03:26Z</dcterms:created>
  <dcterms:modified xsi:type="dcterms:W3CDTF">2026-10-05T18:06:17Z</dcterms:modified>
  <cp:category/>
</cp:coreProperties>
</file>