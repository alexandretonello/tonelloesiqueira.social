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0718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Duas perguntas movem quem nos procura: quanto vale e como sustento esse número. Diga que a conversa de hoje é sobre isso — e que nada avança sem 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serviços. O laudo é a base de tudo; a intermediação é para quem decidiu vender; a perícia atende o cliente que já está em disputa.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distinção que justifica o preço. Plataforma automatiza e expõe; boutique assina e reserva. Pergunte ao cliente qual dos dois ele quer para a empresa que construiu.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etapas, com escopo e prazo por escrito antes de começar. NDA na etapa 01 — é o que tranquiliza quem tem medo de abrir os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modelagem. Toda avaliação atravessa a mesma sequência: escopo, base e premissa de valor, as três abordagens testadas, reconciliação. Testamos as três em todo mandato e declaramos por escrito as descartadas. Terminologia conforme IVS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intermediação. Quatro etapas e duas formas de contratar. O ponto: prazo, cadência de reporte e exclusividade são o que separa as duas opções — e o trade-off é entre desembolso inicial e taxa de êxito.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faz o trabalho. Reforce: não há equipe júnior tocando o caso — o cliente fala com quem assina.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com preço na mesa. Coluna 1: só o laudo. Coluna 2 e 3: a mesma avaliação somada à condução da venda — mais fixo e menos taxa, ou menos fixo e mais taxa. O cliente escolhe onde quer o risco.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0E2438">
                  <a:alpha val="100000"/>
                </a:srgbClr>
              </a:gs>
              <a:gs pos="45000">
                <a:srgbClr val="173A59">
                  <a:alpha val="100000"/>
                </a:srgbClr>
              </a:gs>
              <a:gs pos="72000">
                <a:srgbClr val="245078">
                  <a:alpha val="100000"/>
                </a:srgbClr>
              </a:gs>
              <a:gs pos="100000">
                <a:srgbClr val="356C92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D4AF6A">
                  <a:alpha val="16000"/>
                </a:srgbClr>
              </a:gs>
              <a:gs pos="55000">
                <a:srgbClr val="D4AF6A">
                  <a:alpha val="0"/>
                </a:srgbClr>
              </a:gs>
            </a:gsLst>
            <a:path path="circle">
              <a:fillToRect l="88000" r="12000" b="100000"/>
            </a:path>
          </a:gradFill>
          <a:ln/>
        </p:spPr>
        <p:txBody>
          <a:bodyPr/>
          <a:lstStyle/>
          <a:p>
            <a:endParaRPr lang="en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3000"/>
          </a:blip>
          <a:stretch>
            <a:fillRect/>
          </a:stretch>
        </p:blipFill>
        <p:spPr>
          <a:xfrm>
            <a:off x="8125295" y="-476260"/>
            <a:ext cx="11877160" cy="112394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478" y="0"/>
            <a:ext cx="9525" cy="10286977"/>
          </a:xfrm>
          <a:prstGeom prst="rect">
            <a:avLst/>
          </a:prstGeom>
          <a:gradFill rotWithShape="1">
            <a:gsLst>
              <a:gs pos="0">
                <a:srgbClr val="D4AF6A">
                  <a:alpha val="0"/>
                </a:srgbClr>
              </a:gs>
              <a:gs pos="30000">
                <a:srgbClr val="D4AF6A">
                  <a:alpha val="35000"/>
                </a:srgbClr>
              </a:gs>
              <a:gs pos="70000">
                <a:srgbClr val="D4AF6A">
                  <a:alpha val="35000"/>
                </a:srgbClr>
              </a:gs>
              <a:gs pos="100000">
                <a:srgbClr val="D4AF6A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97" y="914344"/>
            <a:ext cx="4155033" cy="49528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2997" y="4016930"/>
            <a:ext cx="400042" cy="19021"/>
          </a:xfrm>
          <a:prstGeom prst="rect">
            <a:avLst/>
          </a:prstGeom>
          <a:solidFill>
            <a:srgbClr val="D4AF6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4"/>
          <p:cNvSpPr/>
          <p:nvPr/>
        </p:nvSpPr>
        <p:spPr>
          <a:xfrm>
            <a:off x="1714428" y="3920809"/>
            <a:ext cx="4227207" cy="246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8756"/>
              </a:lnSpc>
              <a:buNone/>
            </a:pPr>
            <a:r>
              <a:rPr lang="en-US" sz="1425" b="1" kern="0" spc="22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E VENDA DE EMPRESAS</a:t>
            </a:r>
            <a:endParaRPr lang="en-US" sz="1425" dirty="0"/>
          </a:p>
        </p:txBody>
      </p:sp>
      <p:sp>
        <p:nvSpPr>
          <p:cNvPr id="9" name="Text 5"/>
          <p:cNvSpPr/>
          <p:nvPr/>
        </p:nvSpPr>
        <p:spPr>
          <a:xfrm>
            <a:off x="1142997" y="4590263"/>
            <a:ext cx="11898397" cy="2058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733"/>
              </a:lnSpc>
              <a:buNone/>
            </a:pPr>
            <a:r>
              <a:rPr lang="en-US" sz="7800" kern="0" spc="-117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Quanto vale a sua empresa, </a:t>
            </a:r>
            <a:r>
              <a:rPr lang="en-US" sz="7800" i="1" kern="0" spc="-117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verdade.</a:t>
            </a:r>
            <a:endParaRPr lang="en-US" sz="7800" dirty="0"/>
          </a:p>
        </p:txBody>
      </p:sp>
      <p:sp>
        <p:nvSpPr>
          <p:cNvPr id="10" name="Text 6"/>
          <p:cNvSpPr/>
          <p:nvPr/>
        </p:nvSpPr>
        <p:spPr>
          <a:xfrm>
            <a:off x="1142997" y="9083114"/>
            <a:ext cx="2530660" cy="327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756"/>
              </a:lnSpc>
              <a:buNone/>
            </a:pPr>
            <a:r>
              <a:rPr lang="en-US" sz="1425" kern="0" spc="57" dirty="0">
                <a:solidFill>
                  <a:srgbClr val="EAF1F5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institucional</a:t>
            </a:r>
            <a:endParaRPr lang="en-US" sz="1425" dirty="0"/>
          </a:p>
        </p:txBody>
      </p:sp>
      <p:sp>
        <p:nvSpPr>
          <p:cNvPr id="11" name="Text 7"/>
          <p:cNvSpPr/>
          <p:nvPr/>
        </p:nvSpPr>
        <p:spPr>
          <a:xfrm>
            <a:off x="15775892" y="9083114"/>
            <a:ext cx="1505977" cy="327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756"/>
              </a:lnSpc>
              <a:buNone/>
            </a:pPr>
            <a:r>
              <a:rPr lang="en-US" sz="1425" kern="0" spc="57" dirty="0">
                <a:solidFill>
                  <a:srgbClr val="EAF1F5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de 2026</a:t>
            </a:r>
            <a:endParaRPr lang="en-US" sz="14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965835"/>
            <a:ext cx="342845" cy="19021"/>
          </a:xfrm>
          <a:prstGeom prst="rect">
            <a:avLst/>
          </a:prstGeom>
          <a:solidFill>
            <a:srgbClr val="194E7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57231" y="877322"/>
            <a:ext cx="1178575" cy="233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350" b="1" kern="0" spc="216" dirty="0">
                <a:solidFill>
                  <a:srgbClr val="194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2997" y="1341083"/>
            <a:ext cx="4312441" cy="687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399"/>
              </a:lnSpc>
              <a:buNone/>
            </a:pPr>
            <a:r>
              <a:rPr lang="en-US" sz="4650" kern="0" spc="-46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</a:t>
            </a:r>
            <a:r>
              <a:rPr lang="en-US" sz="4650" i="1" kern="0" spc="-46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fazemos.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6446501" y="1655329"/>
            <a:ext cx="774661" cy="373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65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08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2997" y="2447805"/>
            <a:ext cx="16185427" cy="76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80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serviços que se encaixam. O laudo é a base — sem ele não há preço defensável. A partir dele, você decide se quer conduzir a venda com a gente ou levar o número para uma discussão que já está em curso.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2997" y="9440088"/>
            <a:ext cx="5079974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1142997" y="3522125"/>
            <a:ext cx="5079974" cy="17390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Shape 7"/>
          <p:cNvSpPr/>
          <p:nvPr/>
        </p:nvSpPr>
        <p:spPr>
          <a:xfrm>
            <a:off x="1142997" y="3522125"/>
            <a:ext cx="9525" cy="5926659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Shape 8"/>
          <p:cNvSpPr/>
          <p:nvPr/>
        </p:nvSpPr>
        <p:spPr>
          <a:xfrm>
            <a:off x="6214276" y="3522125"/>
            <a:ext cx="9525" cy="5926659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/>
          <p:nvPr/>
        </p:nvSpPr>
        <p:spPr>
          <a:xfrm>
            <a:off x="1532646" y="3882360"/>
            <a:ext cx="4730743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32646" y="4316571"/>
            <a:ext cx="4730743" cy="44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44"/>
              </a:lnSpc>
              <a:buNone/>
            </a:pPr>
            <a:r>
              <a:rPr lang="en-US" sz="27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Laudo de avaliação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532646" y="4899414"/>
            <a:ext cx="4429696" cy="598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870"/>
              </a:lnSpc>
              <a:buNone/>
            </a:pPr>
            <a:r>
              <a:rPr lang="en-US" sz="1575" i="1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“Quanto vale, de verdade, e como sustento esse número?”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1532646" y="5592916"/>
            <a:ext cx="4429696" cy="160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141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Faixa de valor em três cenários, premissas declaradas e memória de cálculo replicável. O documento que sustenta o seu número diante de comprador, sócio e juízo.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1532646" y="7162041"/>
            <a:ext cx="4300676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/>
          <p:nvPr/>
        </p:nvSpPr>
        <p:spPr>
          <a:xfrm>
            <a:off x="1532646" y="7399322"/>
            <a:ext cx="247588" cy="618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856403" y="7399322"/>
            <a:ext cx="4096227" cy="618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Laudo assinado, com premissas e memória de cálculo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1532646" y="8093707"/>
            <a:ext cx="247588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1856403" y="8093707"/>
            <a:ext cx="4003310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Reunião de </a:t>
            </a:r>
            <a:r>
              <a:rPr lang="en-US" sz="1575" dirty="0" err="1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apresenta</a:t>
            </a: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 </a:t>
            </a:r>
            <a:r>
              <a:rPr lang="en-US" sz="1575" dirty="0" err="1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</a:t>
            </a: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1532646" y="8498029"/>
            <a:ext cx="247588" cy="618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1856403" y="8498029"/>
            <a:ext cx="4096227" cy="618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 para vender, negociar com sócio ou instruir processo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6603925" y="9440088"/>
            <a:ext cx="5080042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3" name="Shape 21"/>
          <p:cNvSpPr/>
          <p:nvPr/>
        </p:nvSpPr>
        <p:spPr>
          <a:xfrm>
            <a:off x="6603925" y="3522125"/>
            <a:ext cx="5080042" cy="17390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4" name="Shape 22"/>
          <p:cNvSpPr/>
          <p:nvPr/>
        </p:nvSpPr>
        <p:spPr>
          <a:xfrm>
            <a:off x="6603925" y="3522125"/>
            <a:ext cx="9525" cy="5926659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Shape 23"/>
          <p:cNvSpPr/>
          <p:nvPr/>
        </p:nvSpPr>
        <p:spPr>
          <a:xfrm>
            <a:off x="11675271" y="3522125"/>
            <a:ext cx="9525" cy="5926659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/>
          <p:nvPr/>
        </p:nvSpPr>
        <p:spPr>
          <a:xfrm>
            <a:off x="6993574" y="3882360"/>
            <a:ext cx="4730818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93574" y="4316571"/>
            <a:ext cx="4730818" cy="44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44"/>
              </a:lnSpc>
              <a:buNone/>
            </a:pPr>
            <a:r>
              <a:rPr lang="en-US" sz="27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Venda da empresa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6993574" y="4899414"/>
            <a:ext cx="4429766" cy="598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870"/>
              </a:lnSpc>
              <a:buNone/>
            </a:pPr>
            <a:r>
              <a:rPr lang="en-US" sz="1575" i="1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“Decidi vender — como faço sem expor o negócio?”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6993574" y="5592916"/>
            <a:ext cx="4429766" cy="160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141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Conduzimos a venda de ponta a ponta e sob sigilo: preço ancorado no laudo, materiais, abordagem reservada a compradores qualificados e apoio à negociação. Sua empresa não vai para vitrine pública.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6993574" y="7162041"/>
            <a:ext cx="4300744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1" name="Text 29"/>
          <p:cNvSpPr/>
          <p:nvPr/>
        </p:nvSpPr>
        <p:spPr>
          <a:xfrm>
            <a:off x="6993574" y="7399322"/>
            <a:ext cx="247588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7317330" y="7399322"/>
            <a:ext cx="4314757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Preparação da empresa e materiais de venda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6993574" y="7803644"/>
            <a:ext cx="247588" cy="618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7317330" y="7803644"/>
            <a:ext cx="4096297" cy="618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Abordagem sigilosa; seu nome só aparece após NDA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6993574" y="8498029"/>
            <a:ext cx="247588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7317330" y="8498029"/>
            <a:ext cx="3864100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Presença na negociação até a assinatura</a:t>
            </a:r>
            <a:endParaRPr lang="en-US" sz="1575" dirty="0"/>
          </a:p>
        </p:txBody>
      </p:sp>
      <p:sp>
        <p:nvSpPr>
          <p:cNvPr id="37" name="Shape 35"/>
          <p:cNvSpPr/>
          <p:nvPr/>
        </p:nvSpPr>
        <p:spPr>
          <a:xfrm>
            <a:off x="12064921" y="9440088"/>
            <a:ext cx="5079974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8" name="Shape 36"/>
          <p:cNvSpPr/>
          <p:nvPr/>
        </p:nvSpPr>
        <p:spPr>
          <a:xfrm>
            <a:off x="12064921" y="3522125"/>
            <a:ext cx="5079974" cy="17390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9" name="Shape 37"/>
          <p:cNvSpPr/>
          <p:nvPr/>
        </p:nvSpPr>
        <p:spPr>
          <a:xfrm>
            <a:off x="12064921" y="3522125"/>
            <a:ext cx="9525" cy="5926659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0" name="Shape 38"/>
          <p:cNvSpPr/>
          <p:nvPr/>
        </p:nvSpPr>
        <p:spPr>
          <a:xfrm>
            <a:off x="17136199" y="3522125"/>
            <a:ext cx="9525" cy="5926659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1" name="Text 39"/>
          <p:cNvSpPr/>
          <p:nvPr/>
        </p:nvSpPr>
        <p:spPr>
          <a:xfrm>
            <a:off x="12454569" y="3882360"/>
            <a:ext cx="4730743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2454569" y="4316571"/>
            <a:ext cx="4730743" cy="44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44"/>
              </a:lnSpc>
              <a:buNone/>
            </a:pPr>
            <a:r>
              <a:rPr lang="en-US" sz="27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Perícia judicial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12454569" y="4899414"/>
            <a:ext cx="4429696" cy="598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870"/>
              </a:lnSpc>
              <a:buNone/>
            </a:pPr>
            <a:r>
              <a:rPr lang="en-US" sz="1575" i="1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disputa já está em curso e há um número na mesa.”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12454569" y="5592916"/>
            <a:ext cx="4429696" cy="160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141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Perito ou assistente técnico em apuração de haveres, dissolução e disputas entre sócios. Laudo pericial na forma do CPC, com o mesmo rigor do trabalho extrajudicial.</a:t>
            </a:r>
            <a:endParaRPr lang="en-US" sz="1575" dirty="0"/>
          </a:p>
        </p:txBody>
      </p:sp>
      <p:sp>
        <p:nvSpPr>
          <p:cNvPr id="45" name="Shape 43"/>
          <p:cNvSpPr/>
          <p:nvPr/>
        </p:nvSpPr>
        <p:spPr>
          <a:xfrm>
            <a:off x="12454569" y="7162041"/>
            <a:ext cx="4300676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6" name="Text 44"/>
          <p:cNvSpPr/>
          <p:nvPr/>
        </p:nvSpPr>
        <p:spPr>
          <a:xfrm>
            <a:off x="12454569" y="7399322"/>
            <a:ext cx="247588" cy="618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75" dirty="0"/>
          </a:p>
        </p:txBody>
      </p:sp>
      <p:sp>
        <p:nvSpPr>
          <p:cNvPr id="47" name="Text 45"/>
          <p:cNvSpPr/>
          <p:nvPr/>
        </p:nvSpPr>
        <p:spPr>
          <a:xfrm>
            <a:off x="12778326" y="7399322"/>
            <a:ext cx="4096227" cy="618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 a quesitos e manifestações no prazo do processo</a:t>
            </a:r>
            <a:endParaRPr lang="en-US" sz="1575" dirty="0"/>
          </a:p>
        </p:txBody>
      </p:sp>
      <p:sp>
        <p:nvSpPr>
          <p:cNvPr id="48" name="Text 46"/>
          <p:cNvSpPr/>
          <p:nvPr/>
        </p:nvSpPr>
        <p:spPr>
          <a:xfrm>
            <a:off x="12454569" y="8093707"/>
            <a:ext cx="247588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75" dirty="0"/>
          </a:p>
        </p:txBody>
      </p:sp>
      <p:sp>
        <p:nvSpPr>
          <p:cNvPr id="49" name="Text 47"/>
          <p:cNvSpPr/>
          <p:nvPr/>
        </p:nvSpPr>
        <p:spPr>
          <a:xfrm>
            <a:off x="12778326" y="8093707"/>
            <a:ext cx="3695524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Crítica técnica ao laudo da outra parte</a:t>
            </a:r>
            <a:endParaRPr lang="en-US" sz="1575" dirty="0"/>
          </a:p>
        </p:txBody>
      </p:sp>
      <p:sp>
        <p:nvSpPr>
          <p:cNvPr id="50" name="Text 48"/>
          <p:cNvSpPr/>
          <p:nvPr/>
        </p:nvSpPr>
        <p:spPr>
          <a:xfrm>
            <a:off x="12454569" y="8498029"/>
            <a:ext cx="247588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75" dirty="0"/>
          </a:p>
        </p:txBody>
      </p:sp>
      <p:sp>
        <p:nvSpPr>
          <p:cNvPr id="51" name="Text 49"/>
          <p:cNvSpPr/>
          <p:nvPr/>
        </p:nvSpPr>
        <p:spPr>
          <a:xfrm>
            <a:off x="12778326" y="8498029"/>
            <a:ext cx="3801332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Trabalho conjunto com o seu advogado</a:t>
            </a:r>
            <a:endParaRPr lang="en-US" sz="15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889617"/>
            <a:ext cx="342845" cy="19021"/>
          </a:xfrm>
          <a:prstGeom prst="rect">
            <a:avLst/>
          </a:prstGeom>
          <a:solidFill>
            <a:srgbClr val="194E7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57231" y="801104"/>
            <a:ext cx="891705" cy="233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350" b="1" kern="0" spc="216" dirty="0">
                <a:solidFill>
                  <a:srgbClr val="194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CASA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2997" y="1264865"/>
            <a:ext cx="9372341" cy="6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93"/>
              </a:lnSpc>
              <a:buNone/>
            </a:pPr>
            <a:r>
              <a:rPr lang="en-US" sz="4200" kern="0" spc="-42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boutique, não uma </a:t>
            </a:r>
            <a:r>
              <a:rPr lang="en-US" sz="4200" i="1" kern="0" spc="-42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plataforma.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447995" y="1516275"/>
            <a:ext cx="773166" cy="373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65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/ 08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2997" y="2118275"/>
            <a:ext cx="16482023" cy="74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835"/>
              </a:lnSpc>
              <a:buNone/>
            </a:pPr>
            <a:r>
              <a:rPr lang="en-US" sz="180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Há quem venda uma noção rápida e barata do valor. Você está diante de uma decisão de peso e precisa de um trabalho que se sustente diante de terceiros. Escolhemos atender o segundo caso.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2997" y="3036286"/>
            <a:ext cx="16001964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9135284" y="3044982"/>
            <a:ext cx="9525" cy="581851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/>
          <p:nvPr/>
        </p:nvSpPr>
        <p:spPr>
          <a:xfrm>
            <a:off x="1142997" y="3292588"/>
            <a:ext cx="8372466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58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PLATAFORMA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2997" y="4176567"/>
            <a:ext cx="8372466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Avaliação gerada por ferramenta, quase sem gente no meio.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142997" y="4916465"/>
            <a:ext cx="8372466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Empresa anunciada em vitrine pública.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142997" y="5656295"/>
            <a:ext cx="8372466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Contratação em autosserviço, sem falar com especialista.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142997" y="6396193"/>
            <a:ext cx="8372466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baixo, muito cliente. Compete por preço.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1142997" y="7136092"/>
            <a:ext cx="8372466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Número entregue sem premissas: não resiste a uma pergunta do comprador.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1142997" y="7875990"/>
            <a:ext cx="8372466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a venda não sai, ninguém responde pelo processo.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9143980" y="3035471"/>
            <a:ext cx="8000982" cy="17390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7" name="Text 15"/>
          <p:cNvSpPr/>
          <p:nvPr/>
        </p:nvSpPr>
        <p:spPr>
          <a:xfrm>
            <a:off x="9524933" y="3300468"/>
            <a:ext cx="8382031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BOUTIQUE — O NOSSO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24933" y="4183360"/>
            <a:ext cx="8382031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Trabalho conduzido pelos próprios sócios, com assinatura e responsabilidade técnica.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9524933" y="4922103"/>
            <a:ext cx="8382031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Venda por abordagem reservada a compradores qualificados, sem anúncio.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9524933" y="5660846"/>
            <a:ext cx="8382031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 fala com quem calcula, do primeiro contato ao fechamento.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9524933" y="6399590"/>
            <a:ext cx="8382031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Poucos clientes. Compete por profundidade, discrição e confiança.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9524933" y="7138401"/>
            <a:ext cx="8382031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premissa tem justificativa própria e fonte declarada.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9524933" y="7877145"/>
            <a:ext cx="8382031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 err="1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</a:t>
            </a: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75" dirty="0" err="1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sócios</a:t>
            </a: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responde </a:t>
            </a:r>
            <a:r>
              <a:rPr lang="en-US" sz="1575" dirty="0" err="1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pelo</a:t>
            </a: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75" dirty="0" err="1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</a:t>
            </a: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 começo ao fim, com nome no documento.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1142997" y="9034883"/>
            <a:ext cx="16001964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Text 23"/>
          <p:cNvSpPr/>
          <p:nvPr/>
        </p:nvSpPr>
        <p:spPr>
          <a:xfrm>
            <a:off x="1142997" y="9215029"/>
            <a:ext cx="16482023" cy="34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141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pergunta que separa os dois modelos é simples: quando o comprador questionar o seu número, quem vai sustentá-lo na mesa?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889617"/>
            <a:ext cx="342845" cy="19021"/>
          </a:xfrm>
          <a:prstGeom prst="rect">
            <a:avLst/>
          </a:prstGeom>
          <a:solidFill>
            <a:srgbClr val="194E7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57231" y="801104"/>
            <a:ext cx="990136" cy="233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350" b="1" kern="0" spc="216" dirty="0">
                <a:solidFill>
                  <a:srgbClr val="194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2997" y="1264865"/>
            <a:ext cx="4852991" cy="6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93"/>
              </a:lnSpc>
              <a:buNone/>
            </a:pPr>
            <a:r>
              <a:rPr lang="en-US" sz="4200" kern="0" spc="-42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</a:t>
            </a:r>
            <a:r>
              <a:rPr lang="en-US" sz="4200" i="1" kern="0" spc="-42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conduzimos.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2730502" y="1516275"/>
            <a:ext cx="775951" cy="373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65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/ 08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142997" y="2118275"/>
            <a:ext cx="12287256" cy="9525"/>
          </a:xfrm>
          <a:prstGeom prst="rect">
            <a:avLst/>
          </a:prstGeom>
          <a:solidFill>
            <a:srgbClr val="1A2733">
              <a:alpha val="2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1142997" y="5431038"/>
            <a:ext cx="6143628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7277930" y="2126970"/>
            <a:ext cx="9525" cy="331276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/>
          <p:nvPr/>
        </p:nvSpPr>
        <p:spPr>
          <a:xfrm>
            <a:off x="1142997" y="2336467"/>
            <a:ext cx="5965851" cy="437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Contato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2997" y="2888470"/>
            <a:ext cx="5965851" cy="514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687"/>
              </a:lnSpc>
              <a:buNone/>
            </a:pPr>
            <a:r>
              <a:rPr lang="en-US" sz="21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Escopo e sigilo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42997" y="3478650"/>
            <a:ext cx="5965851" cy="794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Primeira conversa, NDA antes de qualquer informação sensível, escopo e prazo por escrito.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142997" y="4387015"/>
            <a:ext cx="5792088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3" name="Text 11"/>
          <p:cNvSpPr/>
          <p:nvPr/>
        </p:nvSpPr>
        <p:spPr>
          <a:xfrm>
            <a:off x="1142997" y="4529058"/>
            <a:ext cx="6371297" cy="236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92"/>
              </a:lnSpc>
              <a:buNone/>
            </a:pPr>
            <a:r>
              <a:rPr lang="en-US" sz="975" b="1" kern="0" spc="137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PARTE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142997" y="4803293"/>
            <a:ext cx="6371297" cy="300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423"/>
              </a:lnSpc>
              <a:buNone/>
            </a:pP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Contar o </a:t>
            </a:r>
            <a:r>
              <a:rPr lang="en-US" sz="1425" dirty="0" err="1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</a:t>
            </a: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ser </a:t>
            </a:r>
            <a:r>
              <a:rPr lang="en-US" sz="1425" dirty="0" err="1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transparente</a:t>
            </a: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o que </a:t>
            </a:r>
            <a:r>
              <a:rPr lang="en-US" sz="1425" dirty="0" err="1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pretende</a:t>
            </a: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fazer com a empresa.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7286626" y="5431038"/>
            <a:ext cx="6143628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/>
          <p:nvPr/>
        </p:nvSpPr>
        <p:spPr>
          <a:xfrm>
            <a:off x="7629470" y="2336467"/>
            <a:ext cx="5974807" cy="437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Diagnóstico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29470" y="2888470"/>
            <a:ext cx="5974807" cy="514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687"/>
              </a:lnSpc>
              <a:buNone/>
            </a:pPr>
            <a:r>
              <a:rPr lang="en-US" sz="21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 do negócio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629470" y="3478650"/>
            <a:ext cx="5974807" cy="794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Demonstrações, contratos, carteira e dependências. É aqui que se define complexidade e data-base.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7629470" y="4387015"/>
            <a:ext cx="5800783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Text 18"/>
          <p:cNvSpPr/>
          <p:nvPr/>
        </p:nvSpPr>
        <p:spPr>
          <a:xfrm>
            <a:off x="7629470" y="4529058"/>
            <a:ext cx="6380861" cy="236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92"/>
              </a:lnSpc>
              <a:buNone/>
            </a:pPr>
            <a:r>
              <a:rPr lang="en-US" sz="975" b="1" kern="0" spc="137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PARTE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7629470" y="4803293"/>
            <a:ext cx="6380861" cy="300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423"/>
              </a:lnSpc>
              <a:buNone/>
            </a:pP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Enviar balanços, DRE e contratos relevantes dos últimos exercícios.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7277930" y="5439733"/>
            <a:ext cx="9525" cy="3094639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3" name="Text 21"/>
          <p:cNvSpPr/>
          <p:nvPr/>
        </p:nvSpPr>
        <p:spPr>
          <a:xfrm>
            <a:off x="1142997" y="5649231"/>
            <a:ext cx="5965851" cy="437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Modelagem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2997" y="6201233"/>
            <a:ext cx="5965851" cy="514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687"/>
              </a:lnSpc>
              <a:buNone/>
            </a:pPr>
            <a:r>
              <a:rPr lang="en-US" sz="21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Construção do valor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42997" y="6791413"/>
            <a:ext cx="5965851" cy="794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três decisões do método aplicadas ao seu caso — com as premissas discutidas com você antes de fechar o número.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42997" y="7699778"/>
            <a:ext cx="5792088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7" name="Text 25"/>
          <p:cNvSpPr/>
          <p:nvPr/>
        </p:nvSpPr>
        <p:spPr>
          <a:xfrm>
            <a:off x="1142997" y="7841821"/>
            <a:ext cx="6371297" cy="236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92"/>
              </a:lnSpc>
              <a:buNone/>
            </a:pPr>
            <a:r>
              <a:rPr lang="en-US" sz="975" b="1" kern="0" spc="137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PARTE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142997" y="8116056"/>
            <a:ext cx="6371297" cy="300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423"/>
              </a:lnSpc>
              <a:buNone/>
            </a:pP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Validar as premissas de crescimento e margem que só você conhece.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7629470" y="5649231"/>
            <a:ext cx="5974807" cy="437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Entrega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29470" y="6201233"/>
            <a:ext cx="5974807" cy="514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687"/>
              </a:lnSpc>
              <a:buNone/>
            </a:pPr>
            <a:r>
              <a:rPr lang="en-US" sz="21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Laudo e sustentação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629470" y="6791413"/>
            <a:ext cx="5974807" cy="794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Documento assinado, reunião de </a:t>
            </a:r>
            <a:r>
              <a:rPr lang="en-US" sz="1575" dirty="0" err="1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apresentação</a:t>
            </a: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disponibilidade para esclarecimentos posteriores.</a:t>
            </a:r>
            <a:endParaRPr lang="en-US" sz="1575" dirty="0"/>
          </a:p>
        </p:txBody>
      </p:sp>
      <p:sp>
        <p:nvSpPr>
          <p:cNvPr id="32" name="Shape 30"/>
          <p:cNvSpPr/>
          <p:nvPr/>
        </p:nvSpPr>
        <p:spPr>
          <a:xfrm>
            <a:off x="7629470" y="7699778"/>
            <a:ext cx="5800783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3" name="Text 31"/>
          <p:cNvSpPr/>
          <p:nvPr/>
        </p:nvSpPr>
        <p:spPr>
          <a:xfrm>
            <a:off x="7629470" y="7841821"/>
            <a:ext cx="6380861" cy="236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92"/>
              </a:lnSpc>
              <a:buNone/>
            </a:pPr>
            <a:r>
              <a:rPr lang="en-US" sz="975" b="1" kern="0" spc="137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PARTE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7629470" y="8116056"/>
            <a:ext cx="6380861" cy="300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423"/>
              </a:lnSpc>
              <a:buNone/>
            </a:pP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Decidir o próximo passo: negociar, vender ou apenas guardar o número.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1142997" y="8724849"/>
            <a:ext cx="12287256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6" name="Text 34"/>
          <p:cNvSpPr/>
          <p:nvPr/>
        </p:nvSpPr>
        <p:spPr>
          <a:xfrm>
            <a:off x="1142997" y="8904994"/>
            <a:ext cx="12655873" cy="658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141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Nada avança sem NDA assinado, e nenhuma informação sua circula fora dos sócios. O escopo e o prazo estão no contrato antes de a primeira planilha ser aberta.</a:t>
            </a:r>
            <a:endParaRPr lang="en-US" sz="1575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rcRect l="23353" r="16911"/>
          <a:stretch/>
        </p:blipFill>
        <p:spPr>
          <a:xfrm>
            <a:off x="14192229" y="0"/>
            <a:ext cx="4095729" cy="10286977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14192229" y="0"/>
            <a:ext cx="4095729" cy="10286977"/>
          </a:xfrm>
          <a:prstGeom prst="rect">
            <a:avLst/>
          </a:prstGeom>
          <a:gradFill rotWithShape="1">
            <a:gsLst>
              <a:gs pos="40000">
                <a:srgbClr val="0E2438">
                  <a:alpha val="18000"/>
                </a:srgbClr>
              </a:gs>
              <a:gs pos="100000">
                <a:srgbClr val="0E2438">
                  <a:alpha val="70000"/>
                </a:srgbClr>
              </a:gs>
            </a:gsLst>
            <a:lin ang="6000000" scaled="0"/>
          </a:gradFill>
          <a:ln/>
        </p:spPr>
        <p:txBody>
          <a:bodyPr/>
          <a:lstStyle/>
          <a:p>
            <a:endParaRPr lang="en-BR"/>
          </a:p>
        </p:txBody>
      </p:sp>
      <p:sp>
        <p:nvSpPr>
          <p:cNvPr id="39" name="Text 36"/>
          <p:cNvSpPr/>
          <p:nvPr/>
        </p:nvSpPr>
        <p:spPr>
          <a:xfrm>
            <a:off x="14725619" y="8484851"/>
            <a:ext cx="3119819" cy="107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607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premissa é discutida entre os dois sócios antes de entrar no laudo.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3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24356" r="24356"/>
          <a:stretch/>
        </p:blipFill>
        <p:spPr>
          <a:xfrm>
            <a:off x="0" y="0"/>
            <a:ext cx="3516419" cy="1028697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516419" cy="10286977"/>
          </a:xfrm>
          <a:prstGeom prst="rect">
            <a:avLst/>
          </a:prstGeom>
          <a:gradFill rotWithShape="1">
            <a:gsLst>
              <a:gs pos="40000">
                <a:srgbClr val="0E2438">
                  <a:alpha val="20000"/>
                </a:srgbClr>
              </a:gs>
              <a:gs pos="100000">
                <a:srgbClr val="0E2438">
                  <a:alpha val="72000"/>
                </a:srgbClr>
              </a:gs>
            </a:gsLst>
            <a:lin ang="6000000" scaled="0"/>
          </a:gradFill>
          <a:ln/>
        </p:spPr>
        <p:txBody>
          <a:bodyPr/>
          <a:lstStyle/>
          <a:p>
            <a:endParaRPr lang="en-BR"/>
          </a:p>
        </p:txBody>
      </p:sp>
      <p:sp>
        <p:nvSpPr>
          <p:cNvPr id="4" name="Text 1"/>
          <p:cNvSpPr/>
          <p:nvPr/>
        </p:nvSpPr>
        <p:spPr>
          <a:xfrm>
            <a:off x="533390" y="6935697"/>
            <a:ext cx="2694603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DA PLANILHA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533390" y="7278474"/>
            <a:ext cx="2525839" cy="75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23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sequência precede a modelagem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33390" y="8074687"/>
            <a:ext cx="2525839" cy="1488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EAF1F5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Nunca o contrário. A metodologia não é escolhida por hábito — é construída decisão a decisão.</a:t>
            </a:r>
            <a:endParaRPr lang="en-US" sz="1575" dirty="0"/>
          </a:p>
        </p:txBody>
      </p:sp>
      <p:sp>
        <p:nvSpPr>
          <p:cNvPr id="7" name="Shape 4"/>
          <p:cNvSpPr/>
          <p:nvPr/>
        </p:nvSpPr>
        <p:spPr>
          <a:xfrm>
            <a:off x="4202176" y="737181"/>
            <a:ext cx="342845" cy="19021"/>
          </a:xfrm>
          <a:prstGeom prst="rect">
            <a:avLst/>
          </a:prstGeom>
          <a:solidFill>
            <a:srgbClr val="D4AF6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5"/>
          <p:cNvSpPr/>
          <p:nvPr/>
        </p:nvSpPr>
        <p:spPr>
          <a:xfrm>
            <a:off x="4716410" y="648668"/>
            <a:ext cx="1456343" cy="233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350" b="1" kern="0" spc="216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202176" y="1055231"/>
            <a:ext cx="3436010" cy="58290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7146"/>
              </a:lnSpc>
              <a:buNone/>
            </a:pPr>
            <a:r>
              <a:rPr lang="en-US" sz="3900" kern="0" spc="-39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</a:t>
            </a:r>
            <a:r>
              <a:rPr lang="en-US" sz="3900" i="1" kern="0" spc="-39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modelagem.</a:t>
            </a:r>
            <a:endParaRPr lang="en-US" sz="3900" dirty="0"/>
          </a:p>
        </p:txBody>
      </p:sp>
      <p:sp>
        <p:nvSpPr>
          <p:cNvPr id="10" name="Text 7"/>
          <p:cNvSpPr/>
          <p:nvPr/>
        </p:nvSpPr>
        <p:spPr>
          <a:xfrm>
            <a:off x="16738670" y="1264729"/>
            <a:ext cx="768275" cy="373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650" dirty="0">
                <a:solidFill>
                  <a:srgbClr val="EAF1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/ 08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202176" y="1790510"/>
            <a:ext cx="13625425" cy="645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650" dirty="0">
                <a:solidFill>
                  <a:srgbClr val="E0EAF1">
                    <a:alpha val="8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Testamos as três abordagens de avaliação em todo mandato; as que os dados não sustentam são descartadas por escrito, com o motivo declarado.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4202176" y="2550584"/>
            <a:ext cx="13228568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3" name="Shape 10"/>
          <p:cNvSpPr/>
          <p:nvPr/>
        </p:nvSpPr>
        <p:spPr>
          <a:xfrm>
            <a:off x="10807732" y="2559279"/>
            <a:ext cx="9525" cy="1085596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Text 11"/>
          <p:cNvSpPr/>
          <p:nvPr/>
        </p:nvSpPr>
        <p:spPr>
          <a:xfrm>
            <a:off x="4202176" y="2692626"/>
            <a:ext cx="693090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ESCOPO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4202176" y="2978274"/>
            <a:ext cx="6489844" cy="571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 avalia, para quem, para qual finalidade e em que data-base. Nenhuma metodologia é escolhida antes dessas quatro respostas.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121163" y="2692626"/>
            <a:ext cx="694054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BASE E PREMISSA DE VALOR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11121163" y="2978274"/>
            <a:ext cx="6498870" cy="571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Mercado, uso ou investimento; continuidade, uso atual ou liquidação ordenada. É aqui que se testa o aproveitamento eficiente.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202176" y="3797243"/>
            <a:ext cx="13228568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9" name="Text 16"/>
          <p:cNvSpPr/>
          <p:nvPr/>
        </p:nvSpPr>
        <p:spPr>
          <a:xfrm>
            <a:off x="4202176" y="3920197"/>
            <a:ext cx="1885946" cy="2666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ABORDAGENS</a:t>
            </a:r>
            <a:endParaRPr lang="en-US" sz="1125" dirty="0"/>
          </a:p>
        </p:txBody>
      </p:sp>
      <p:sp>
        <p:nvSpPr>
          <p:cNvPr id="20" name="Shape 17"/>
          <p:cNvSpPr/>
          <p:nvPr/>
        </p:nvSpPr>
        <p:spPr>
          <a:xfrm>
            <a:off x="6107149" y="3805938"/>
            <a:ext cx="9525" cy="866656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Text 18"/>
          <p:cNvSpPr/>
          <p:nvPr/>
        </p:nvSpPr>
        <p:spPr>
          <a:xfrm>
            <a:off x="6363451" y="3920197"/>
            <a:ext cx="359763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6363451" y="4186756"/>
            <a:ext cx="3597636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i="1" dirty="0">
                <a:solidFill>
                  <a:srgbClr val="E0EAF1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Approach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881636" y="3805938"/>
            <a:ext cx="9525" cy="866656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4" name="Text 21"/>
          <p:cNvSpPr/>
          <p:nvPr/>
        </p:nvSpPr>
        <p:spPr>
          <a:xfrm>
            <a:off x="10137937" y="3920197"/>
            <a:ext cx="359771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RENDA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10137937" y="4186756"/>
            <a:ext cx="3597711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i="1" dirty="0">
                <a:solidFill>
                  <a:srgbClr val="E0EAF1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Income Approach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3656191" y="3805938"/>
            <a:ext cx="9525" cy="866656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7" name="Text 24"/>
          <p:cNvSpPr/>
          <p:nvPr/>
        </p:nvSpPr>
        <p:spPr>
          <a:xfrm>
            <a:off x="13912491" y="3920197"/>
            <a:ext cx="3870078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ATIVOS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13912491" y="4186756"/>
            <a:ext cx="3870078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i="1" dirty="0">
                <a:solidFill>
                  <a:srgbClr val="E0EAF1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Approach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202176" y="4672595"/>
            <a:ext cx="1904973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0" name="Text 27"/>
          <p:cNvSpPr/>
          <p:nvPr/>
        </p:nvSpPr>
        <p:spPr>
          <a:xfrm>
            <a:off x="4202176" y="4776540"/>
            <a:ext cx="1790673" cy="673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16" dirty="0">
                <a:solidFill>
                  <a:srgbClr val="E0EAF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107149" y="4672595"/>
            <a:ext cx="3774486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2" name="Shape 29"/>
          <p:cNvSpPr/>
          <p:nvPr/>
        </p:nvSpPr>
        <p:spPr>
          <a:xfrm>
            <a:off x="6107149" y="4672595"/>
            <a:ext cx="9525" cy="834593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3" name="Text 30"/>
          <p:cNvSpPr/>
          <p:nvPr/>
        </p:nvSpPr>
        <p:spPr>
          <a:xfrm>
            <a:off x="6363494" y="4776540"/>
            <a:ext cx="3383726" cy="673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567"/>
              </a:lnSpc>
              <a:buNone/>
            </a:pPr>
            <a:r>
              <a:rPr lang="en-US" sz="1425" i="1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 pagou por bens equivalentes</a:t>
            </a:r>
            <a:endParaRPr lang="en-US" sz="1425" dirty="0"/>
          </a:p>
        </p:txBody>
      </p:sp>
      <p:sp>
        <p:nvSpPr>
          <p:cNvPr id="34" name="Shape 31"/>
          <p:cNvSpPr/>
          <p:nvPr/>
        </p:nvSpPr>
        <p:spPr>
          <a:xfrm>
            <a:off x="9881636" y="4672595"/>
            <a:ext cx="3774554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5" name="Shape 32"/>
          <p:cNvSpPr/>
          <p:nvPr/>
        </p:nvSpPr>
        <p:spPr>
          <a:xfrm>
            <a:off x="9881636" y="4672595"/>
            <a:ext cx="9525" cy="834593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6" name="Text 33"/>
          <p:cNvSpPr/>
          <p:nvPr/>
        </p:nvSpPr>
        <p:spPr>
          <a:xfrm>
            <a:off x="10137981" y="4776540"/>
            <a:ext cx="3383796" cy="673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567"/>
              </a:lnSpc>
              <a:buNone/>
            </a:pPr>
            <a:r>
              <a:rPr lang="en-US" sz="1425" i="1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bem gera, trazido a valor presente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13656191" y="4672595"/>
            <a:ext cx="3774554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8" name="Shape 35"/>
          <p:cNvSpPr/>
          <p:nvPr/>
        </p:nvSpPr>
        <p:spPr>
          <a:xfrm>
            <a:off x="13656191" y="4672595"/>
            <a:ext cx="9525" cy="834593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9" name="Text 36"/>
          <p:cNvSpPr/>
          <p:nvPr/>
        </p:nvSpPr>
        <p:spPr>
          <a:xfrm>
            <a:off x="13912536" y="4776540"/>
            <a:ext cx="3631446" cy="673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567"/>
              </a:lnSpc>
              <a:buNone/>
            </a:pPr>
            <a:r>
              <a:rPr lang="en-US" sz="1425" i="1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valem as partes, ou o que custaria repor</a:t>
            </a:r>
            <a:endParaRPr lang="en-US" sz="1425" dirty="0"/>
          </a:p>
        </p:txBody>
      </p:sp>
      <p:sp>
        <p:nvSpPr>
          <p:cNvPr id="40" name="Shape 37"/>
          <p:cNvSpPr/>
          <p:nvPr/>
        </p:nvSpPr>
        <p:spPr>
          <a:xfrm>
            <a:off x="4202176" y="5507188"/>
            <a:ext cx="1904973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1" name="Text 38"/>
          <p:cNvSpPr/>
          <p:nvPr/>
        </p:nvSpPr>
        <p:spPr>
          <a:xfrm>
            <a:off x="4202176" y="5611133"/>
            <a:ext cx="1790673" cy="984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16" dirty="0">
                <a:solidFill>
                  <a:srgbClr val="E0EAF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APLICÁVEL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107149" y="5507188"/>
            <a:ext cx="3774486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3" name="Shape 40"/>
          <p:cNvSpPr/>
          <p:nvPr/>
        </p:nvSpPr>
        <p:spPr>
          <a:xfrm>
            <a:off x="6107149" y="5507188"/>
            <a:ext cx="9525" cy="114591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4" name="Text 41"/>
          <p:cNvSpPr/>
          <p:nvPr/>
        </p:nvSpPr>
        <p:spPr>
          <a:xfrm>
            <a:off x="6363494" y="5611133"/>
            <a:ext cx="3383726" cy="984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existe amostra observável.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9881636" y="5507188"/>
            <a:ext cx="3774554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6" name="Shape 43"/>
          <p:cNvSpPr/>
          <p:nvPr/>
        </p:nvSpPr>
        <p:spPr>
          <a:xfrm>
            <a:off x="9881636" y="5507188"/>
            <a:ext cx="9525" cy="114591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7" name="Text 44"/>
          <p:cNvSpPr/>
          <p:nvPr/>
        </p:nvSpPr>
        <p:spPr>
          <a:xfrm>
            <a:off x="10137981" y="5611133"/>
            <a:ext cx="3383796" cy="984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o fluxo é projetável com confiança e mede o ativo, não a política de preço do gestor.</a:t>
            </a:r>
            <a:endParaRPr lang="en-US" sz="1500" dirty="0"/>
          </a:p>
        </p:txBody>
      </p:sp>
      <p:sp>
        <p:nvSpPr>
          <p:cNvPr id="48" name="Shape 45"/>
          <p:cNvSpPr/>
          <p:nvPr/>
        </p:nvSpPr>
        <p:spPr>
          <a:xfrm>
            <a:off x="13656191" y="5507188"/>
            <a:ext cx="3774554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9" name="Shape 46"/>
          <p:cNvSpPr/>
          <p:nvPr/>
        </p:nvSpPr>
        <p:spPr>
          <a:xfrm>
            <a:off x="13656191" y="5507188"/>
            <a:ext cx="9525" cy="114591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0" name="Text 47"/>
          <p:cNvSpPr/>
          <p:nvPr/>
        </p:nvSpPr>
        <p:spPr>
          <a:xfrm>
            <a:off x="13912536" y="5611133"/>
            <a:ext cx="3631446" cy="984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o patrimônio supera o que a operação rende, ou o ativo é especializado e sem mercado.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4202176" y="6653107"/>
            <a:ext cx="1904973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2" name="Text 49"/>
          <p:cNvSpPr/>
          <p:nvPr/>
        </p:nvSpPr>
        <p:spPr>
          <a:xfrm>
            <a:off x="4202176" y="6757052"/>
            <a:ext cx="1790673" cy="984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16" dirty="0">
                <a:solidFill>
                  <a:srgbClr val="E0EAF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107149" y="6653107"/>
            <a:ext cx="3774486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4" name="Shape 51"/>
          <p:cNvSpPr/>
          <p:nvPr/>
        </p:nvSpPr>
        <p:spPr>
          <a:xfrm>
            <a:off x="6107149" y="6653107"/>
            <a:ext cx="9525" cy="114591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5" name="Text 52"/>
          <p:cNvSpPr/>
          <p:nvPr/>
        </p:nvSpPr>
        <p:spPr>
          <a:xfrm>
            <a:off x="6363494" y="6757052"/>
            <a:ext cx="3383726" cy="984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múltiplos de empresas listadas · múltiplos de transações · unidades de comparação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9881636" y="6653107"/>
            <a:ext cx="3774554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7" name="Shape 54"/>
          <p:cNvSpPr/>
          <p:nvPr/>
        </p:nvSpPr>
        <p:spPr>
          <a:xfrm>
            <a:off x="9881636" y="6653107"/>
            <a:ext cx="9525" cy="114591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8" name="Text 55"/>
          <p:cNvSpPr/>
          <p:nvPr/>
        </p:nvSpPr>
        <p:spPr>
          <a:xfrm>
            <a:off x="10137981" y="6757052"/>
            <a:ext cx="3383796" cy="984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fluxo de caixa descontado · capitalização direta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13656191" y="6653107"/>
            <a:ext cx="3774554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0" name="Shape 57"/>
          <p:cNvSpPr/>
          <p:nvPr/>
        </p:nvSpPr>
        <p:spPr>
          <a:xfrm>
            <a:off x="13656191" y="6653107"/>
            <a:ext cx="9525" cy="114591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1" name="Text 58"/>
          <p:cNvSpPr/>
          <p:nvPr/>
        </p:nvSpPr>
        <p:spPr>
          <a:xfrm>
            <a:off x="13912536" y="6757052"/>
            <a:ext cx="3631446" cy="984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patrimônio líquido a valor de mercado · custo de reposição · custo de reprodução</a:t>
            </a:r>
            <a:endParaRPr lang="en-US" sz="1500" dirty="0"/>
          </a:p>
        </p:txBody>
      </p:sp>
      <p:sp>
        <p:nvSpPr>
          <p:cNvPr id="62" name="Shape 59"/>
          <p:cNvSpPr/>
          <p:nvPr/>
        </p:nvSpPr>
        <p:spPr>
          <a:xfrm>
            <a:off x="4202176" y="7799025"/>
            <a:ext cx="1904973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3" name="Text 60"/>
          <p:cNvSpPr/>
          <p:nvPr/>
        </p:nvSpPr>
        <p:spPr>
          <a:xfrm>
            <a:off x="4202176" y="7902970"/>
            <a:ext cx="1790673" cy="984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16" dirty="0">
                <a:solidFill>
                  <a:srgbClr val="E0EAF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6107149" y="7799025"/>
            <a:ext cx="3774486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5" name="Shape 62"/>
          <p:cNvSpPr/>
          <p:nvPr/>
        </p:nvSpPr>
        <p:spPr>
          <a:xfrm>
            <a:off x="6107149" y="7799025"/>
            <a:ext cx="9525" cy="105074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6" name="Text 63"/>
          <p:cNvSpPr/>
          <p:nvPr/>
        </p:nvSpPr>
        <p:spPr>
          <a:xfrm>
            <a:off x="6363494" y="7902970"/>
            <a:ext cx="3383726" cy="984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do múltiplo — receita ou resultado — e o valor ou faixa do multiplicador.</a:t>
            </a:r>
            <a:endParaRPr lang="en-US" sz="1500" dirty="0"/>
          </a:p>
        </p:txBody>
      </p:sp>
      <p:sp>
        <p:nvSpPr>
          <p:cNvPr id="67" name="Shape 64"/>
          <p:cNvSpPr/>
          <p:nvPr/>
        </p:nvSpPr>
        <p:spPr>
          <a:xfrm>
            <a:off x="9881636" y="7799025"/>
            <a:ext cx="3774554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8" name="Shape 65"/>
          <p:cNvSpPr/>
          <p:nvPr/>
        </p:nvSpPr>
        <p:spPr>
          <a:xfrm>
            <a:off x="9881636" y="7799025"/>
            <a:ext cx="9525" cy="105074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9" name="Text 66"/>
          <p:cNvSpPr/>
          <p:nvPr/>
        </p:nvSpPr>
        <p:spPr>
          <a:xfrm>
            <a:off x="10137981" y="7902970"/>
            <a:ext cx="3383796" cy="984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horizonte — </a:t>
            </a:r>
            <a:r>
              <a:rPr lang="en-US" sz="1500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janela</a:t>
            </a:r>
            <a:r>
              <a:rPr lang="en-US" sz="15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1500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concessão </a:t>
            </a:r>
            <a:r>
              <a:rPr lang="en-US" sz="15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 </a:t>
            </a:r>
            <a:r>
              <a:rPr lang="en-US" sz="1500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perpetuidade de Gordon </a:t>
            </a:r>
            <a:r>
              <a:rPr lang="en-US" sz="15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e a taxa de desconto.</a:t>
            </a:r>
            <a:endParaRPr lang="en-US" sz="1500" dirty="0"/>
          </a:p>
        </p:txBody>
      </p:sp>
      <p:sp>
        <p:nvSpPr>
          <p:cNvPr id="70" name="Shape 67"/>
          <p:cNvSpPr/>
          <p:nvPr/>
        </p:nvSpPr>
        <p:spPr>
          <a:xfrm>
            <a:off x="13656191" y="7799025"/>
            <a:ext cx="3774554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1" name="Shape 68"/>
          <p:cNvSpPr/>
          <p:nvPr/>
        </p:nvSpPr>
        <p:spPr>
          <a:xfrm>
            <a:off x="13656191" y="7799025"/>
            <a:ext cx="9525" cy="105074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2" name="Text 69"/>
          <p:cNvSpPr/>
          <p:nvPr/>
        </p:nvSpPr>
        <p:spPr>
          <a:xfrm>
            <a:off x="13912536" y="7902970"/>
            <a:ext cx="3631446" cy="984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quais ativos se reavaliam, quem assina cada laudo e o tratamento dos não operacionais.</a:t>
            </a:r>
            <a:endParaRPr lang="en-US" sz="1500" dirty="0"/>
          </a:p>
        </p:txBody>
      </p:sp>
      <p:sp>
        <p:nvSpPr>
          <p:cNvPr id="73" name="Shape 70"/>
          <p:cNvSpPr/>
          <p:nvPr/>
        </p:nvSpPr>
        <p:spPr>
          <a:xfrm>
            <a:off x="4202176" y="8983120"/>
            <a:ext cx="13228568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4" name="Text 71"/>
          <p:cNvSpPr/>
          <p:nvPr/>
        </p:nvSpPr>
        <p:spPr>
          <a:xfrm>
            <a:off x="4202176" y="9125163"/>
            <a:ext cx="11965847" cy="590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· Reconciliação. </a:t>
            </a:r>
            <a:r>
              <a:rPr lang="en-US" sz="1500" dirty="0">
                <a:solidFill>
                  <a:srgbClr val="E0EAF1">
                    <a:alpha val="8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indicação recebe peso conforme a qualidade dos insumos e a natureza do ativo. Nunca média aritmética; nunca preferência de resultado.</a:t>
            </a:r>
            <a:endParaRPr lang="en-US" sz="1500" dirty="0"/>
          </a:p>
        </p:txBody>
      </p:sp>
      <p:sp>
        <p:nvSpPr>
          <p:cNvPr id="75" name="Text 72"/>
          <p:cNvSpPr/>
          <p:nvPr/>
        </p:nvSpPr>
        <p:spPr>
          <a:xfrm>
            <a:off x="16124256" y="9277463"/>
            <a:ext cx="1306488" cy="43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1453"/>
              </a:lnSpc>
              <a:buNone/>
            </a:pPr>
            <a:r>
              <a:rPr lang="en-US" sz="1050" dirty="0">
                <a:solidFill>
                  <a:srgbClr val="E0EAF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IVS, edição em vigor desde 31.01.2025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3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622922"/>
            <a:ext cx="342845" cy="19021"/>
          </a:xfrm>
          <a:prstGeom prst="rect">
            <a:avLst/>
          </a:prstGeom>
          <a:solidFill>
            <a:srgbClr val="D4AF6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57231" y="534409"/>
            <a:ext cx="1880432" cy="233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350" b="1" kern="0" spc="216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INTERMEDIAÇÃO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2997" y="940972"/>
            <a:ext cx="4112780" cy="58290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7146"/>
              </a:lnSpc>
              <a:buNone/>
            </a:pPr>
            <a:r>
              <a:rPr lang="en-US" sz="3900" kern="0" spc="-39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</a:t>
            </a:r>
            <a:r>
              <a:rPr lang="en-US" sz="3900" i="1" kern="0" spc="-39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intermediação.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3445810" y="1150470"/>
            <a:ext cx="776155" cy="373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650" dirty="0">
                <a:solidFill>
                  <a:srgbClr val="EAF1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/ 08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2997" y="1676251"/>
            <a:ext cx="13392851" cy="645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65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Vender bem é conduzir, não anunciar: cada comprador é abordado individualmente e o nome do negócio só é revelado depois de NDA. O mandato tem prazo, escopo e cadência de reporte em contrato antes da primeira abordagem.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142997" y="2398216"/>
            <a:ext cx="13002768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4384977" y="2406911"/>
            <a:ext cx="9525" cy="1561653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/>
          <p:nvPr/>
        </p:nvSpPr>
        <p:spPr>
          <a:xfrm>
            <a:off x="1142997" y="2502150"/>
            <a:ext cx="3272813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PREPARAÇÃO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142997" y="2806817"/>
            <a:ext cx="3064544" cy="837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Laudo, preço-alvo e preço-piso por escrito. Questionário diagnóstico e organização prévia da diligência.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35652" y="2406911"/>
            <a:ext cx="9525" cy="1561653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Text 10"/>
          <p:cNvSpPr/>
          <p:nvPr/>
        </p:nvSpPr>
        <p:spPr>
          <a:xfrm>
            <a:off x="4660367" y="2502150"/>
            <a:ext cx="2979449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ABORDAGEM RESERVADA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660367" y="2806817"/>
            <a:ext cx="2789848" cy="1104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Lista construída por mandato, submetida ao seu veto. Teaser sem identificação e comprador qualificado.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886327" y="2406911"/>
            <a:ext cx="9525" cy="1561653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Text 13"/>
          <p:cNvSpPr/>
          <p:nvPr/>
        </p:nvSpPr>
        <p:spPr>
          <a:xfrm>
            <a:off x="7911042" y="2502150"/>
            <a:ext cx="2979449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NEGOCIAÇÃO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7911042" y="2806817"/>
            <a:ext cx="2789848" cy="1104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 técnica de cada proposta, defesa do valor pelo laudo e coordenação da diligência.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61718" y="2502150"/>
            <a:ext cx="3282453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ASSINATURA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1161718" y="2806817"/>
            <a:ext cx="3073570" cy="837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Estruturação do preço — à vista, saldo a prazo, retenção e metas. A redação é do seu advogado.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42997" y="4101911"/>
            <a:ext cx="13002768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Text 18"/>
          <p:cNvSpPr/>
          <p:nvPr/>
        </p:nvSpPr>
        <p:spPr>
          <a:xfrm>
            <a:off x="1142997" y="4224865"/>
            <a:ext cx="1657349" cy="495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FORMAS DE CONTRATAR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2952732" y="4110606"/>
            <a:ext cx="9525" cy="84947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2" name="Text 20"/>
          <p:cNvSpPr/>
          <p:nvPr/>
        </p:nvSpPr>
        <p:spPr>
          <a:xfrm>
            <a:off x="3266163" y="4224865"/>
            <a:ext cx="5476185" cy="35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687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Mandato </a:t>
            </a:r>
            <a:r>
              <a:rPr lang="en-US" sz="2100" i="1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aberto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266163" y="4592505"/>
            <a:ext cx="5476185" cy="29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E0EAF1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casa é uma das frentes de venda.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8549249" y="4110606"/>
            <a:ext cx="9525" cy="84947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Text 23"/>
          <p:cNvSpPr/>
          <p:nvPr/>
        </p:nvSpPr>
        <p:spPr>
          <a:xfrm>
            <a:off x="8862679" y="4224865"/>
            <a:ext cx="5811394" cy="35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687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Mandato </a:t>
            </a:r>
            <a:r>
              <a:rPr lang="en-US" sz="2100" i="1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exclusivo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862679" y="4592505"/>
            <a:ext cx="5811394" cy="29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E0EAF1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casa é a única a conduzir a venda.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1142997" y="4960076"/>
            <a:ext cx="1809735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8" name="Text 26"/>
          <p:cNvSpPr/>
          <p:nvPr/>
        </p:nvSpPr>
        <p:spPr>
          <a:xfrm>
            <a:off x="1142997" y="5083071"/>
            <a:ext cx="1657335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16" dirty="0">
                <a:solidFill>
                  <a:srgbClr val="E0EAF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52732" y="4960076"/>
            <a:ext cx="5596517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0" name="Shape 28"/>
          <p:cNvSpPr/>
          <p:nvPr/>
        </p:nvSpPr>
        <p:spPr>
          <a:xfrm>
            <a:off x="2952732" y="4960076"/>
            <a:ext cx="9525" cy="770467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1" name="Text 29"/>
          <p:cNvSpPr/>
          <p:nvPr/>
        </p:nvSpPr>
        <p:spPr>
          <a:xfrm>
            <a:off x="3266227" y="5083071"/>
            <a:ext cx="5146117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meses de vigência: o processo corre em paralelo ao que você ou outro assessor estiver conduzindo.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549249" y="4960076"/>
            <a:ext cx="5596517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3" name="Shape 31"/>
          <p:cNvSpPr/>
          <p:nvPr/>
        </p:nvSpPr>
        <p:spPr>
          <a:xfrm>
            <a:off x="8549249" y="4960076"/>
            <a:ext cx="9525" cy="770467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4" name="Text 32"/>
          <p:cNvSpPr/>
          <p:nvPr/>
        </p:nvSpPr>
        <p:spPr>
          <a:xfrm>
            <a:off x="8862744" y="5083071"/>
            <a:ext cx="5450917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meses de vigência: prazo mais curto porque o mandato é trabalhado de forma concentrada.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142997" y="5730543"/>
            <a:ext cx="1809735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6" name="Text 34"/>
          <p:cNvSpPr/>
          <p:nvPr/>
        </p:nvSpPr>
        <p:spPr>
          <a:xfrm>
            <a:off x="1142997" y="5853538"/>
            <a:ext cx="1657335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16" dirty="0">
                <a:solidFill>
                  <a:srgbClr val="E0EAF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952732" y="5730543"/>
            <a:ext cx="5596517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8" name="Shape 36"/>
          <p:cNvSpPr/>
          <p:nvPr/>
        </p:nvSpPr>
        <p:spPr>
          <a:xfrm>
            <a:off x="2952732" y="5730543"/>
            <a:ext cx="9525" cy="770467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9" name="Text 37"/>
          <p:cNvSpPr/>
          <p:nvPr/>
        </p:nvSpPr>
        <p:spPr>
          <a:xfrm>
            <a:off x="3266227" y="5853538"/>
            <a:ext cx="5146117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tempo real, abordagem por abordagem: cada contato feito, cada resposta recebida e o estágio de cada conversa.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549249" y="5730543"/>
            <a:ext cx="5596517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1" name="Shape 39"/>
          <p:cNvSpPr/>
          <p:nvPr/>
        </p:nvSpPr>
        <p:spPr>
          <a:xfrm>
            <a:off x="8549249" y="5730543"/>
            <a:ext cx="9525" cy="770467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2" name="Text 40"/>
          <p:cNvSpPr/>
          <p:nvPr/>
        </p:nvSpPr>
        <p:spPr>
          <a:xfrm>
            <a:off x="8862744" y="5853538"/>
            <a:ext cx="5450917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reportes trimestrais consolidados: leitura do mercado, objeções recorrentes e recomendação de ajuste.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142997" y="6501010"/>
            <a:ext cx="1809735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4" name="Text 42"/>
          <p:cNvSpPr/>
          <p:nvPr/>
        </p:nvSpPr>
        <p:spPr>
          <a:xfrm>
            <a:off x="1142997" y="6624005"/>
            <a:ext cx="1657335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16" dirty="0">
                <a:solidFill>
                  <a:srgbClr val="E0EAF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NARRATIVA DE PREÇO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952732" y="6501010"/>
            <a:ext cx="5596517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6" name="Shape 44"/>
          <p:cNvSpPr/>
          <p:nvPr/>
        </p:nvSpPr>
        <p:spPr>
          <a:xfrm>
            <a:off x="2952732" y="6501010"/>
            <a:ext cx="9525" cy="770467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7" name="Text 45"/>
          <p:cNvSpPr/>
          <p:nvPr/>
        </p:nvSpPr>
        <p:spPr>
          <a:xfrm>
            <a:off x="3266227" y="6624005"/>
            <a:ext cx="5146117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Convive com outras mensagens no mercado; o preço-piso do laudo é a referência comum.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8549249" y="6501010"/>
            <a:ext cx="5596517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9" name="Shape 47"/>
          <p:cNvSpPr/>
          <p:nvPr/>
        </p:nvSpPr>
        <p:spPr>
          <a:xfrm>
            <a:off x="8549249" y="6501010"/>
            <a:ext cx="9525" cy="770467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0" name="Text 48"/>
          <p:cNvSpPr/>
          <p:nvPr/>
        </p:nvSpPr>
        <p:spPr>
          <a:xfrm>
            <a:off x="8862744" y="6624005"/>
            <a:ext cx="5450917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única narrativa de preço, sustentada pelo laudo, em todas as conversas.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1142997" y="7271477"/>
            <a:ext cx="1809735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2" name="Text 50"/>
          <p:cNvSpPr/>
          <p:nvPr/>
        </p:nvSpPr>
        <p:spPr>
          <a:xfrm>
            <a:off x="1142997" y="7394472"/>
            <a:ext cx="1657335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16" dirty="0">
                <a:solidFill>
                  <a:srgbClr val="E0EAF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REMUNERAÇÃO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952732" y="7271477"/>
            <a:ext cx="5596517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4" name="Shape 52"/>
          <p:cNvSpPr/>
          <p:nvPr/>
        </p:nvSpPr>
        <p:spPr>
          <a:xfrm>
            <a:off x="2952732" y="7271477"/>
            <a:ext cx="9525" cy="770467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5" name="Text 53"/>
          <p:cNvSpPr/>
          <p:nvPr/>
        </p:nvSpPr>
        <p:spPr>
          <a:xfrm>
            <a:off x="3266227" y="7394472"/>
            <a:ext cx="5146117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Fixo maior na contratação e taxa de sucesso menor no fechamento.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8549249" y="7271477"/>
            <a:ext cx="5596517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7" name="Shape 55"/>
          <p:cNvSpPr/>
          <p:nvPr/>
        </p:nvSpPr>
        <p:spPr>
          <a:xfrm>
            <a:off x="8549249" y="7271477"/>
            <a:ext cx="9525" cy="770467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8" name="Text 56"/>
          <p:cNvSpPr/>
          <p:nvPr/>
        </p:nvSpPr>
        <p:spPr>
          <a:xfrm>
            <a:off x="8862744" y="7394472"/>
            <a:ext cx="5450917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8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Fixo reduzido na contratação e taxa de sucesso maior no fechamento.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1142997" y="8041944"/>
            <a:ext cx="13002768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0" name="Text 58"/>
          <p:cNvSpPr/>
          <p:nvPr/>
        </p:nvSpPr>
        <p:spPr>
          <a:xfrm>
            <a:off x="1142997" y="8164898"/>
            <a:ext cx="1657349" cy="495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VEM O COMPRADOR</a:t>
            </a:r>
            <a:endParaRPr lang="en-US" sz="1125" dirty="0"/>
          </a:p>
        </p:txBody>
      </p:sp>
      <p:sp>
        <p:nvSpPr>
          <p:cNvPr id="61" name="Shape 59"/>
          <p:cNvSpPr/>
          <p:nvPr/>
        </p:nvSpPr>
        <p:spPr>
          <a:xfrm>
            <a:off x="2952732" y="8050639"/>
            <a:ext cx="9525" cy="1129411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2" name="Text 60"/>
          <p:cNvSpPr/>
          <p:nvPr/>
        </p:nvSpPr>
        <p:spPr>
          <a:xfrm>
            <a:off x="3228122" y="8164898"/>
            <a:ext cx="3507819" cy="236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92"/>
              </a:lnSpc>
              <a:buNone/>
            </a:pPr>
            <a:r>
              <a:rPr lang="en-US" sz="975" b="1" kern="0" spc="117" dirty="0">
                <a:solidFill>
                  <a:srgbClr val="E0EAF1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QUESTIONÁRIO DIAGNÓSTICO</a:t>
            </a:r>
            <a:endParaRPr lang="en-US" sz="975" dirty="0"/>
          </a:p>
        </p:txBody>
      </p:sp>
      <p:sp>
        <p:nvSpPr>
          <p:cNvPr id="63" name="Text 61"/>
          <p:cNvSpPr/>
          <p:nvPr/>
        </p:nvSpPr>
        <p:spPr>
          <a:xfrm>
            <a:off x="3228122" y="8420113"/>
            <a:ext cx="3284594" cy="798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Dependência do dono, concentração de clientes, financeiro e passivos: define o perfil que paga mais.</a:t>
            </a:r>
            <a:endParaRPr lang="en-US" sz="1425" dirty="0"/>
          </a:p>
        </p:txBody>
      </p:sp>
      <p:sp>
        <p:nvSpPr>
          <p:cNvPr id="64" name="Shape 62"/>
          <p:cNvSpPr/>
          <p:nvPr/>
        </p:nvSpPr>
        <p:spPr>
          <a:xfrm>
            <a:off x="6683743" y="8050639"/>
            <a:ext cx="9525" cy="1129411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5" name="Text 63"/>
          <p:cNvSpPr/>
          <p:nvPr/>
        </p:nvSpPr>
        <p:spPr>
          <a:xfrm>
            <a:off x="6959133" y="8164898"/>
            <a:ext cx="3507819" cy="236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92"/>
              </a:lnSpc>
              <a:buNone/>
            </a:pPr>
            <a:r>
              <a:rPr lang="en-US" sz="975" b="1" kern="0" spc="117" dirty="0">
                <a:solidFill>
                  <a:srgbClr val="E0EAF1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COMPRADORES</a:t>
            </a:r>
            <a:endParaRPr lang="en-US" sz="975" dirty="0"/>
          </a:p>
        </p:txBody>
      </p:sp>
      <p:sp>
        <p:nvSpPr>
          <p:cNvPr id="66" name="Text 64"/>
          <p:cNvSpPr/>
          <p:nvPr/>
        </p:nvSpPr>
        <p:spPr>
          <a:xfrm>
            <a:off x="6959133" y="8420113"/>
            <a:ext cx="3284594" cy="798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Empresário do setor, </a:t>
            </a:r>
            <a:r>
              <a:rPr lang="en-US" sz="1425" dirty="0" err="1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consolidador</a:t>
            </a:r>
            <a:r>
              <a:rPr lang="en-US" sz="142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empresario de </a:t>
            </a:r>
            <a:r>
              <a:rPr lang="en-US" sz="1425" dirty="0" err="1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setor</a:t>
            </a:r>
            <a:r>
              <a:rPr lang="en-US" sz="142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25" dirty="0" err="1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correlato</a:t>
            </a:r>
            <a:r>
              <a:rPr lang="en-US" sz="142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investidor com tese e executivo — cada nome com a razão da escolha.</a:t>
            </a:r>
            <a:endParaRPr lang="en-US" sz="1425" dirty="0"/>
          </a:p>
        </p:txBody>
      </p:sp>
      <p:sp>
        <p:nvSpPr>
          <p:cNvPr id="67" name="Shape 65"/>
          <p:cNvSpPr/>
          <p:nvPr/>
        </p:nvSpPr>
        <p:spPr>
          <a:xfrm>
            <a:off x="10414754" y="8050639"/>
            <a:ext cx="9525" cy="1129411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8" name="Text 66"/>
          <p:cNvSpPr/>
          <p:nvPr/>
        </p:nvSpPr>
        <p:spPr>
          <a:xfrm>
            <a:off x="10690144" y="8164898"/>
            <a:ext cx="3801183" cy="236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92"/>
              </a:lnSpc>
              <a:buNone/>
            </a:pPr>
            <a:r>
              <a:rPr lang="en-US" sz="975" b="1" kern="0" spc="117" dirty="0">
                <a:solidFill>
                  <a:srgbClr val="E0EAF1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975" dirty="0"/>
          </a:p>
        </p:txBody>
      </p:sp>
      <p:sp>
        <p:nvSpPr>
          <p:cNvPr id="69" name="Text 67"/>
          <p:cNvSpPr/>
          <p:nvPr/>
        </p:nvSpPr>
        <p:spPr>
          <a:xfrm>
            <a:off x="10690144" y="8420113"/>
            <a:ext cx="3559290" cy="798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Assessores, contadores, advogados de M&amp;A e investidores da região: por aí chega quem não responde a anúncio.</a:t>
            </a:r>
            <a:endParaRPr lang="en-US" sz="1425" dirty="0"/>
          </a:p>
        </p:txBody>
      </p:sp>
      <p:sp>
        <p:nvSpPr>
          <p:cNvPr id="70" name="Shape 68"/>
          <p:cNvSpPr/>
          <p:nvPr/>
        </p:nvSpPr>
        <p:spPr>
          <a:xfrm>
            <a:off x="1142997" y="9256201"/>
            <a:ext cx="13002768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1" name="Text 69"/>
          <p:cNvSpPr/>
          <p:nvPr/>
        </p:nvSpPr>
        <p:spPr>
          <a:xfrm>
            <a:off x="1142997" y="9341096"/>
            <a:ext cx="13392851" cy="580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2"/>
              </a:lnSpc>
              <a:buNone/>
            </a:pPr>
            <a:r>
              <a:rPr lang="en-US" sz="1425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 duas opções o laudo está incluído e nenhuma proposta é aceita ou recusada sem a sua manifestação. Não há promessa de comprador em prazo fixo: a demanda não se fabrica.</a:t>
            </a:r>
            <a:endParaRPr lang="en-US" sz="1425" dirty="0"/>
          </a:p>
        </p:txBody>
      </p:sp>
      <p:pic>
        <p:nvPicPr>
          <p:cNvPr id="72" name="Image 0" descr="preencoded.png"/>
          <p:cNvPicPr>
            <a:picLocks noChangeAspect="1"/>
          </p:cNvPicPr>
          <p:nvPr/>
        </p:nvPicPr>
        <p:blipFill>
          <a:blip r:embed="rId3"/>
          <a:srcRect l="27769" r="21819"/>
          <a:stretch/>
        </p:blipFill>
        <p:spPr>
          <a:xfrm>
            <a:off x="14831523" y="0"/>
            <a:ext cx="3456436" cy="10286977"/>
          </a:xfrm>
          <a:prstGeom prst="rect">
            <a:avLst/>
          </a:prstGeom>
        </p:spPr>
      </p:pic>
      <p:sp>
        <p:nvSpPr>
          <p:cNvPr id="73" name="Shape 70"/>
          <p:cNvSpPr/>
          <p:nvPr/>
        </p:nvSpPr>
        <p:spPr>
          <a:xfrm>
            <a:off x="14831523" y="0"/>
            <a:ext cx="3456436" cy="10286977"/>
          </a:xfrm>
          <a:prstGeom prst="rect">
            <a:avLst/>
          </a:prstGeom>
          <a:gradFill rotWithShape="1">
            <a:gsLst>
              <a:gs pos="40000">
                <a:srgbClr val="0E2438">
                  <a:alpha val="12000"/>
                </a:srgbClr>
              </a:gs>
              <a:gs pos="100000">
                <a:srgbClr val="0E2438">
                  <a:alpha val="68000"/>
                </a:srgbClr>
              </a:gs>
            </a:gsLst>
            <a:lin ang="6000000" scaled="0"/>
          </a:gradFill>
          <a:ln/>
        </p:spPr>
        <p:txBody>
          <a:bodyPr/>
          <a:lstStyle/>
          <a:p>
            <a:endParaRPr lang="en-BR"/>
          </a:p>
        </p:txBody>
      </p:sp>
      <p:sp>
        <p:nvSpPr>
          <p:cNvPr id="74" name="Text 71"/>
          <p:cNvSpPr/>
          <p:nvPr/>
        </p:nvSpPr>
        <p:spPr>
          <a:xfrm>
            <a:off x="15364912" y="7515823"/>
            <a:ext cx="2628622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CONDUZ A VENDA</a:t>
            </a:r>
            <a:endParaRPr lang="en-US" sz="1125" dirty="0"/>
          </a:p>
        </p:txBody>
      </p:sp>
      <p:sp>
        <p:nvSpPr>
          <p:cNvPr id="75" name="Text 72"/>
          <p:cNvSpPr/>
          <p:nvPr/>
        </p:nvSpPr>
        <p:spPr>
          <a:xfrm>
            <a:off x="15364912" y="7858600"/>
            <a:ext cx="2465857" cy="75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23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Felipe Monteiro de Siqueira</a:t>
            </a:r>
            <a:endParaRPr lang="en-US" sz="2100" dirty="0"/>
          </a:p>
        </p:txBody>
      </p:sp>
      <p:sp>
        <p:nvSpPr>
          <p:cNvPr id="76" name="Text 73"/>
          <p:cNvSpPr/>
          <p:nvPr/>
        </p:nvSpPr>
        <p:spPr>
          <a:xfrm>
            <a:off x="15364912" y="8654812"/>
            <a:ext cx="2465857" cy="9082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EAF1F5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Aborda comprador qualificado, sem anúncio e sem expor a sua empresa.</a:t>
            </a:r>
            <a:endParaRPr lang="en-US" sz="15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965835"/>
            <a:ext cx="342845" cy="19021"/>
          </a:xfrm>
          <a:prstGeom prst="rect">
            <a:avLst/>
          </a:prstGeom>
          <a:solidFill>
            <a:srgbClr val="194E7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57231" y="877322"/>
            <a:ext cx="907600" cy="233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350" b="1" kern="0" spc="216" dirty="0">
                <a:solidFill>
                  <a:srgbClr val="194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SÓCIOS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2997" y="1341083"/>
            <a:ext cx="3877700" cy="687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399"/>
              </a:lnSpc>
              <a:buNone/>
            </a:pPr>
            <a:r>
              <a:rPr lang="en-US" sz="4650" kern="0" spc="-46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</a:t>
            </a:r>
            <a:r>
              <a:rPr lang="en-US" sz="4650" i="1" kern="0" spc="-46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assina.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6458321" y="1655329"/>
            <a:ext cx="762841" cy="373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65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/ 08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142997" y="8930542"/>
            <a:ext cx="7772396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1142997" y="2371587"/>
            <a:ext cx="7772396" cy="17390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1142997" y="2371587"/>
            <a:ext cx="9525" cy="6567650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Shape 7"/>
          <p:cNvSpPr/>
          <p:nvPr/>
        </p:nvSpPr>
        <p:spPr>
          <a:xfrm>
            <a:off x="8906698" y="2371587"/>
            <a:ext cx="9525" cy="6567650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Shape 8"/>
          <p:cNvSpPr/>
          <p:nvPr/>
        </p:nvSpPr>
        <p:spPr>
          <a:xfrm>
            <a:off x="1456428" y="2693713"/>
            <a:ext cx="1866864" cy="5932093"/>
          </a:xfrm>
          <a:prstGeom prst="rect">
            <a:avLst/>
          </a:prstGeom>
          <a:ln w="8695">
            <a:solidFill>
              <a:srgbClr val="1A273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27604" r="25481"/>
          <a:stretch/>
        </p:blipFill>
        <p:spPr>
          <a:xfrm>
            <a:off x="1465124" y="2702408"/>
            <a:ext cx="1849474" cy="591470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09008" y="2693713"/>
            <a:ext cx="5492250" cy="40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494"/>
              </a:lnSpc>
              <a:buNone/>
            </a:pPr>
            <a:r>
              <a:rPr lang="en-US" sz="24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Alexandre Fillard Tonello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609008" y="3135601"/>
            <a:ext cx="5492250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SÓCIO · VALUATION E MODELAGEM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09008" y="3569812"/>
            <a:ext cx="5142743" cy="381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141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Administrador pela UFSC e MBA Executivo pela FGV, soma quinze anos em finanças corporativas, Project Finance e valuation. No sistema Eletrobras, foi Head Latam, CFO da Rouar S.A. — sociedade binacional Brasil–Uruguai — e Chief of Staff da Diretoria Administrativa da Eletrosul, onde conduziu estruturação de projetos e modelagem de ativos de longo prazo. Formação executiva complementar em Wharton, Yale e Cambridge Judge. É dele o rigor dos modelos da casa: taxa calibrada ao porte da empresa e memória de cálculo que qualquer técnico replica.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3609008" y="7533485"/>
            <a:ext cx="4992955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3"/>
          <p:cNvSpPr/>
          <p:nvPr/>
        </p:nvSpPr>
        <p:spPr>
          <a:xfrm>
            <a:off x="3609008" y="7713568"/>
            <a:ext cx="231285" cy="29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425" dirty="0"/>
          </a:p>
        </p:txBody>
      </p:sp>
      <p:sp>
        <p:nvSpPr>
          <p:cNvPr id="17" name="Text 14"/>
          <p:cNvSpPr/>
          <p:nvPr/>
        </p:nvSpPr>
        <p:spPr>
          <a:xfrm>
            <a:off x="3897441" y="7713568"/>
            <a:ext cx="3528218" cy="29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Modelagem, taxa de desconto e cenários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3609008" y="8043031"/>
            <a:ext cx="231285" cy="29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425" dirty="0"/>
          </a:p>
        </p:txBody>
      </p:sp>
      <p:sp>
        <p:nvSpPr>
          <p:cNvPr id="19" name="Text 16"/>
          <p:cNvSpPr/>
          <p:nvPr/>
        </p:nvSpPr>
        <p:spPr>
          <a:xfrm>
            <a:off x="3897441" y="8043031"/>
            <a:ext cx="2895609" cy="29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Laudos técnicos e perícia judicial</a:t>
            </a:r>
            <a:endParaRPr lang="en-US" sz="1425" dirty="0"/>
          </a:p>
        </p:txBody>
      </p:sp>
      <p:sp>
        <p:nvSpPr>
          <p:cNvPr id="20" name="Text 17"/>
          <p:cNvSpPr/>
          <p:nvPr/>
        </p:nvSpPr>
        <p:spPr>
          <a:xfrm>
            <a:off x="3609008" y="8372494"/>
            <a:ext cx="231285" cy="29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425" dirty="0"/>
          </a:p>
        </p:txBody>
      </p:sp>
      <p:sp>
        <p:nvSpPr>
          <p:cNvPr id="21" name="Text 18"/>
          <p:cNvSpPr/>
          <p:nvPr/>
        </p:nvSpPr>
        <p:spPr>
          <a:xfrm>
            <a:off x="3897441" y="8372494"/>
            <a:ext cx="3698961" cy="29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Finance e estruturação de projetos</a:t>
            </a:r>
            <a:endParaRPr lang="en-US" sz="1425" dirty="0"/>
          </a:p>
        </p:txBody>
      </p:sp>
      <p:sp>
        <p:nvSpPr>
          <p:cNvPr id="22" name="Shape 19"/>
          <p:cNvSpPr/>
          <p:nvPr/>
        </p:nvSpPr>
        <p:spPr>
          <a:xfrm>
            <a:off x="9372565" y="8930542"/>
            <a:ext cx="7772396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3" name="Shape 20"/>
          <p:cNvSpPr/>
          <p:nvPr/>
        </p:nvSpPr>
        <p:spPr>
          <a:xfrm>
            <a:off x="9372565" y="2371587"/>
            <a:ext cx="7772396" cy="17390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4" name="Shape 21"/>
          <p:cNvSpPr/>
          <p:nvPr/>
        </p:nvSpPr>
        <p:spPr>
          <a:xfrm>
            <a:off x="9372565" y="2371587"/>
            <a:ext cx="9525" cy="6567650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Shape 22"/>
          <p:cNvSpPr/>
          <p:nvPr/>
        </p:nvSpPr>
        <p:spPr>
          <a:xfrm>
            <a:off x="17136266" y="2371587"/>
            <a:ext cx="9525" cy="6567650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Shape 23"/>
          <p:cNvSpPr/>
          <p:nvPr/>
        </p:nvSpPr>
        <p:spPr>
          <a:xfrm>
            <a:off x="9685997" y="2693713"/>
            <a:ext cx="1866864" cy="5932093"/>
          </a:xfrm>
          <a:prstGeom prst="rect">
            <a:avLst/>
          </a:prstGeom>
          <a:ln w="8695">
            <a:solidFill>
              <a:srgbClr val="1A273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rcRect l="26542" r="26542"/>
          <a:stretch/>
        </p:blipFill>
        <p:spPr>
          <a:xfrm>
            <a:off x="9694691" y="2702408"/>
            <a:ext cx="1849474" cy="591470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1838576" y="2693713"/>
            <a:ext cx="5492250" cy="40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494"/>
              </a:lnSpc>
              <a:buNone/>
            </a:pPr>
            <a:r>
              <a:rPr lang="en-US" sz="24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Felipe Monteiro de Siqueira</a:t>
            </a:r>
            <a:endParaRPr lang="en-US" sz="2400" dirty="0"/>
          </a:p>
        </p:txBody>
      </p:sp>
      <p:sp>
        <p:nvSpPr>
          <p:cNvPr id="29" name="Text 25"/>
          <p:cNvSpPr/>
          <p:nvPr/>
        </p:nvSpPr>
        <p:spPr>
          <a:xfrm>
            <a:off x="11838576" y="3135601"/>
            <a:ext cx="5492250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SÓCIO · VENDA DE EMPRESA E NEGOCIAÇÃO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1838576" y="3569812"/>
            <a:ext cx="5142743" cy="381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141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Administrador de empresas, pós-graduado em Marketing pela UFSC/Fepese e com formação em Valuation e Finanças pela FIPECAFI. Especialista em compra e venda de empresas, já assessorou dezenas de transações — da avaliação inicial e da preparação para a venda até o fechamento, sempre com discrição. Conhece o outro lado da mesa: o que o comprador questiona, onde o preço cai na diligência e como sustentar o valor sem expor o negócio. É autor do e-book </a:t>
            </a:r>
            <a:r>
              <a:rPr lang="en-US" sz="1575" i="1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Venda sua Empresa </a:t>
            </a: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do blog </a:t>
            </a:r>
            <a:r>
              <a:rPr lang="en-US" sz="1575" i="1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Compra e Venda de Empresas</a:t>
            </a: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575" dirty="0"/>
          </a:p>
        </p:txBody>
      </p:sp>
      <p:sp>
        <p:nvSpPr>
          <p:cNvPr id="31" name="Shape 27"/>
          <p:cNvSpPr/>
          <p:nvPr/>
        </p:nvSpPr>
        <p:spPr>
          <a:xfrm>
            <a:off x="11838576" y="7533485"/>
            <a:ext cx="4992955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2" name="Text 28"/>
          <p:cNvSpPr/>
          <p:nvPr/>
        </p:nvSpPr>
        <p:spPr>
          <a:xfrm>
            <a:off x="11838576" y="7713568"/>
            <a:ext cx="231285" cy="29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425" dirty="0"/>
          </a:p>
        </p:txBody>
      </p:sp>
      <p:sp>
        <p:nvSpPr>
          <p:cNvPr id="33" name="Text 29"/>
          <p:cNvSpPr/>
          <p:nvPr/>
        </p:nvSpPr>
        <p:spPr>
          <a:xfrm>
            <a:off x="12127009" y="7713568"/>
            <a:ext cx="4583463" cy="29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Preparação da empresa e abordagem a compradores</a:t>
            </a:r>
            <a:endParaRPr lang="en-US" sz="1425" dirty="0"/>
          </a:p>
        </p:txBody>
      </p:sp>
      <p:sp>
        <p:nvSpPr>
          <p:cNvPr id="34" name="Text 30"/>
          <p:cNvSpPr/>
          <p:nvPr/>
        </p:nvSpPr>
        <p:spPr>
          <a:xfrm>
            <a:off x="11838576" y="8043031"/>
            <a:ext cx="231285" cy="29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425" dirty="0"/>
          </a:p>
        </p:txBody>
      </p:sp>
      <p:sp>
        <p:nvSpPr>
          <p:cNvPr id="35" name="Text 31"/>
          <p:cNvSpPr/>
          <p:nvPr/>
        </p:nvSpPr>
        <p:spPr>
          <a:xfrm>
            <a:off x="12127009" y="8043031"/>
            <a:ext cx="3582617" cy="29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Condução da negociação até a assinatura</a:t>
            </a:r>
            <a:endParaRPr lang="en-US" sz="1425" dirty="0"/>
          </a:p>
        </p:txBody>
      </p:sp>
      <p:sp>
        <p:nvSpPr>
          <p:cNvPr id="36" name="Text 32"/>
          <p:cNvSpPr/>
          <p:nvPr/>
        </p:nvSpPr>
        <p:spPr>
          <a:xfrm>
            <a:off x="11838576" y="8372494"/>
            <a:ext cx="231285" cy="29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425" dirty="0"/>
          </a:p>
        </p:txBody>
      </p:sp>
      <p:sp>
        <p:nvSpPr>
          <p:cNvPr id="37" name="Text 33"/>
          <p:cNvSpPr/>
          <p:nvPr/>
        </p:nvSpPr>
        <p:spPr>
          <a:xfrm>
            <a:off x="12127009" y="8372494"/>
            <a:ext cx="3329080" cy="29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Valuation aplicado à decisão de venda</a:t>
            </a:r>
            <a:endParaRPr lang="en-US" sz="1425" dirty="0"/>
          </a:p>
        </p:txBody>
      </p:sp>
      <p:sp>
        <p:nvSpPr>
          <p:cNvPr id="38" name="Text 34"/>
          <p:cNvSpPr/>
          <p:nvPr/>
        </p:nvSpPr>
        <p:spPr>
          <a:xfrm>
            <a:off x="1142997" y="9148735"/>
            <a:ext cx="17552619" cy="3381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Trabalhos conduzidos pela casa estão sob acordo de confidencialidade e não são citados sem autorização expressa do cliente. Com a sua empresa será igual.</a:t>
            </a:r>
            <a:endParaRPr lang="en-US" sz="15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0E2438">
                  <a:alpha val="100000"/>
                </a:srgbClr>
              </a:gs>
              <a:gs pos="45000">
                <a:srgbClr val="173A59">
                  <a:alpha val="100000"/>
                </a:srgbClr>
              </a:gs>
              <a:gs pos="72000">
                <a:srgbClr val="245078">
                  <a:alpha val="100000"/>
                </a:srgbClr>
              </a:gs>
              <a:gs pos="100000">
                <a:srgbClr val="356C92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D4AF6A">
                  <a:alpha val="16000"/>
                </a:srgbClr>
              </a:gs>
              <a:gs pos="55000">
                <a:srgbClr val="D4AF6A">
                  <a:alpha val="0"/>
                </a:srgbClr>
              </a:gs>
            </a:gsLst>
            <a:path path="circle">
              <a:fillToRect l="88000" r="12000" b="100000"/>
            </a:path>
          </a:gradFill>
          <a:ln/>
        </p:spPr>
        <p:txBody>
          <a:bodyPr/>
          <a:lstStyle/>
          <a:p>
            <a:endParaRPr lang="en-BR" dirty="0"/>
          </a:p>
        </p:txBody>
      </p:sp>
      <p:sp>
        <p:nvSpPr>
          <p:cNvPr id="4" name="Shape 2"/>
          <p:cNvSpPr/>
          <p:nvPr/>
        </p:nvSpPr>
        <p:spPr>
          <a:xfrm>
            <a:off x="1047691" y="680052"/>
            <a:ext cx="342845" cy="19021"/>
          </a:xfrm>
          <a:prstGeom prst="rect">
            <a:avLst/>
          </a:prstGeom>
          <a:solidFill>
            <a:srgbClr val="D4AF6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/>
          <p:nvPr/>
        </p:nvSpPr>
        <p:spPr>
          <a:xfrm>
            <a:off x="1561924" y="591538"/>
            <a:ext cx="1531541" cy="233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350" b="1" kern="0" spc="216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HONORÁRIOS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47691" y="1036211"/>
            <a:ext cx="11550231" cy="645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399"/>
              </a:lnSpc>
              <a:buNone/>
            </a:pPr>
            <a:r>
              <a:rPr lang="en-US" sz="4350" kern="0" spc="-43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Dois serviços, três formatos de </a:t>
            </a:r>
            <a:r>
              <a:rPr lang="en-US" sz="4350" i="1" kern="0" spc="-43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contratação.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15000357" y="912442"/>
            <a:ext cx="2239911" cy="43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2408"/>
              </a:lnSpc>
              <a:buNone/>
            </a:pPr>
            <a:r>
              <a:rPr lang="en-US" sz="1950" kern="0" spc="1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Tonello</a:t>
            </a:r>
            <a:r>
              <a:rPr lang="en-US" sz="1950" i="1" kern="0" spc="10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r>
              <a:rPr lang="en-US" sz="1950" kern="0" spc="1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Siqueira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541668" y="1415263"/>
            <a:ext cx="1774800" cy="229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8587"/>
              </a:lnSpc>
              <a:buNone/>
            </a:pPr>
            <a:r>
              <a:rPr lang="en-US" sz="1275" kern="0" spc="51" dirty="0">
                <a:solidFill>
                  <a:srgbClr val="EAF1F5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em reais (R$)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1047691" y="1891523"/>
            <a:ext cx="2190689" cy="9525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Shape 8"/>
          <p:cNvSpPr/>
          <p:nvPr/>
        </p:nvSpPr>
        <p:spPr>
          <a:xfrm>
            <a:off x="3238379" y="1891523"/>
            <a:ext cx="4667296" cy="17390"/>
          </a:xfrm>
          <a:prstGeom prst="rect">
            <a:avLst/>
          </a:prstGeom>
          <a:solidFill>
            <a:srgbClr val="D4AF6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Shape 9"/>
          <p:cNvSpPr/>
          <p:nvPr/>
        </p:nvSpPr>
        <p:spPr>
          <a:xfrm>
            <a:off x="3238379" y="1891523"/>
            <a:ext cx="9525" cy="151892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Text 10"/>
          <p:cNvSpPr/>
          <p:nvPr/>
        </p:nvSpPr>
        <p:spPr>
          <a:xfrm>
            <a:off x="3551811" y="2051771"/>
            <a:ext cx="4454042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01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551811" y="2413636"/>
            <a:ext cx="4454042" cy="408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41"/>
              </a:lnSpc>
              <a:buNone/>
            </a:pPr>
            <a:r>
              <a:rPr lang="en-US" sz="24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Avaliação de empresa</a:t>
            </a:r>
            <a:endParaRPr lang="en-US" sz="2475" dirty="0"/>
          </a:p>
        </p:txBody>
      </p:sp>
      <p:sp>
        <p:nvSpPr>
          <p:cNvPr id="14" name="Shape 12"/>
          <p:cNvSpPr/>
          <p:nvPr/>
        </p:nvSpPr>
        <p:spPr>
          <a:xfrm>
            <a:off x="7905676" y="1891523"/>
            <a:ext cx="4667296" cy="17390"/>
          </a:xfrm>
          <a:prstGeom prst="rect">
            <a:avLst/>
          </a:prstGeom>
          <a:solidFill>
            <a:srgbClr val="D4AF6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Shape 13"/>
          <p:cNvSpPr/>
          <p:nvPr/>
        </p:nvSpPr>
        <p:spPr>
          <a:xfrm>
            <a:off x="7905676" y="1891523"/>
            <a:ext cx="9525" cy="151892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/>
          <p:nvPr/>
        </p:nvSpPr>
        <p:spPr>
          <a:xfrm>
            <a:off x="8219106" y="2051771"/>
            <a:ext cx="4454042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02 · OPÇÃO A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219106" y="2413636"/>
            <a:ext cx="4170603" cy="7797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41"/>
              </a:lnSpc>
              <a:buNone/>
            </a:pPr>
            <a:r>
              <a:rPr lang="en-US" sz="24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Avaliação + intermediação </a:t>
            </a:r>
            <a:r>
              <a:rPr lang="en-US" sz="2475" dirty="0">
                <a:solidFill>
                  <a:srgbClr val="E0EAF1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sem exclusividade</a:t>
            </a:r>
            <a:endParaRPr lang="en-US" sz="2475" dirty="0"/>
          </a:p>
        </p:txBody>
      </p:sp>
      <p:sp>
        <p:nvSpPr>
          <p:cNvPr id="18" name="Shape 16"/>
          <p:cNvSpPr/>
          <p:nvPr/>
        </p:nvSpPr>
        <p:spPr>
          <a:xfrm>
            <a:off x="12572972" y="1891523"/>
            <a:ext cx="4667296" cy="17390"/>
          </a:xfrm>
          <a:prstGeom prst="rect">
            <a:avLst/>
          </a:prstGeom>
          <a:solidFill>
            <a:srgbClr val="D4AF6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9" name="Shape 17"/>
          <p:cNvSpPr/>
          <p:nvPr/>
        </p:nvSpPr>
        <p:spPr>
          <a:xfrm>
            <a:off x="12572972" y="1891523"/>
            <a:ext cx="9525" cy="151892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Text 18"/>
          <p:cNvSpPr/>
          <p:nvPr/>
        </p:nvSpPr>
        <p:spPr>
          <a:xfrm>
            <a:off x="12886403" y="2051771"/>
            <a:ext cx="4454042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02 · OPÇÃO B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2886403" y="2413636"/>
            <a:ext cx="4170603" cy="7797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41"/>
              </a:lnSpc>
              <a:buNone/>
            </a:pPr>
            <a:r>
              <a:rPr lang="en-US" sz="24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Avaliação + intermediação </a:t>
            </a:r>
            <a:r>
              <a:rPr lang="en-US" sz="2475" dirty="0">
                <a:solidFill>
                  <a:srgbClr val="E0EAF1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com exclusividade</a:t>
            </a:r>
            <a:endParaRPr lang="en-US" sz="2475" dirty="0"/>
          </a:p>
        </p:txBody>
      </p:sp>
      <p:sp>
        <p:nvSpPr>
          <p:cNvPr id="22" name="Shape 20"/>
          <p:cNvSpPr/>
          <p:nvPr/>
        </p:nvSpPr>
        <p:spPr>
          <a:xfrm>
            <a:off x="1047691" y="3410447"/>
            <a:ext cx="2190689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3" name="Text 21"/>
          <p:cNvSpPr/>
          <p:nvPr/>
        </p:nvSpPr>
        <p:spPr>
          <a:xfrm>
            <a:off x="1047691" y="3562017"/>
            <a:ext cx="1981139" cy="1244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E0EAF1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HONORÁRIO FIXO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3238379" y="3410447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Shape 23"/>
          <p:cNvSpPr/>
          <p:nvPr/>
        </p:nvSpPr>
        <p:spPr>
          <a:xfrm>
            <a:off x="3238379" y="3410447"/>
            <a:ext cx="9525" cy="150119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/>
          <p:nvPr/>
        </p:nvSpPr>
        <p:spPr>
          <a:xfrm>
            <a:off x="3551811" y="3562000"/>
            <a:ext cx="4454042" cy="4572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44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R$ 10.000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3551811" y="4076369"/>
            <a:ext cx="4170603" cy="618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 na assinatura e 50% na entrega do laudo.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7905676" y="3410447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9" name="Shape 27"/>
          <p:cNvSpPr/>
          <p:nvPr/>
        </p:nvSpPr>
        <p:spPr>
          <a:xfrm>
            <a:off x="7905676" y="3410447"/>
            <a:ext cx="9525" cy="150119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0" name="Text 28"/>
          <p:cNvSpPr/>
          <p:nvPr/>
        </p:nvSpPr>
        <p:spPr>
          <a:xfrm>
            <a:off x="8219106" y="3562000"/>
            <a:ext cx="4454042" cy="4572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44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R$ 12.000</a:t>
            </a:r>
            <a:endParaRPr lang="en-US" sz="3300" dirty="0"/>
          </a:p>
        </p:txBody>
      </p:sp>
      <p:sp>
        <p:nvSpPr>
          <p:cNvPr id="31" name="Text 29"/>
          <p:cNvSpPr/>
          <p:nvPr/>
        </p:nvSpPr>
        <p:spPr>
          <a:xfrm>
            <a:off x="8219106" y="4076369"/>
            <a:ext cx="4170603" cy="618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 err="1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</a:t>
            </a:r>
            <a:r>
              <a:rPr lang="en-US" sz="1575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75" dirty="0" err="1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</a:t>
            </a:r>
            <a:r>
              <a:rPr lang="en-US" sz="1575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6 </a:t>
            </a:r>
            <a:r>
              <a:rPr lang="en-US" sz="1575" dirty="0" err="1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vezes</a:t>
            </a:r>
            <a:r>
              <a:rPr lang="en-US" sz="1575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r>
              <a:rPr lang="en-US" sz="1575" dirty="0" err="1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Pagamento</a:t>
            </a:r>
            <a:r>
              <a:rPr lang="en-US" sz="1575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75" dirty="0" err="1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flexível</a:t>
            </a:r>
            <a:r>
              <a:rPr lang="en-US" sz="1575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575" dirty="0"/>
          </a:p>
        </p:txBody>
      </p:sp>
      <p:sp>
        <p:nvSpPr>
          <p:cNvPr id="32" name="Shape 30"/>
          <p:cNvSpPr/>
          <p:nvPr/>
        </p:nvSpPr>
        <p:spPr>
          <a:xfrm>
            <a:off x="12572972" y="3410447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3" name="Shape 31"/>
          <p:cNvSpPr/>
          <p:nvPr/>
        </p:nvSpPr>
        <p:spPr>
          <a:xfrm>
            <a:off x="12572972" y="3410447"/>
            <a:ext cx="9525" cy="150119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4" name="Text 32"/>
          <p:cNvSpPr/>
          <p:nvPr/>
        </p:nvSpPr>
        <p:spPr>
          <a:xfrm>
            <a:off x="12886403" y="3562000"/>
            <a:ext cx="4454042" cy="4572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44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R$ 3.000</a:t>
            </a:r>
            <a:endParaRPr lang="en-US" sz="3300" dirty="0"/>
          </a:p>
        </p:txBody>
      </p:sp>
      <p:sp>
        <p:nvSpPr>
          <p:cNvPr id="35" name="Text 33"/>
          <p:cNvSpPr/>
          <p:nvPr/>
        </p:nvSpPr>
        <p:spPr>
          <a:xfrm>
            <a:off x="12886403" y="4076369"/>
            <a:ext cx="4170603" cy="618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Integral na assinatura; a taxa de </a:t>
            </a:r>
            <a:r>
              <a:rPr lang="en-US" sz="1575" dirty="0" err="1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sucesso</a:t>
            </a:r>
            <a:r>
              <a:rPr lang="en-US" sz="1575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da venda é remunerada no êxito.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1047691" y="4911642"/>
            <a:ext cx="2190689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7" name="Text 35"/>
          <p:cNvSpPr/>
          <p:nvPr/>
        </p:nvSpPr>
        <p:spPr>
          <a:xfrm>
            <a:off x="1047691" y="5063212"/>
            <a:ext cx="1981139" cy="95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E0EAF1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SUCESSO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3238379" y="4911642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9" name="Shape 37"/>
          <p:cNvSpPr/>
          <p:nvPr/>
        </p:nvSpPr>
        <p:spPr>
          <a:xfrm>
            <a:off x="3238379" y="4911642"/>
            <a:ext cx="9525" cy="121113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0" name="Text 38"/>
          <p:cNvSpPr/>
          <p:nvPr/>
        </p:nvSpPr>
        <p:spPr>
          <a:xfrm>
            <a:off x="3551811" y="5063194"/>
            <a:ext cx="4454042" cy="4572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440"/>
              </a:lnSpc>
              <a:buNone/>
            </a:pPr>
            <a:r>
              <a:rPr lang="en-US" sz="3300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3300" dirty="0"/>
          </a:p>
        </p:txBody>
      </p:sp>
      <p:sp>
        <p:nvSpPr>
          <p:cNvPr id="41" name="Text 39"/>
          <p:cNvSpPr/>
          <p:nvPr/>
        </p:nvSpPr>
        <p:spPr>
          <a:xfrm>
            <a:off x="3551811" y="5577564"/>
            <a:ext cx="4454042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há remuneração variável.</a:t>
            </a:r>
            <a:endParaRPr lang="en-US" sz="1575" dirty="0"/>
          </a:p>
        </p:txBody>
      </p:sp>
      <p:sp>
        <p:nvSpPr>
          <p:cNvPr id="42" name="Shape 40"/>
          <p:cNvSpPr/>
          <p:nvPr/>
        </p:nvSpPr>
        <p:spPr>
          <a:xfrm>
            <a:off x="7905676" y="4911642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3" name="Shape 41"/>
          <p:cNvSpPr/>
          <p:nvPr/>
        </p:nvSpPr>
        <p:spPr>
          <a:xfrm>
            <a:off x="7905676" y="4911642"/>
            <a:ext cx="9525" cy="121113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4" name="Text 42"/>
          <p:cNvSpPr/>
          <p:nvPr/>
        </p:nvSpPr>
        <p:spPr>
          <a:xfrm>
            <a:off x="8219106" y="5063194"/>
            <a:ext cx="4454042" cy="4572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440"/>
              </a:lnSpc>
              <a:buNone/>
            </a:pPr>
            <a:r>
              <a:rPr lang="en-US" sz="3300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6%</a:t>
            </a:r>
            <a:endParaRPr lang="en-US" sz="3300" dirty="0"/>
          </a:p>
        </p:txBody>
      </p:sp>
      <p:sp>
        <p:nvSpPr>
          <p:cNvPr id="45" name="Text 43"/>
          <p:cNvSpPr/>
          <p:nvPr/>
        </p:nvSpPr>
        <p:spPr>
          <a:xfrm>
            <a:off x="8219106" y="5577564"/>
            <a:ext cx="4454042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 o Valor Apurado da Operação.</a:t>
            </a:r>
            <a:endParaRPr lang="en-US" sz="1575" dirty="0"/>
          </a:p>
        </p:txBody>
      </p:sp>
      <p:sp>
        <p:nvSpPr>
          <p:cNvPr id="46" name="Shape 44"/>
          <p:cNvSpPr/>
          <p:nvPr/>
        </p:nvSpPr>
        <p:spPr>
          <a:xfrm>
            <a:off x="12572972" y="4911642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7" name="Shape 45"/>
          <p:cNvSpPr/>
          <p:nvPr/>
        </p:nvSpPr>
        <p:spPr>
          <a:xfrm>
            <a:off x="12572972" y="4911642"/>
            <a:ext cx="9525" cy="121113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8" name="Text 46"/>
          <p:cNvSpPr/>
          <p:nvPr/>
        </p:nvSpPr>
        <p:spPr>
          <a:xfrm>
            <a:off x="12886403" y="5063194"/>
            <a:ext cx="4454042" cy="4572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440"/>
              </a:lnSpc>
              <a:buNone/>
            </a:pPr>
            <a:r>
              <a:rPr lang="en-US" sz="3300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9%</a:t>
            </a:r>
            <a:endParaRPr lang="en-US" sz="3300" dirty="0"/>
          </a:p>
        </p:txBody>
      </p:sp>
      <p:sp>
        <p:nvSpPr>
          <p:cNvPr id="49" name="Text 47"/>
          <p:cNvSpPr/>
          <p:nvPr/>
        </p:nvSpPr>
        <p:spPr>
          <a:xfrm>
            <a:off x="12886403" y="5577564"/>
            <a:ext cx="4454042" cy="32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 o Valor Apurado da Operação.</a:t>
            </a:r>
            <a:endParaRPr lang="en-US" sz="1575" dirty="0"/>
          </a:p>
        </p:txBody>
      </p:sp>
      <p:sp>
        <p:nvSpPr>
          <p:cNvPr id="50" name="Shape 48"/>
          <p:cNvSpPr/>
          <p:nvPr/>
        </p:nvSpPr>
        <p:spPr>
          <a:xfrm>
            <a:off x="1047691" y="6122773"/>
            <a:ext cx="2190689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1" name="Text 49"/>
          <p:cNvSpPr/>
          <p:nvPr/>
        </p:nvSpPr>
        <p:spPr>
          <a:xfrm>
            <a:off x="1047691" y="6274343"/>
            <a:ext cx="1981139" cy="1093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E0EAF1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</a:t>
            </a:r>
            <a:endParaRPr lang="en-US" sz="1125" dirty="0"/>
          </a:p>
        </p:txBody>
      </p:sp>
      <p:sp>
        <p:nvSpPr>
          <p:cNvPr id="52" name="Shape 50"/>
          <p:cNvSpPr/>
          <p:nvPr/>
        </p:nvSpPr>
        <p:spPr>
          <a:xfrm>
            <a:off x="3238379" y="6122773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3" name="Shape 51"/>
          <p:cNvSpPr/>
          <p:nvPr/>
        </p:nvSpPr>
        <p:spPr>
          <a:xfrm>
            <a:off x="3238379" y="6122773"/>
            <a:ext cx="9525" cy="134964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4" name="Text 52"/>
          <p:cNvSpPr/>
          <p:nvPr/>
        </p:nvSpPr>
        <p:spPr>
          <a:xfrm>
            <a:off x="3551874" y="6409231"/>
            <a:ext cx="4189020" cy="832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1453"/>
              </a:lnSpc>
            </a:pPr>
            <a:r>
              <a:rPr lang="en-US" sz="16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</a:rPr>
              <a:t>Valuation com </a:t>
            </a:r>
            <a:r>
              <a:rPr lang="en-US" sz="1600" dirty="0" err="1">
                <a:solidFill>
                  <a:srgbClr val="E0EAF1">
                    <a:alpha val="80000"/>
                  </a:srgbClr>
                </a:solidFill>
                <a:latin typeface="Georgia" pitchFamily="34" charset="0"/>
              </a:rPr>
              <a:t>Laudo</a:t>
            </a:r>
            <a:r>
              <a:rPr lang="en-US" sz="16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</a:rPr>
              <a:t> de </a:t>
            </a:r>
            <a:r>
              <a:rPr lang="en-US" sz="1600" dirty="0" err="1">
                <a:solidFill>
                  <a:srgbClr val="E0EAF1">
                    <a:alpha val="80000"/>
                  </a:srgbClr>
                </a:solidFill>
                <a:latin typeface="Georgia" pitchFamily="34" charset="0"/>
              </a:rPr>
              <a:t>Avaliação</a:t>
            </a:r>
            <a:r>
              <a:rPr lang="en-US" sz="16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</a:rPr>
              <a:t> </a:t>
            </a:r>
            <a:r>
              <a:rPr lang="en-US" sz="1600" dirty="0" err="1">
                <a:solidFill>
                  <a:srgbClr val="E0EAF1">
                    <a:alpha val="80000"/>
                  </a:srgbClr>
                </a:solidFill>
                <a:latin typeface="Georgia" pitchFamily="34" charset="0"/>
              </a:rPr>
              <a:t>fundamentado</a:t>
            </a:r>
            <a:r>
              <a:rPr lang="en-US" sz="16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</a:rPr>
              <a:t> e </a:t>
            </a:r>
            <a:r>
              <a:rPr lang="en-US" sz="1600" dirty="0" err="1">
                <a:solidFill>
                  <a:srgbClr val="E0EAF1">
                    <a:alpha val="80000"/>
                  </a:srgbClr>
                </a:solidFill>
                <a:latin typeface="Georgia" pitchFamily="34" charset="0"/>
              </a:rPr>
              <a:t>relatório</a:t>
            </a:r>
            <a:r>
              <a:rPr lang="en-US" sz="16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</a:rPr>
              <a:t> </a:t>
            </a:r>
            <a:r>
              <a:rPr lang="en-US" sz="1600" dirty="0" err="1">
                <a:solidFill>
                  <a:srgbClr val="E0EAF1">
                    <a:alpha val="80000"/>
                  </a:srgbClr>
                </a:solidFill>
                <a:latin typeface="Georgia" pitchFamily="34" charset="0"/>
              </a:rPr>
              <a:t>completo</a:t>
            </a:r>
            <a:r>
              <a:rPr lang="en-US" sz="160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</a:rPr>
              <a:t>.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7905676" y="6122773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6" name="Shape 54"/>
          <p:cNvSpPr/>
          <p:nvPr/>
        </p:nvSpPr>
        <p:spPr>
          <a:xfrm>
            <a:off x="7905676" y="6122773"/>
            <a:ext cx="9525" cy="134964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7" name="Text 55"/>
          <p:cNvSpPr/>
          <p:nvPr/>
        </p:nvSpPr>
        <p:spPr>
          <a:xfrm>
            <a:off x="8219171" y="6274343"/>
            <a:ext cx="4189020" cy="1093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453"/>
              </a:lnSpc>
              <a:buNone/>
            </a:pPr>
            <a:endParaRPr lang="en-US" sz="1650" dirty="0">
              <a:solidFill>
                <a:srgbClr val="E0EAF1">
                  <a:alpha val="80000"/>
                </a:srgbClr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l">
              <a:lnSpc>
                <a:spcPct val="131453"/>
              </a:lnSpc>
              <a:buNone/>
            </a:pPr>
            <a:r>
              <a:rPr lang="en-US" sz="1650" dirty="0" err="1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Vigência</a:t>
            </a:r>
            <a:r>
              <a:rPr lang="en-US" sz="165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en-US" sz="1650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meses </a:t>
            </a:r>
            <a:r>
              <a:rPr lang="en-US" sz="165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sem exclusividade. 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12572972" y="6122773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9" name="Shape 57"/>
          <p:cNvSpPr/>
          <p:nvPr/>
        </p:nvSpPr>
        <p:spPr>
          <a:xfrm>
            <a:off x="12572972" y="6122773"/>
            <a:ext cx="9525" cy="134964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0" name="Text 58"/>
          <p:cNvSpPr/>
          <p:nvPr/>
        </p:nvSpPr>
        <p:spPr>
          <a:xfrm>
            <a:off x="12886467" y="6274343"/>
            <a:ext cx="4189020" cy="1093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65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Vigência de </a:t>
            </a:r>
            <a:r>
              <a:rPr lang="en-US" sz="1650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meses </a:t>
            </a:r>
            <a:r>
              <a:rPr lang="en-US" sz="165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com exclusividade para a condução da venda.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1047691" y="8822057"/>
            <a:ext cx="2190689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2" name="Shape 60"/>
          <p:cNvSpPr/>
          <p:nvPr/>
        </p:nvSpPr>
        <p:spPr>
          <a:xfrm>
            <a:off x="1047691" y="7472415"/>
            <a:ext cx="2190689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3" name="Text 61"/>
          <p:cNvSpPr/>
          <p:nvPr/>
        </p:nvSpPr>
        <p:spPr>
          <a:xfrm>
            <a:off x="1047691" y="7623986"/>
            <a:ext cx="1981139" cy="1093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E0EAF1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INCLUI</a:t>
            </a:r>
            <a:endParaRPr lang="en-US" sz="1125" dirty="0"/>
          </a:p>
        </p:txBody>
      </p:sp>
      <p:sp>
        <p:nvSpPr>
          <p:cNvPr id="64" name="Shape 62"/>
          <p:cNvSpPr/>
          <p:nvPr/>
        </p:nvSpPr>
        <p:spPr>
          <a:xfrm>
            <a:off x="3238379" y="8822057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5" name="Shape 63"/>
          <p:cNvSpPr/>
          <p:nvPr/>
        </p:nvSpPr>
        <p:spPr>
          <a:xfrm>
            <a:off x="3238379" y="7472415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6" name="Shape 64"/>
          <p:cNvSpPr/>
          <p:nvPr/>
        </p:nvSpPr>
        <p:spPr>
          <a:xfrm>
            <a:off x="3238379" y="7472415"/>
            <a:ext cx="9525" cy="135833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7" name="Text 65"/>
          <p:cNvSpPr/>
          <p:nvPr/>
        </p:nvSpPr>
        <p:spPr>
          <a:xfrm>
            <a:off x="3551874" y="7776067"/>
            <a:ext cx="4189020" cy="761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650" dirty="0" err="1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Laudo</a:t>
            </a:r>
            <a:r>
              <a:rPr lang="en-US" sz="165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avaliação com relatório de fundamentação completo.</a:t>
            </a:r>
            <a:endParaRPr lang="en-US" sz="1650" dirty="0"/>
          </a:p>
        </p:txBody>
      </p:sp>
      <p:sp>
        <p:nvSpPr>
          <p:cNvPr id="68" name="Shape 66"/>
          <p:cNvSpPr/>
          <p:nvPr/>
        </p:nvSpPr>
        <p:spPr>
          <a:xfrm>
            <a:off x="7905676" y="8822057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9" name="Shape 67"/>
          <p:cNvSpPr/>
          <p:nvPr/>
        </p:nvSpPr>
        <p:spPr>
          <a:xfrm>
            <a:off x="7905676" y="7472415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0" name="Shape 68"/>
          <p:cNvSpPr/>
          <p:nvPr/>
        </p:nvSpPr>
        <p:spPr>
          <a:xfrm>
            <a:off x="7905676" y="7472415"/>
            <a:ext cx="9525" cy="135833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1" name="Text 69"/>
          <p:cNvSpPr/>
          <p:nvPr/>
        </p:nvSpPr>
        <p:spPr>
          <a:xfrm>
            <a:off x="8219171" y="7623986"/>
            <a:ext cx="4189020" cy="1093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65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laudo com relatório completo, a condução da venda e reportes das abordagens em tempo real.</a:t>
            </a:r>
            <a:endParaRPr lang="en-US" sz="1650" dirty="0"/>
          </a:p>
        </p:txBody>
      </p:sp>
      <p:sp>
        <p:nvSpPr>
          <p:cNvPr id="72" name="Shape 70"/>
          <p:cNvSpPr/>
          <p:nvPr/>
        </p:nvSpPr>
        <p:spPr>
          <a:xfrm>
            <a:off x="12572972" y="8822057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3" name="Shape 71"/>
          <p:cNvSpPr/>
          <p:nvPr/>
        </p:nvSpPr>
        <p:spPr>
          <a:xfrm>
            <a:off x="12572972" y="7472415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4" name="Shape 72"/>
          <p:cNvSpPr/>
          <p:nvPr/>
        </p:nvSpPr>
        <p:spPr>
          <a:xfrm>
            <a:off x="12572972" y="7472415"/>
            <a:ext cx="9525" cy="135833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5" name="Text 73"/>
          <p:cNvSpPr/>
          <p:nvPr/>
        </p:nvSpPr>
        <p:spPr>
          <a:xfrm>
            <a:off x="12886467" y="7623986"/>
            <a:ext cx="4189020" cy="1093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650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laudo, a condução da venda e três reportes de acompanhamento trimestrais.</a:t>
            </a:r>
            <a:endParaRPr lang="en-US" sz="1650" dirty="0"/>
          </a:p>
        </p:txBody>
      </p:sp>
      <p:sp>
        <p:nvSpPr>
          <p:cNvPr id="76" name="Shape 74"/>
          <p:cNvSpPr/>
          <p:nvPr/>
        </p:nvSpPr>
        <p:spPr>
          <a:xfrm>
            <a:off x="1047691" y="9059338"/>
            <a:ext cx="16192577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7" name="Text 75"/>
          <p:cNvSpPr/>
          <p:nvPr/>
        </p:nvSpPr>
        <p:spPr>
          <a:xfrm>
            <a:off x="1047691" y="9277531"/>
            <a:ext cx="9332518" cy="495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112"/>
              </a:lnSpc>
              <a:buNone/>
            </a:pPr>
            <a:r>
              <a:rPr lang="en-US" sz="1125" dirty="0">
                <a:solidFill>
                  <a:srgbClr val="EAF1F5">
                    <a:alpha val="5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Valor Apurado da Operação é tudo o que o comprador paga, entrega ou assume para adquirir o negócio, sem dedução da dívida. A entrega é o laudo; a planilha de cálculo não faz parte da entrega. Escopos de complexidade acima do padrão são orçados em proposta específica.</a:t>
            </a:r>
            <a:endParaRPr lang="en-US" sz="1125" dirty="0"/>
          </a:p>
        </p:txBody>
      </p:sp>
      <p:sp>
        <p:nvSpPr>
          <p:cNvPr id="78" name="Text 76"/>
          <p:cNvSpPr/>
          <p:nvPr/>
        </p:nvSpPr>
        <p:spPr>
          <a:xfrm>
            <a:off x="10679886" y="9338328"/>
            <a:ext cx="7216420" cy="4343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42408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 fala com quem </a:t>
            </a:r>
            <a:r>
              <a:rPr lang="en-US" sz="1950" i="1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assina </a:t>
            </a:r>
            <a:r>
              <a:rPr lang="en-US" sz="19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laudo. </a:t>
            </a:r>
            <a:r>
              <a:rPr lang="en-US" sz="1950" dirty="0">
                <a:solidFill>
                  <a:srgbClr val="EAF1F5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tonelloesiqueira.com.br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2299</Words>
  <Application>Microsoft Macintosh PowerPoint</Application>
  <PresentationFormat>Custom</PresentationFormat>
  <Paragraphs>231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Tonello &amp; Siqueira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Institucional</dc:title>
  <dc:subject>Deck</dc:subject>
  <dc:creator>Alexandre Fillard Tonello</dc:creator>
  <cp:keywords/>
  <dc:description/>
  <cp:lastModifiedBy>Alexandre Fillard Tonello</cp:lastModifiedBy>
  <cp:revision>4</cp:revision>
  <dcterms:created xsi:type="dcterms:W3CDTF">2026-08-26T21:13:19Z</dcterms:created>
  <dcterms:modified xsi:type="dcterms:W3CDTF">2026-09-01T04:02:57Z</dcterms:modified>
  <cp:category/>
</cp:coreProperties>
</file>