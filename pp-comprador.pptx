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2" r:id="rId2"/>
    <p:sldId id="277" r:id="rId3"/>
    <p:sldId id="258" r:id="rId4"/>
    <p:sldId id="280" r:id="rId5"/>
    <p:sldId id="260" r:id="rId6"/>
    <p:sldId id="261" r:id="rId7"/>
    <p:sldId id="262" r:id="rId8"/>
    <p:sldId id="264" r:id="rId9"/>
    <p:sldId id="266" r:id="rId10"/>
    <p:sldId id="290" r:id="rId11"/>
    <p:sldId id="269" r:id="rId12"/>
    <p:sldId id="284" r:id="rId13"/>
    <p:sldId id="286" r:id="rId14"/>
    <p:sldId id="288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E7C"/>
    <a:srgbClr val="297DC9"/>
    <a:srgbClr val="0F2D49"/>
    <a:srgbClr val="B086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BA589-1C92-4C42-AD56-5BF8F26AAC9E}" v="50" dt="2026-09-28T12:13:26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938"/>
    <p:restoredTop sz="94610"/>
  </p:normalViewPr>
  <p:slideViewPr>
    <p:cSldViewPr snapToGrid="0" snapToObjects="1">
      <p:cViewPr>
        <p:scale>
          <a:sx n="60" d="100"/>
          <a:sy n="60" d="100"/>
        </p:scale>
        <p:origin x="14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Fillard Tonello" userId="90a2b2bc9d144f26" providerId="LiveId" clId="{C0F4290A-8936-4E1D-B827-4BB31B42AB5C}"/>
    <pc:docChg chg="undo custSel addSld delSld modSld sldOrd">
      <pc:chgData name="Alexandre Fillard Tonello" userId="90a2b2bc9d144f26" providerId="LiveId" clId="{C0F4290A-8936-4E1D-B827-4BB31B42AB5C}" dt="2026-09-28T12:23:57.965" v="3667" actId="478"/>
      <pc:docMkLst>
        <pc:docMk/>
      </pc:docMkLst>
      <pc:sldChg chg="del ord">
        <pc:chgData name="Alexandre Fillard Tonello" userId="90a2b2bc9d144f26" providerId="LiveId" clId="{C0F4290A-8936-4E1D-B827-4BB31B42AB5C}" dt="2026-09-28T12:05:11.884" v="3201" actId="47"/>
        <pc:sldMkLst>
          <pc:docMk/>
          <pc:sldMk cId="0" sldId="256"/>
        </pc:sldMkLst>
      </pc:sldChg>
      <pc:sldChg chg="modSp mod">
        <pc:chgData name="Alexandre Fillard Tonello" userId="90a2b2bc9d144f26" providerId="LiveId" clId="{C0F4290A-8936-4E1D-B827-4BB31B42AB5C}" dt="2026-09-28T11:18:47.472" v="12" actId="113"/>
        <pc:sldMkLst>
          <pc:docMk/>
          <pc:sldMk cId="0" sldId="257"/>
        </pc:sldMkLst>
        <pc:spChg chg="mod">
          <ac:chgData name="Alexandre Fillard Tonello" userId="90a2b2bc9d144f26" providerId="LiveId" clId="{C0F4290A-8936-4E1D-B827-4BB31B42AB5C}" dt="2026-09-28T11:17:41.931" v="0" actId="113"/>
          <ac:spMkLst>
            <pc:docMk/>
            <pc:sldMk cId="0" sldId="257"/>
            <ac:spMk id="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18:01.893" v="2" actId="276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18:37.137" v="11" actId="2057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18:47.472" v="12" actId="113"/>
          <ac:spMkLst>
            <pc:docMk/>
            <pc:sldMk cId="0" sldId="257"/>
            <ac:spMk id="37" creationId="{00000000-0000-0000-0000-000000000000}"/>
          </ac:spMkLst>
        </pc:spChg>
      </pc:sldChg>
      <pc:sldChg chg="addSp delSp modSp mod">
        <pc:chgData name="Alexandre Fillard Tonello" userId="90a2b2bc9d144f26" providerId="LiveId" clId="{C0F4290A-8936-4E1D-B827-4BB31B42AB5C}" dt="2026-09-28T11:58:42.676" v="2873" actId="20577"/>
        <pc:sldMkLst>
          <pc:docMk/>
          <pc:sldMk cId="0" sldId="259"/>
        </pc:sldMkLst>
        <pc:spChg chg="mod">
          <ac:chgData name="Alexandre Fillard Tonello" userId="90a2b2bc9d144f26" providerId="LiveId" clId="{C0F4290A-8936-4E1D-B827-4BB31B42AB5C}" dt="2026-09-28T11:34:20.921" v="1354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29:14.756" v="940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4:28.817" v="1373" actId="1038"/>
          <ac:spMkLst>
            <pc:docMk/>
            <pc:sldMk cId="0" sldId="259"/>
            <ac:spMk id="8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4:37.057" v="1394" actId="1038"/>
          <ac:spMkLst>
            <pc:docMk/>
            <pc:sldMk cId="0" sldId="259"/>
            <ac:spMk id="9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5:08.436" v="1413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5:18.697" v="1428" actId="103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5:31.625" v="1443" actId="103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4:07.141" v="1350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8:01.204" v="2782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20:59.112" v="39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4:13.756" v="1351" actId="1410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8:25.068" v="2831" actId="20577"/>
          <ac:spMkLst>
            <pc:docMk/>
            <pc:sldMk cId="0" sldId="259"/>
            <ac:spMk id="22" creationId="{00000000-0000-0000-0000-000000000000}"/>
          </ac:spMkLst>
        </pc:spChg>
        <pc:spChg chg="del mod">
          <ac:chgData name="Alexandre Fillard Tonello" userId="90a2b2bc9d144f26" providerId="LiveId" clId="{C0F4290A-8936-4E1D-B827-4BB31B42AB5C}" dt="2026-09-28T11:25:55.865" v="887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Alexandre Fillard Tonello" userId="90a2b2bc9d144f26" providerId="LiveId" clId="{C0F4290A-8936-4E1D-B827-4BB31B42AB5C}" dt="2026-09-28T11:23:29.386" v="613" actId="478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8:42.676" v="2873" actId="2057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4:44.180" v="1395" actId="14100"/>
          <ac:spMkLst>
            <pc:docMk/>
            <pc:sldMk cId="0" sldId="259"/>
            <ac:spMk id="29" creationId="{00000000-0000-0000-0000-000000000000}"/>
          </ac:spMkLst>
        </pc:spChg>
        <pc:spChg chg="del mod">
          <ac:chgData name="Alexandre Fillard Tonello" userId="90a2b2bc9d144f26" providerId="LiveId" clId="{C0F4290A-8936-4E1D-B827-4BB31B42AB5C}" dt="2026-09-28T11:30:54.224" v="1018" actId="478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6:16.348" v="1466" actId="14100"/>
          <ac:spMkLst>
            <pc:docMk/>
            <pc:sldMk cId="0" sldId="259"/>
            <ac:spMk id="37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38" creationId="{00000000-0000-0000-0000-000000000000}"/>
          </ac:spMkLst>
        </pc:spChg>
        <pc:spChg chg="del mod">
          <ac:chgData name="Alexandre Fillard Tonello" userId="90a2b2bc9d144f26" providerId="LiveId" clId="{C0F4290A-8936-4E1D-B827-4BB31B42AB5C}" dt="2026-09-28T11:25:46.320" v="885" actId="478"/>
          <ac:spMkLst>
            <pc:docMk/>
            <pc:sldMk cId="0" sldId="259"/>
            <ac:spMk id="41" creationId="{00000000-0000-0000-0000-000000000000}"/>
          </ac:spMkLst>
        </pc:spChg>
        <pc:spChg chg="del">
          <ac:chgData name="Alexandre Fillard Tonello" userId="90a2b2bc9d144f26" providerId="LiveId" clId="{C0F4290A-8936-4E1D-B827-4BB31B42AB5C}" dt="2026-09-28T11:36:46.289" v="1497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Alexandre Fillard Tonello" userId="90a2b2bc9d144f26" providerId="LiveId" clId="{C0F4290A-8936-4E1D-B827-4BB31B42AB5C}" dt="2026-09-28T11:36:46.289" v="1497" actId="478"/>
          <ac:spMkLst>
            <pc:docMk/>
            <pc:sldMk cId="0" sldId="259"/>
            <ac:spMk id="43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37:00.783" v="1499" actId="207"/>
          <ac:spMkLst>
            <pc:docMk/>
            <pc:sldMk cId="0" sldId="259"/>
            <ac:spMk id="44" creationId="{00000000-0000-0000-0000-000000000000}"/>
          </ac:spMkLst>
        </pc:spChg>
        <pc:spChg chg="add 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48" creationId="{5A25AE0E-66C1-0267-58DB-56EA78D1760F}"/>
          </ac:spMkLst>
        </pc:spChg>
        <pc:spChg chg="add 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50" creationId="{7333FB3C-526F-9FBF-DEC7-BEF8B38F2B72}"/>
          </ac:spMkLst>
        </pc:spChg>
        <pc:spChg chg="add mod">
          <ac:chgData name="Alexandre Fillard Tonello" userId="90a2b2bc9d144f26" providerId="LiveId" clId="{C0F4290A-8936-4E1D-B827-4BB31B42AB5C}" dt="2026-09-28T11:34:37.057" v="1394" actId="1038"/>
          <ac:spMkLst>
            <pc:docMk/>
            <pc:sldMk cId="0" sldId="259"/>
            <ac:spMk id="52" creationId="{D6EFA692-0EBE-4CBD-33DD-E4C09A9DF2DF}"/>
          </ac:spMkLst>
        </pc:spChg>
        <pc:spChg chg="add 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54" creationId="{EB869E99-9642-94D0-43EF-0B6A6A9B5991}"/>
          </ac:spMkLst>
        </pc:spChg>
        <pc:spChg chg="add 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56" creationId="{AEFDAFF7-3DA3-F321-38B7-B4FC65131F9A}"/>
          </ac:spMkLst>
        </pc:spChg>
        <pc:spChg chg="add del mod">
          <ac:chgData name="Alexandre Fillard Tonello" userId="90a2b2bc9d144f26" providerId="LiveId" clId="{C0F4290A-8936-4E1D-B827-4BB31B42AB5C}" dt="2026-09-28T11:25:55.866" v="889"/>
          <ac:spMkLst>
            <pc:docMk/>
            <pc:sldMk cId="0" sldId="259"/>
            <ac:spMk id="57" creationId="{D0121476-32A0-D59F-1E9E-D19CF85C93C5}"/>
          </ac:spMkLst>
        </pc:spChg>
        <pc:spChg chg="add del">
          <ac:chgData name="Alexandre Fillard Tonello" userId="90a2b2bc9d144f26" providerId="LiveId" clId="{C0F4290A-8936-4E1D-B827-4BB31B42AB5C}" dt="2026-09-28T11:26:20.914" v="891" actId="11529"/>
          <ac:spMkLst>
            <pc:docMk/>
            <pc:sldMk cId="0" sldId="259"/>
            <ac:spMk id="60" creationId="{90FE8D36-2FEB-9123-2425-52E0B74CE9BA}"/>
          </ac:spMkLst>
        </pc:spChg>
        <pc:spChg chg="add mod">
          <ac:chgData name="Alexandre Fillard Tonello" userId="90a2b2bc9d144f26" providerId="LiveId" clId="{C0F4290A-8936-4E1D-B827-4BB31B42AB5C}" dt="2026-09-28T11:35:58.531" v="1463" actId="207"/>
          <ac:spMkLst>
            <pc:docMk/>
            <pc:sldMk cId="0" sldId="259"/>
            <ac:spMk id="61" creationId="{DCFFA4CB-D5C5-B1EB-CFEB-C4A1F10C8AE5}"/>
          </ac:spMkLst>
        </pc:spChg>
        <pc:spChg chg="add del mod">
          <ac:chgData name="Alexandre Fillard Tonello" userId="90a2b2bc9d144f26" providerId="LiveId" clId="{C0F4290A-8936-4E1D-B827-4BB31B42AB5C}" dt="2026-09-28T11:32:24.209" v="1186" actId="478"/>
          <ac:spMkLst>
            <pc:docMk/>
            <pc:sldMk cId="0" sldId="259"/>
            <ac:spMk id="63" creationId="{E096C3FA-E0CE-5ADA-E4EB-8C8167DAC422}"/>
          </ac:spMkLst>
        </pc:spChg>
        <pc:spChg chg="add mod">
          <ac:chgData name="Alexandre Fillard Tonello" userId="90a2b2bc9d144f26" providerId="LiveId" clId="{C0F4290A-8936-4E1D-B827-4BB31B42AB5C}" dt="2026-09-28T11:36:05.123" v="1464" actId="207"/>
          <ac:spMkLst>
            <pc:docMk/>
            <pc:sldMk cId="0" sldId="259"/>
            <ac:spMk id="65" creationId="{ADACEE04-BFDA-421E-4375-50DCE65A2063}"/>
          </ac:spMkLst>
        </pc:spChg>
        <pc:spChg chg="add mod">
          <ac:chgData name="Alexandre Fillard Tonello" userId="90a2b2bc9d144f26" providerId="LiveId" clId="{C0F4290A-8936-4E1D-B827-4BB31B42AB5C}" dt="2026-09-28T11:35:46.009" v="1461" actId="1038"/>
          <ac:spMkLst>
            <pc:docMk/>
            <pc:sldMk cId="0" sldId="259"/>
            <ac:spMk id="67" creationId="{A1A84F14-41C6-CCBA-AAD4-31AB36A0AA7D}"/>
          </ac:spMkLst>
        </pc:spChg>
        <pc:spChg chg="add 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69" creationId="{15E59F02-923C-28A5-A59F-FDD7376FCD73}"/>
          </ac:spMkLst>
        </pc:spChg>
        <pc:spChg chg="add del mod">
          <ac:chgData name="Alexandre Fillard Tonello" userId="90a2b2bc9d144f26" providerId="LiveId" clId="{C0F4290A-8936-4E1D-B827-4BB31B42AB5C}" dt="2026-09-28T11:33:36.825" v="1343" actId="478"/>
          <ac:spMkLst>
            <pc:docMk/>
            <pc:sldMk cId="0" sldId="259"/>
            <ac:spMk id="71" creationId="{93AE1A00-3553-C1BF-4070-3723C59EFB7E}"/>
          </ac:spMkLst>
        </pc:spChg>
        <pc:spChg chg="add mod">
          <ac:chgData name="Alexandre Fillard Tonello" userId="90a2b2bc9d144f26" providerId="LiveId" clId="{C0F4290A-8936-4E1D-B827-4BB31B42AB5C}" dt="2026-09-28T11:36:22.530" v="1480" actId="1038"/>
          <ac:spMkLst>
            <pc:docMk/>
            <pc:sldMk cId="0" sldId="259"/>
            <ac:spMk id="73" creationId="{AE72DB20-F2E5-4EFE-EFA1-51E234BD09EE}"/>
          </ac:spMkLst>
        </pc:spChg>
        <pc:spChg chg="add mod">
          <ac:chgData name="Alexandre Fillard Tonello" userId="90a2b2bc9d144f26" providerId="LiveId" clId="{C0F4290A-8936-4E1D-B827-4BB31B42AB5C}" dt="2026-09-28T11:36:22.530" v="1480" actId="1038"/>
          <ac:spMkLst>
            <pc:docMk/>
            <pc:sldMk cId="0" sldId="259"/>
            <ac:spMk id="75" creationId="{6C21C8FF-6145-D0B2-8DCA-8945EA254C67}"/>
          </ac:spMkLst>
        </pc:spChg>
        <pc:spChg chg="add del mod">
          <ac:chgData name="Alexandre Fillard Tonello" userId="90a2b2bc9d144f26" providerId="LiveId" clId="{C0F4290A-8936-4E1D-B827-4BB31B42AB5C}" dt="2026-09-28T11:32:58.409" v="1246" actId="478"/>
          <ac:spMkLst>
            <pc:docMk/>
            <pc:sldMk cId="0" sldId="259"/>
            <ac:spMk id="77" creationId="{E5C4CABA-E7CC-0FE3-7B72-D6E0E7631EBB}"/>
          </ac:spMkLst>
        </pc:spChg>
        <pc:spChg chg="add mod">
          <ac:chgData name="Alexandre Fillard Tonello" userId="90a2b2bc9d144f26" providerId="LiveId" clId="{C0F4290A-8936-4E1D-B827-4BB31B42AB5C}" dt="2026-09-28T11:37:10.234" v="1548" actId="1035"/>
          <ac:spMkLst>
            <pc:docMk/>
            <pc:sldMk cId="0" sldId="259"/>
            <ac:spMk id="79" creationId="{0AF030E4-EC70-BE5C-28E7-B9ECC31485E3}"/>
          </ac:spMkLst>
        </pc:spChg>
        <pc:spChg chg="add mod">
          <ac:chgData name="Alexandre Fillard Tonello" userId="90a2b2bc9d144f26" providerId="LiveId" clId="{C0F4290A-8936-4E1D-B827-4BB31B42AB5C}" dt="2026-09-28T11:36:39.034" v="1496" actId="1037"/>
          <ac:spMkLst>
            <pc:docMk/>
            <pc:sldMk cId="0" sldId="259"/>
            <ac:spMk id="81" creationId="{53C07C94-242A-9986-5464-FBEE661812C1}"/>
          </ac:spMkLst>
        </pc:spChg>
        <pc:spChg chg="add mod">
          <ac:chgData name="Alexandre Fillard Tonello" userId="90a2b2bc9d144f26" providerId="LiveId" clId="{C0F4290A-8936-4E1D-B827-4BB31B42AB5C}" dt="2026-09-28T11:39:36.604" v="1622" actId="14100"/>
          <ac:spMkLst>
            <pc:docMk/>
            <pc:sldMk cId="0" sldId="259"/>
            <ac:spMk id="83" creationId="{298B61CA-F328-1BEB-B729-F5DC49E4C898}"/>
          </ac:spMkLst>
        </pc:spChg>
      </pc:sldChg>
      <pc:sldChg chg="modSp mod">
        <pc:chgData name="Alexandre Fillard Tonello" userId="90a2b2bc9d144f26" providerId="LiveId" clId="{C0F4290A-8936-4E1D-B827-4BB31B42AB5C}" dt="2026-09-28T11:38:37.973" v="1585" actId="27636"/>
        <pc:sldMkLst>
          <pc:docMk/>
          <pc:sldMk cId="0" sldId="260"/>
        </pc:sldMkLst>
        <pc:spChg chg="mod">
          <ac:chgData name="Alexandre Fillard Tonello" userId="90a2b2bc9d144f26" providerId="LiveId" clId="{C0F4290A-8936-4E1D-B827-4BB31B42AB5C}" dt="2026-09-28T11:38:37.973" v="1585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lexandre Fillard Tonello" userId="90a2b2bc9d144f26" providerId="LiveId" clId="{C0F4290A-8936-4E1D-B827-4BB31B42AB5C}" dt="2026-09-28T11:50:39.757" v="2587" actId="1036"/>
        <pc:sldMkLst>
          <pc:docMk/>
          <pc:sldMk cId="0" sldId="261"/>
        </pc:sldMkLst>
        <pc:spChg chg="mod">
          <ac:chgData name="Alexandre Fillard Tonello" userId="90a2b2bc9d144f26" providerId="LiveId" clId="{C0F4290A-8936-4E1D-B827-4BB31B42AB5C}" dt="2026-09-28T11:38:47.889" v="1597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50:39.757" v="2587" actId="1036"/>
          <ac:spMkLst>
            <pc:docMk/>
            <pc:sldMk cId="0" sldId="261"/>
            <ac:spMk id="32" creationId="{00000000-0000-0000-0000-000000000000}"/>
          </ac:spMkLst>
        </pc:spChg>
      </pc:sldChg>
      <pc:sldChg chg="modSp mod">
        <pc:chgData name="Alexandre Fillard Tonello" userId="90a2b2bc9d144f26" providerId="LiveId" clId="{C0F4290A-8936-4E1D-B827-4BB31B42AB5C}" dt="2026-09-28T11:39:04.370" v="1609" actId="20577"/>
        <pc:sldMkLst>
          <pc:docMk/>
          <pc:sldMk cId="0" sldId="262"/>
        </pc:sldMkLst>
        <pc:spChg chg="mod">
          <ac:chgData name="Alexandre Fillard Tonello" userId="90a2b2bc9d144f26" providerId="LiveId" clId="{C0F4290A-8936-4E1D-B827-4BB31B42AB5C}" dt="2026-09-28T11:39:04.370" v="1609" actId="20577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Alexandre Fillard Tonello" userId="90a2b2bc9d144f26" providerId="LiveId" clId="{C0F4290A-8936-4E1D-B827-4BB31B42AB5C}" dt="2026-09-28T11:37:58.847" v="1549" actId="47"/>
        <pc:sldMkLst>
          <pc:docMk/>
          <pc:sldMk cId="0" sldId="263"/>
        </pc:sldMkLst>
      </pc:sldChg>
      <pc:sldChg chg="modSp mod">
        <pc:chgData name="Alexandre Fillard Tonello" userId="90a2b2bc9d144f26" providerId="LiveId" clId="{C0F4290A-8936-4E1D-B827-4BB31B42AB5C}" dt="2026-09-28T11:39:12.025" v="1621" actId="20577"/>
        <pc:sldMkLst>
          <pc:docMk/>
          <pc:sldMk cId="0" sldId="264"/>
        </pc:sldMkLst>
        <pc:spChg chg="mod">
          <ac:chgData name="Alexandre Fillard Tonello" userId="90a2b2bc9d144f26" providerId="LiveId" clId="{C0F4290A-8936-4E1D-B827-4BB31B42AB5C}" dt="2026-09-28T11:39:12.025" v="1621" actId="20577"/>
          <ac:spMkLst>
            <pc:docMk/>
            <pc:sldMk cId="0" sldId="264"/>
            <ac:spMk id="3" creationId="{00000000-0000-0000-0000-000000000000}"/>
          </ac:spMkLst>
        </pc:spChg>
      </pc:sldChg>
      <pc:sldChg chg="del ord">
        <pc:chgData name="Alexandre Fillard Tonello" userId="90a2b2bc9d144f26" providerId="LiveId" clId="{C0F4290A-8936-4E1D-B827-4BB31B42AB5C}" dt="2026-09-28T12:08:23.146" v="3317" actId="47"/>
        <pc:sldMkLst>
          <pc:docMk/>
          <pc:sldMk cId="0" sldId="265"/>
        </pc:sldMkLst>
      </pc:sldChg>
      <pc:sldChg chg="delSp modSp mod ord">
        <pc:chgData name="Alexandre Fillard Tonello" userId="90a2b2bc9d144f26" providerId="LiveId" clId="{C0F4290A-8936-4E1D-B827-4BB31B42AB5C}" dt="2026-09-28T12:05:46.324" v="3204" actId="20577"/>
        <pc:sldMkLst>
          <pc:docMk/>
          <pc:sldMk cId="0" sldId="266"/>
        </pc:sldMkLst>
        <pc:spChg chg="mod">
          <ac:chgData name="Alexandre Fillard Tonello" userId="90a2b2bc9d144f26" providerId="LiveId" clId="{C0F4290A-8936-4E1D-B827-4BB31B42AB5C}" dt="2026-09-28T12:05:46.324" v="3204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Alexandre Fillard Tonello" userId="90a2b2bc9d144f26" providerId="LiveId" clId="{C0F4290A-8936-4E1D-B827-4BB31B42AB5C}" dt="2026-09-28T11:48:09.578" v="2439" actId="478"/>
          <ac:spMkLst>
            <pc:docMk/>
            <pc:sldMk cId="0" sldId="266"/>
            <ac:spMk id="8" creationId="{00000000-0000-0000-0000-000000000000}"/>
          </ac:spMkLst>
        </pc:spChg>
        <pc:spChg chg="del mod">
          <ac:chgData name="Alexandre Fillard Tonello" userId="90a2b2bc9d144f26" providerId="LiveId" clId="{C0F4290A-8936-4E1D-B827-4BB31B42AB5C}" dt="2026-09-28T11:49:13.658" v="2455" actId="478"/>
          <ac:spMkLst>
            <pc:docMk/>
            <pc:sldMk cId="0" sldId="266"/>
            <ac:spMk id="9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21.267" v="2458" actId="1038"/>
          <ac:spMkLst>
            <pc:docMk/>
            <pc:sldMk cId="0" sldId="266"/>
            <ac:spMk id="10" creationId="{00000000-0000-0000-0000-000000000000}"/>
          </ac:spMkLst>
        </pc:spChg>
        <pc:spChg chg="del mod">
          <ac:chgData name="Alexandre Fillard Tonello" userId="90a2b2bc9d144f26" providerId="LiveId" clId="{C0F4290A-8936-4E1D-B827-4BB31B42AB5C}" dt="2026-09-28T11:48:44.346" v="2447" actId="478"/>
          <ac:spMkLst>
            <pc:docMk/>
            <pc:sldMk cId="0" sldId="266"/>
            <ac:spMk id="11" creationId="{00000000-0000-0000-0000-000000000000}"/>
          </ac:spMkLst>
        </pc:spChg>
        <pc:spChg chg="del mod">
          <ac:chgData name="Alexandre Fillard Tonello" userId="90a2b2bc9d144f26" providerId="LiveId" clId="{C0F4290A-8936-4E1D-B827-4BB31B42AB5C}" dt="2026-09-28T11:49:16.114" v="2456" actId="478"/>
          <ac:spMkLst>
            <pc:docMk/>
            <pc:sldMk cId="0" sldId="266"/>
            <ac:spMk id="12" creationId="{00000000-0000-0000-0000-000000000000}"/>
          </ac:spMkLst>
        </pc:spChg>
        <pc:spChg chg="del mod">
          <ac:chgData name="Alexandre Fillard Tonello" userId="90a2b2bc9d144f26" providerId="LiveId" clId="{C0F4290A-8936-4E1D-B827-4BB31B42AB5C}" dt="2026-09-28T11:49:17.610" v="2457" actId="478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6:59.846" v="2309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6:50.106" v="2293" actId="1410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6:25.302" v="2160" actId="14100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5:53.808" v="2050" actId="1410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5:22.712" v="1920" actId="14100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5:44.490" v="2014" actId="1038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34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38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39" creationId="{00000000-0000-0000-0000-000000000000}"/>
          </ac:spMkLst>
        </pc:spChg>
        <pc:spChg chg="mod">
          <ac:chgData name="Alexandre Fillard Tonello" userId="90a2b2bc9d144f26" providerId="LiveId" clId="{C0F4290A-8936-4E1D-B827-4BB31B42AB5C}" dt="2026-09-28T11:49:35.771" v="2502" actId="1036"/>
          <ac:spMkLst>
            <pc:docMk/>
            <pc:sldMk cId="0" sldId="266"/>
            <ac:spMk id="44" creationId="{00000000-0000-0000-0000-000000000000}"/>
          </ac:spMkLst>
        </pc:spChg>
      </pc:sldChg>
      <pc:sldChg chg="modSp mod">
        <pc:chgData name="Alexandre Fillard Tonello" userId="90a2b2bc9d144f26" providerId="LiveId" clId="{C0F4290A-8936-4E1D-B827-4BB31B42AB5C}" dt="2026-09-28T11:51:08.443" v="2600" actId="20577"/>
        <pc:sldMkLst>
          <pc:docMk/>
          <pc:sldMk cId="0" sldId="269"/>
        </pc:sldMkLst>
        <pc:spChg chg="mod">
          <ac:chgData name="Alexandre Fillard Tonello" userId="90a2b2bc9d144f26" providerId="LiveId" clId="{C0F4290A-8936-4E1D-B827-4BB31B42AB5C}" dt="2026-09-28T11:51:08.443" v="2600" actId="20577"/>
          <ac:spMkLst>
            <pc:docMk/>
            <pc:sldMk cId="0" sldId="269"/>
            <ac:spMk id="3" creationId="{00000000-0000-0000-0000-000000000000}"/>
          </ac:spMkLst>
        </pc:spChg>
      </pc:sldChg>
      <pc:sldChg chg="ord">
        <pc:chgData name="Alexandre Fillard Tonello" userId="90a2b2bc9d144f26" providerId="LiveId" clId="{C0F4290A-8936-4E1D-B827-4BB31B42AB5C}" dt="2026-09-28T12:08:41.332" v="3321"/>
        <pc:sldMkLst>
          <pc:docMk/>
          <pc:sldMk cId="0" sldId="271"/>
        </pc:sldMkLst>
      </pc:sldChg>
      <pc:sldChg chg="addSp delSp modSp add mod ord">
        <pc:chgData name="Alexandre Fillard Tonello" userId="90a2b2bc9d144f26" providerId="LiveId" clId="{C0F4290A-8936-4E1D-B827-4BB31B42AB5C}" dt="2026-09-28T12:23:57.965" v="3667" actId="478"/>
        <pc:sldMkLst>
          <pc:docMk/>
          <pc:sldMk cId="1680611231" sldId="273"/>
        </pc:sldMkLst>
        <pc:spChg chg="mod">
          <ac:chgData name="Alexandre Fillard Tonello" userId="90a2b2bc9d144f26" providerId="LiveId" clId="{C0F4290A-8936-4E1D-B827-4BB31B42AB5C}" dt="2026-09-28T12:07:34.378" v="3288" actId="1076"/>
          <ac:spMkLst>
            <pc:docMk/>
            <pc:sldMk cId="1680611231" sldId="273"/>
            <ac:spMk id="2" creationId="{C73423E8-B2D7-66AE-5697-F22D35227F0B}"/>
          </ac:spMkLst>
        </pc:spChg>
        <pc:spChg chg="add del mod">
          <ac:chgData name="Alexandre Fillard Tonello" userId="90a2b2bc9d144f26" providerId="LiveId" clId="{C0F4290A-8936-4E1D-B827-4BB31B42AB5C}" dt="2026-09-28T12:04:46.908" v="3175" actId="478"/>
          <ac:spMkLst>
            <pc:docMk/>
            <pc:sldMk cId="1680611231" sldId="273"/>
            <ac:spMk id="3" creationId="{1E2DDFF3-E9CB-AEA1-5ACE-339548954AB7}"/>
          </ac:spMkLst>
        </pc:spChg>
        <pc:spChg chg="mod">
          <ac:chgData name="Alexandre Fillard Tonello" userId="90a2b2bc9d144f26" providerId="LiveId" clId="{C0F4290A-8936-4E1D-B827-4BB31B42AB5C}" dt="2026-09-28T12:23:51.965" v="3666" actId="20577"/>
          <ac:spMkLst>
            <pc:docMk/>
            <pc:sldMk cId="1680611231" sldId="273"/>
            <ac:spMk id="6" creationId="{91846D93-41C3-F339-E4BC-058EF4EE9626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9" creationId="{387DAC6A-8BF7-0A0C-8DD6-67768103D6C8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27" creationId="{F5A17115-5052-A948-A7B9-4F337C90BB99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33" creationId="{31434BA5-8087-4B90-48EB-48D42CDA0C74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35" creationId="{7AFAA3EB-07B5-924D-70CC-EFB7FB78E6C4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39" creationId="{F27CD919-5E4A-C0A7-7437-BA851D64141C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47" creationId="{A1BAB22C-4545-4AA8-06CD-5C25A55E994F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48" creationId="{FC779904-59AD-41F5-A05E-43B7202ED914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53" creationId="{FDED0F1F-0F84-1C1C-ADBC-E34F85621E5C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59" creationId="{986F2883-DC35-D215-D318-CEAAE235E876}"/>
          </ac:spMkLst>
        </pc:spChg>
        <pc:spChg chg="del">
          <ac:chgData name="Alexandre Fillard Tonello" userId="90a2b2bc9d144f26" providerId="LiveId" clId="{C0F4290A-8936-4E1D-B827-4BB31B42AB5C}" dt="2026-09-28T11:52:07.796" v="2604" actId="478"/>
          <ac:spMkLst>
            <pc:docMk/>
            <pc:sldMk cId="1680611231" sldId="273"/>
            <ac:spMk id="65" creationId="{5CA694C5-ED6C-4601-FBA6-1508E8B72375}"/>
          </ac:spMkLst>
        </pc:spChg>
        <pc:spChg chg="del">
          <ac:chgData name="Alexandre Fillard Tonello" userId="90a2b2bc9d144f26" providerId="LiveId" clId="{C0F4290A-8936-4E1D-B827-4BB31B42AB5C}" dt="2026-09-28T12:23:57.965" v="3667" actId="478"/>
          <ac:spMkLst>
            <pc:docMk/>
            <pc:sldMk cId="1680611231" sldId="273"/>
            <ac:spMk id="74" creationId="{DD521667-0299-6EFA-E9E2-244884172D60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76" creationId="{0FCCC956-C6B3-9FEC-1CE1-071CDC541B9B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78" creationId="{969552D2-B768-B410-493E-C124036BEC09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80" creationId="{2A30B81A-1FE6-0C5C-1608-CD9BD8F70092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82" creationId="{107FFA77-9641-18C4-7037-4F085FA0CC48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84" creationId="{54FEB71D-35A6-0F44-E283-BB3875347C0E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86" creationId="{F1147681-A08F-FA7C-3B9E-DC75207115FA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88" creationId="{1BF928FE-411D-3886-7E17-DE1F53BCEAAE}"/>
          </ac:spMkLst>
        </pc:spChg>
        <pc:spChg chg="add del mod">
          <ac:chgData name="Alexandre Fillard Tonello" userId="90a2b2bc9d144f26" providerId="LiveId" clId="{C0F4290A-8936-4E1D-B827-4BB31B42AB5C}" dt="2026-09-28T11:53:57.034" v="2619" actId="478"/>
          <ac:spMkLst>
            <pc:docMk/>
            <pc:sldMk cId="1680611231" sldId="273"/>
            <ac:spMk id="92" creationId="{13BDCD9E-8583-24A8-2398-9E414F2272E4}"/>
          </ac:spMkLst>
        </pc:spChg>
        <pc:spChg chg="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96" creationId="{6C06C325-E055-3191-6A3C-82C645D9C033}"/>
          </ac:spMkLst>
        </pc:spChg>
        <pc:spChg chg="del">
          <ac:chgData name="Alexandre Fillard Tonello" userId="90a2b2bc9d144f26" providerId="LiveId" clId="{C0F4290A-8936-4E1D-B827-4BB31B42AB5C}" dt="2026-09-28T11:53:57.034" v="2619" actId="478"/>
          <ac:spMkLst>
            <pc:docMk/>
            <pc:sldMk cId="1680611231" sldId="273"/>
            <ac:spMk id="100" creationId="{430CE25B-8595-3D3F-736F-50763B0EF085}"/>
          </ac:spMkLst>
        </pc:spChg>
        <pc:spChg chg="add 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04" creationId="{9FDABA95-8A65-8626-2E8F-BED78A91BB2C}"/>
          </ac:spMkLst>
        </pc:spChg>
        <pc:spChg chg="add del mod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06" creationId="{750173F4-65A1-3CF4-0F2A-39B4A1A4DDB3}"/>
          </ac:spMkLst>
        </pc:spChg>
        <pc:spChg chg="del">
          <ac:chgData name="Alexandre Fillard Tonello" userId="90a2b2bc9d144f26" providerId="LiveId" clId="{C0F4290A-8936-4E1D-B827-4BB31B42AB5C}" dt="2026-09-28T11:53:57.034" v="2619" actId="478"/>
          <ac:spMkLst>
            <pc:docMk/>
            <pc:sldMk cId="1680611231" sldId="273"/>
            <ac:spMk id="108" creationId="{49256F2A-8680-A826-BCB2-EF54987FD5D3}"/>
          </ac:spMkLst>
        </pc:spChg>
        <pc:spChg chg="add 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10" creationId="{41159AF4-E015-12AC-0AB7-93B261B0AE1A}"/>
          </ac:spMkLst>
        </pc:spChg>
        <pc:spChg chg="del">
          <ac:chgData name="Alexandre Fillard Tonello" userId="90a2b2bc9d144f26" providerId="LiveId" clId="{C0F4290A-8936-4E1D-B827-4BB31B42AB5C}" dt="2026-09-28T11:53:57.034" v="2619" actId="478"/>
          <ac:spMkLst>
            <pc:docMk/>
            <pc:sldMk cId="1680611231" sldId="273"/>
            <ac:spMk id="114" creationId="{671A0378-4068-3EE4-7CB0-D7CBC1298D94}"/>
          </ac:spMkLst>
        </pc:spChg>
        <pc:spChg chg="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16" creationId="{B0C7C094-9FA3-ED69-0608-322D7E4A0FF2}"/>
          </ac:spMkLst>
        </pc:spChg>
        <pc:spChg chg="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18" creationId="{DFF5CBCF-811F-6030-56D3-18F54C91EBFC}"/>
          </ac:spMkLst>
        </pc:spChg>
        <pc:spChg chg="del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20" creationId="{6A5DC723-C3A6-FF42-ADB1-AB3886178571}"/>
          </ac:spMkLst>
        </pc:spChg>
        <pc:spChg chg="del">
          <ac:chgData name="Alexandre Fillard Tonello" userId="90a2b2bc9d144f26" providerId="LiveId" clId="{C0F4290A-8936-4E1D-B827-4BB31B42AB5C}" dt="2026-09-28T11:53:57.034" v="2619" actId="478"/>
          <ac:spMkLst>
            <pc:docMk/>
            <pc:sldMk cId="1680611231" sldId="273"/>
            <ac:spMk id="122" creationId="{145A8972-524E-7DEB-C3B0-813996FFFFEE}"/>
          </ac:spMkLst>
        </pc:spChg>
        <pc:spChg chg="del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26" creationId="{3A92A712-F8D3-CBFF-6E3F-F69604080D7D}"/>
          </ac:spMkLst>
        </pc:spChg>
        <pc:spChg chg="add del mod">
          <ac:chgData name="Alexandre Fillard Tonello" userId="90a2b2bc9d144f26" providerId="LiveId" clId="{C0F4290A-8936-4E1D-B827-4BB31B42AB5C}" dt="2026-09-28T11:53:57.034" v="2619" actId="478"/>
          <ac:spMkLst>
            <pc:docMk/>
            <pc:sldMk cId="1680611231" sldId="273"/>
            <ac:spMk id="128" creationId="{B0D050E1-B8E3-0C12-C289-12BADB91351A}"/>
          </ac:spMkLst>
        </pc:spChg>
        <pc:spChg chg="del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34" creationId="{929C24D3-A673-57C3-FA9E-EBEE6906757F}"/>
          </ac:spMkLst>
        </pc:spChg>
        <pc:spChg chg="del">
          <ac:chgData name="Alexandre Fillard Tonello" userId="90a2b2bc9d144f26" providerId="LiveId" clId="{C0F4290A-8936-4E1D-B827-4BB31B42AB5C}" dt="2026-09-28T11:53:57.034" v="2619" actId="478"/>
          <ac:spMkLst>
            <pc:docMk/>
            <pc:sldMk cId="1680611231" sldId="273"/>
            <ac:spMk id="136" creationId="{D2A53E0F-0F66-A1D7-E815-60425FE4544C}"/>
          </ac:spMkLst>
        </pc:spChg>
        <pc:spChg chg="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38" creationId="{E0C9B88F-2874-1976-1E3F-6DF2A8FBD1D2}"/>
          </ac:spMkLst>
        </pc:spChg>
        <pc:spChg chg="del">
          <ac:chgData name="Alexandre Fillard Tonello" userId="90a2b2bc9d144f26" providerId="LiveId" clId="{C0F4290A-8936-4E1D-B827-4BB31B42AB5C}" dt="2026-09-28T11:54:45.403" v="2628" actId="478"/>
          <ac:spMkLst>
            <pc:docMk/>
            <pc:sldMk cId="1680611231" sldId="273"/>
            <ac:spMk id="140" creationId="{7AC39CD0-09DC-365B-8078-CB1F162D2795}"/>
          </ac:spMkLst>
        </pc:spChg>
        <pc:spChg chg="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42" creationId="{34B837B0-7EC4-8D9C-528D-193A995D9D20}"/>
          </ac:spMkLst>
        </pc:spChg>
        <pc:spChg chg="add mod">
          <ac:chgData name="Alexandre Fillard Tonello" userId="90a2b2bc9d144f26" providerId="LiveId" clId="{C0F4290A-8936-4E1D-B827-4BB31B42AB5C}" dt="2026-09-28T11:52:32.640" v="2608" actId="207"/>
          <ac:spMkLst>
            <pc:docMk/>
            <pc:sldMk cId="1680611231" sldId="273"/>
            <ac:spMk id="144" creationId="{ACFC1379-3F16-F3F5-882C-57AD68F14F87}"/>
          </ac:spMkLst>
        </pc:spChg>
        <pc:spChg chg="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46" creationId="{EE243751-4F9E-EFC5-CC53-898B5CDA1E60}"/>
          </ac:spMkLst>
        </pc:spChg>
        <pc:spChg chg="add mod">
          <ac:chgData name="Alexandre Fillard Tonello" userId="90a2b2bc9d144f26" providerId="LiveId" clId="{C0F4290A-8936-4E1D-B827-4BB31B42AB5C}" dt="2026-09-28T11:52:32.640" v="2608" actId="207"/>
          <ac:spMkLst>
            <pc:docMk/>
            <pc:sldMk cId="1680611231" sldId="273"/>
            <ac:spMk id="148" creationId="{2E7B02CF-CC20-D57F-AFD7-3208CDAB641C}"/>
          </ac:spMkLst>
        </pc:spChg>
        <pc:spChg chg="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50" creationId="{3B215468-C52A-769D-7F1D-D8AAD79B6D47}"/>
          </ac:spMkLst>
        </pc:spChg>
        <pc:spChg chg="add mod">
          <ac:chgData name="Alexandre Fillard Tonello" userId="90a2b2bc9d144f26" providerId="LiveId" clId="{C0F4290A-8936-4E1D-B827-4BB31B42AB5C}" dt="2026-09-28T11:52:32.640" v="2608" actId="207"/>
          <ac:spMkLst>
            <pc:docMk/>
            <pc:sldMk cId="1680611231" sldId="273"/>
            <ac:spMk id="152" creationId="{7A13523C-CE0D-03E2-B393-3CD8040C57E1}"/>
          </ac:spMkLst>
        </pc:spChg>
        <pc:spChg chg="add mod">
          <ac:chgData name="Alexandre Fillard Tonello" userId="90a2b2bc9d144f26" providerId="LiveId" clId="{C0F4290A-8936-4E1D-B827-4BB31B42AB5C}" dt="2026-09-28T11:52:32.640" v="2608" actId="207"/>
          <ac:spMkLst>
            <pc:docMk/>
            <pc:sldMk cId="1680611231" sldId="273"/>
            <ac:spMk id="154" creationId="{F50BD7CA-7174-FA6B-C29C-95E422CD83CB}"/>
          </ac:spMkLst>
        </pc:spChg>
        <pc:spChg chg="del mod">
          <ac:chgData name="Alexandre Fillard Tonello" userId="90a2b2bc9d144f26" providerId="LiveId" clId="{C0F4290A-8936-4E1D-B827-4BB31B42AB5C}" dt="2026-09-28T11:55:08.691" v="2629" actId="478"/>
          <ac:spMkLst>
            <pc:docMk/>
            <pc:sldMk cId="1680611231" sldId="273"/>
            <ac:spMk id="156" creationId="{7C3AB3EA-A1EE-BF13-6B2C-3357F1E43572}"/>
          </ac:spMkLst>
        </pc:spChg>
        <pc:spChg chg="add mod">
          <ac:chgData name="Alexandre Fillard Tonello" userId="90a2b2bc9d144f26" providerId="LiveId" clId="{C0F4290A-8936-4E1D-B827-4BB31B42AB5C}" dt="2026-09-28T11:52:32.640" v="2608" actId="207"/>
          <ac:spMkLst>
            <pc:docMk/>
            <pc:sldMk cId="1680611231" sldId="273"/>
            <ac:spMk id="158" creationId="{1FC21CB8-ED3C-8B3E-6768-3243DABAEFE2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160" creationId="{BA8C4385-F612-3273-3711-FEEB838749E2}"/>
          </ac:spMkLst>
        </pc:spChg>
        <pc:spChg chg="mod">
          <ac:chgData name="Alexandre Fillard Tonello" userId="90a2b2bc9d144f26" providerId="LiveId" clId="{C0F4290A-8936-4E1D-B827-4BB31B42AB5C}" dt="2026-09-28T11:53:23.067" v="2618" actId="207"/>
          <ac:spMkLst>
            <pc:docMk/>
            <pc:sldMk cId="1680611231" sldId="273"/>
            <ac:spMk id="164" creationId="{4C736771-B975-0597-D6EA-2E779143BC4B}"/>
          </ac:spMkLst>
        </pc:spChg>
        <pc:spChg chg="add del mod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70" creationId="{5417405B-0D2B-9CF4-E18A-1AF32E646D7A}"/>
          </ac:spMkLst>
        </pc:spChg>
        <pc:spChg chg="add del mod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72" creationId="{90E365D9-80DD-446D-32EF-0723AEEF198F}"/>
          </ac:spMkLst>
        </pc:spChg>
        <pc:spChg chg="add del mod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74" creationId="{D648DD4B-CCD0-5A6D-E462-99B885E362E6}"/>
          </ac:spMkLst>
        </pc:spChg>
        <pc:spChg chg="add mod">
          <ac:chgData name="Alexandre Fillard Tonello" userId="90a2b2bc9d144f26" providerId="LiveId" clId="{C0F4290A-8936-4E1D-B827-4BB31B42AB5C}" dt="2026-09-28T11:54:33.721" v="2624" actId="207"/>
          <ac:spMkLst>
            <pc:docMk/>
            <pc:sldMk cId="1680611231" sldId="273"/>
            <ac:spMk id="176" creationId="{9FE6B603-45A7-3DF4-6132-21DA0F08DA2C}"/>
          </ac:spMkLst>
        </pc:spChg>
        <pc:spChg chg="add del mod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78" creationId="{6AEEB90E-D036-8FAC-EE77-10CBA9005154}"/>
          </ac:spMkLst>
        </pc:spChg>
        <pc:spChg chg="add del mod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80" creationId="{A9292B1E-A6FD-EDF6-E3B3-AAA47C3A7CEF}"/>
          </ac:spMkLst>
        </pc:spChg>
        <pc:spChg chg="add del mod">
          <ac:chgData name="Alexandre Fillard Tonello" userId="90a2b2bc9d144f26" providerId="LiveId" clId="{C0F4290A-8936-4E1D-B827-4BB31B42AB5C}" dt="2026-09-28T11:57:47.811" v="2760" actId="478"/>
          <ac:spMkLst>
            <pc:docMk/>
            <pc:sldMk cId="1680611231" sldId="273"/>
            <ac:spMk id="182" creationId="{FD963241-00F3-7CFD-F913-D2299EE86E8E}"/>
          </ac:spMkLst>
        </pc:spChg>
        <pc:spChg chg="add mod ord">
          <ac:chgData name="Alexandre Fillard Tonello" userId="90a2b2bc9d144f26" providerId="LiveId" clId="{C0F4290A-8936-4E1D-B827-4BB31B42AB5C}" dt="2026-09-28T12:06:01.602" v="3205" actId="167"/>
          <ac:spMkLst>
            <pc:docMk/>
            <pc:sldMk cId="1680611231" sldId="273"/>
            <ac:spMk id="187" creationId="{6FA28827-6332-1C07-317B-585202699366}"/>
          </ac:spMkLst>
        </pc:spChg>
        <pc:graphicFrameChg chg="add mod modGraphic">
          <ac:chgData name="Alexandre Fillard Tonello" userId="90a2b2bc9d144f26" providerId="LiveId" clId="{C0F4290A-8936-4E1D-B827-4BB31B42AB5C}" dt="2026-09-28T12:13:58.708" v="3527" actId="1037"/>
          <ac:graphicFrameMkLst>
            <pc:docMk/>
            <pc:sldMk cId="1680611231" sldId="273"/>
            <ac:graphicFrameMk id="183" creationId="{2965071D-C75E-4050-3E0C-81C37AFF6753}"/>
          </ac:graphicFrameMkLst>
        </pc:graphicFrameChg>
        <pc:graphicFrameChg chg="add mod modGraphic">
          <ac:chgData name="Alexandre Fillard Tonello" userId="90a2b2bc9d144f26" providerId="LiveId" clId="{C0F4290A-8936-4E1D-B827-4BB31B42AB5C}" dt="2026-09-28T12:16:08.109" v="3632" actId="20577"/>
          <ac:graphicFrameMkLst>
            <pc:docMk/>
            <pc:sldMk cId="1680611231" sldId="273"/>
            <ac:graphicFrameMk id="185" creationId="{29EC866E-0FC1-1A2C-595F-05DC8460105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79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Esta apresentação é para quem vai comprar uma empresa: como a casa avalia o alvo, conduz a negociação e coordena a diligência.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frentes que se encaixam do lado de quem compra. O laudo continua sendo a base: sem ele não há teto de preço defensável.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Boutique, não plataforma. Do lado do comprador, a diferença aparece na mesa: quem sustenta o preço e quem responde pela diligência.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em sete etapas. As durações são indicativas — o que define o ritmo é a disponibilidade de informação do vendedor.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tese é o filtro. Sem ela, a busca vira coleção de anúncios.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NDA é o que abre a informação. Do lado do comprador, é também o compromisso que dá credibilidade à abordagem.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método dos laudos da casa. As três abordagens são testadas em todo mandato; as que os dados não sustentam são descartadas por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MoU registra o que foi combinado e abre a diligência. Quase tudo é não vinculante — exceto exclusividade, sigilo e custos.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etapas, de seis a doze semanas numa PME com informação organizada. A última é a que dá sentido às outras: transformar achado em preço e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Assinatura, fechamento e transição. A redação é do seu advogado; a estrutura do preço é trabalho conjunto.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assina. Alexandre responde pela avaliação e pela diligência financeira; Felipe pela busca, abordagem e negociação.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9A4F-6F4C-9C31-F664-380F91F8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6EDC0-EF69-AC9F-8F3F-ED2D2F067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0A293-27EF-5E8B-8B53-18F4B1A01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 internas (não exibir). RETAINER (tese ao MoU): R$ 5 mil (tese, busca e abordagem até o NDA) + R$ 10 mil (modelagem, o preço avulso do modelo da casa) = R$ 15 mil, creditado do êxito, igual nos dois portes. Racional: o fixo da tese ao MoU deve bancar o custo caso o cliente desista, sem ficar acima do preço avulso do modelo. Estimativa (sem fonte): 180–360 h até o MoU, ou R$ 42–83 por hora. Referências de mercado ficaram acima (laudo de boutique R$ 15–30 mil para faturamento de R$ 4,8–20 mi e R$ 35–85 mil para R$ 20–100 mi; retainers de buy-side nos EUA de US$ 8–15 mil por mês em programas de busca): a escolha foi limitar o fixo pelo preço avulso de R$ 10 mil da modelagem. SIMULAÇÃO (uma empresa, sem a DD contábil e jurídica dos parceiros): alvo R$ 6 mi pago por R$ 5,6 mi e alvo R$ 20 mi pago por R$ 18,6 mi. Desiste no MoU: R$ 15 mil. Desiste após a DD: R$ 55 mil (até R$ 10 mi) e R$ 95 mil (R$ 10–50 mi). Fecha: êxito de R$ 236 mil e R$ 512 mil, mais DD de R$ 40 mil e R$ 80 mil, total ~R$ 276 mil (4,9% do preço) e ~R$ 592 mil (3,2%). ÊXITO: taxa por porte, definido pelo preço-alvo do laudo fixado antes da abordagem (a taxa não muda com o preço final, sem incentivo perverso). Até R$ 10 mi: 3,5% do preço + 10% da economia; R$ 10–50 mi: 2,0% + 10%. Referência: tabela de intermediação de empresas de um portal brasileiro (não oficial; vendedor/corretores): R$ 2–10 mi 4–6% (exclusivo 4–5%); R$ 10–50 mi 2–4% (exclusivo 2–3%). Buy-side costuma cobrar menos que sell-side (fontes americanas citam 0,5–2%, sem isolar deals pequenos). Efetivo típico com preço 5–10% abaixo do alvo: ~4,3% (até R$ 10 mi) e ~2,8% (R$ 10–50 mi). DD FINANCEIRA + OPERACIONAL + COORDENAÇÃO: R$ 40 mil (até R$ 10 mi) e R$ 80 mil (R$ 10–50 mi) para 1 empresa; empresas adicionais a 75% (R$ 30 mil / R$ 60 mil). São estimativas minhas: ~150–220 h e ~280–440 h x R$ 200–300/h (faixa de R$ 150–600/h de fonte fraca), com a fatia da T&amp;S assumida em ~45% da DD total (suposição). Cross-check de mercado (fontes comerciais): DD total no Brasil, banca jurídica, indicativo: faturamento até R$ 5 mi R$ 15–40 mil; R$ 5–50 mi R$ 40–150 mil; acima de R$ 50 mi R$ 150–500 mil+. EUA: QoE US$ 25–35 mil (receita &lt; US$ 10 mi) contra US$ 60 mil+ (maiores); DD total US$ 25–75 mil (&lt; US$ 10 mi) contra US$ 50–200 mil (US$ 10–50 mi). O preço sobe com o porte em valor absoluto e cai em % do valor do negócio. Regime de caixa e cada entidade extra encarecem (fonte americana: +20–50% e +US$ 5–15 mil). PRAZOS: 6–8 semanas padrão (fontes americanas); 30–45 dias em médias e 60–90 em grandes (banca brasileira); +1 mês por empresa adicional é julgamento. 4 ou mais empresas sob consulta: capacidade (5 DDs em ~4 meses = ~30–70 h/semana só de DD). Calibrar tudo com o HH real de projetos comparáveis.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BB55-F077-E7FE-EC47-6CD3AB3D5F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87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 e contato.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0E2438">
                  <a:alpha val="100000"/>
                </a:srgbClr>
              </a:gs>
              <a:gs pos="45000">
                <a:srgbClr val="173A59">
                  <a:alpha val="100000"/>
                </a:srgbClr>
              </a:gs>
              <a:gs pos="72000">
                <a:srgbClr val="245078">
                  <a:alpha val="100000"/>
                </a:srgbClr>
              </a:gs>
              <a:gs pos="100000">
                <a:srgbClr val="356C9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17000"/>
                </a:srgbClr>
              </a:gs>
              <a:gs pos="55000">
                <a:srgbClr val="D4AF6A">
                  <a:alpha val="0"/>
                </a:srgbClr>
              </a:gs>
            </a:gsLst>
            <a:path path="circle">
              <a:fillToRect l="88000" r="12000" b="100000"/>
            </a:path>
          </a:gradFill>
          <a:ln/>
        </p:spPr>
        <p:txBody>
          <a:bodyPr/>
          <a:lstStyle/>
          <a:p>
            <a:endParaRPr lang="en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3000"/>
          </a:blip>
          <a:stretch>
            <a:fillRect/>
          </a:stretch>
        </p:blipFill>
        <p:spPr>
          <a:xfrm>
            <a:off x="8046699" y="-514301"/>
            <a:ext cx="11338472" cy="10729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92586" y="0"/>
            <a:ext cx="9525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0"/>
                </a:srgbClr>
              </a:gs>
              <a:gs pos="30000">
                <a:srgbClr val="D4AF6A">
                  <a:alpha val="35000"/>
                </a:srgbClr>
              </a:gs>
              <a:gs pos="70000">
                <a:srgbClr val="D4AF6A">
                  <a:alpha val="35000"/>
                </a:srgbClr>
              </a:gs>
              <a:gs pos="100000">
                <a:srgbClr val="D4AF6A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7" y="914344"/>
            <a:ext cx="4152859" cy="49500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2997" y="3983305"/>
            <a:ext cx="400042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4"/>
          <p:cNvSpPr/>
          <p:nvPr/>
        </p:nvSpPr>
        <p:spPr>
          <a:xfrm>
            <a:off x="1714428" y="3848055"/>
            <a:ext cx="4793959" cy="327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756"/>
              </a:lnSpc>
              <a:buNone/>
            </a:pPr>
            <a:r>
              <a:rPr lang="en-US" sz="1425" b="1" kern="0" spc="242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E COMPRA DE EMPRESAS</a:t>
            </a:r>
            <a:endParaRPr lang="en-US" sz="1425" dirty="0"/>
          </a:p>
        </p:txBody>
      </p:sp>
      <p:sp>
        <p:nvSpPr>
          <p:cNvPr id="9" name="Text 5"/>
          <p:cNvSpPr/>
          <p:nvPr/>
        </p:nvSpPr>
        <p:spPr>
          <a:xfrm>
            <a:off x="1142997" y="4461399"/>
            <a:ext cx="11272180" cy="1860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0936"/>
              </a:lnSpc>
              <a:buNone/>
            </a:pPr>
            <a:r>
              <a:rPr lang="pt-BR" sz="7800" kern="0" spc="-117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 técnico em </a:t>
            </a:r>
            <a:r>
              <a:rPr lang="pt-BR" sz="7800" i="1" kern="0" spc="-117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aquisição.</a:t>
            </a:r>
            <a:endParaRPr lang="pt-BR" sz="7800" dirty="0"/>
          </a:p>
        </p:txBody>
      </p:sp>
      <p:sp>
        <p:nvSpPr>
          <p:cNvPr id="10" name="Text 6"/>
          <p:cNvSpPr/>
          <p:nvPr/>
        </p:nvSpPr>
        <p:spPr>
          <a:xfrm>
            <a:off x="1142997" y="6722191"/>
            <a:ext cx="8308811" cy="9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7671"/>
              </a:lnSpc>
              <a:buNone/>
            </a:pPr>
            <a:r>
              <a:rPr lang="en-US" sz="2250" dirty="0">
                <a:solidFill>
                  <a:srgbClr val="EAF1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tese de aquisição ao fechamento — com o preço sustentado por laudo e o risco medido na diligência.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1142997" y="9174480"/>
            <a:ext cx="4586079" cy="31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kern="0" spc="81" dirty="0">
                <a:solidFill>
                  <a:srgbClr val="C9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ao comprador · [mês de ano]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703127" y="9205049"/>
            <a:ext cx="4886018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kern="0" spc="96" dirty="0">
                <a:solidFill>
                  <a:srgbClr val="9D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— USO RESTRITO AO DESTINATÁRIO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978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1117370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fazemos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quem compra.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6482023" cy="75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frentes que se encaixam. O laudo é a base — sem ele não há </a:t>
            </a:r>
            <a:r>
              <a:rPr lang="en-US" sz="1875" b="1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teto de preço </a:t>
            </a: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defensável. A partir dele, conduzimos a compra com você e coordenamos a diligência que confirma, ou corrige, o número.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42997" y="9363938"/>
            <a:ext cx="5168894" cy="9525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42997" y="2922367"/>
            <a:ext cx="5168894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142997" y="2922367"/>
            <a:ext cx="9525" cy="6450266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6303197" y="2922367"/>
            <a:ext cx="9525" cy="6450266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1475517" y="3225473"/>
            <a:ext cx="4954241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5517" y="3602555"/>
            <a:ext cx="4954241" cy="42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15"/>
              </a:lnSpc>
              <a:buNone/>
            </a:pPr>
            <a:r>
              <a:rPr lang="en-US" sz="25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do alvo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75517" y="4143485"/>
            <a:ext cx="4638971" cy="70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80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“Quanto essa empresa vale — e até onde posso pagar?”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75517" y="4977738"/>
            <a:ext cx="4638971" cy="241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1453"/>
              </a:lnSpc>
              <a:buNone/>
            </a:pP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Faixa de valor em três cenários, com premissas declaradas e memória de cálculo replicável, que qualquer auditor consegue refazer. Dela saem o </a:t>
            </a:r>
            <a:r>
              <a:rPr lang="pt-BR" sz="1650" b="1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 de abertura, o preço-alvo e o teto</a:t>
            </a: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 fica claro quanto do valor depende de sinergias que só você vai capturar.</a:t>
            </a:r>
            <a:endParaRPr lang="pt-BR" sz="1650" dirty="0"/>
          </a:p>
        </p:txBody>
      </p:sp>
      <p:sp>
        <p:nvSpPr>
          <p:cNvPr id="14" name="Shape 12"/>
          <p:cNvSpPr/>
          <p:nvPr/>
        </p:nvSpPr>
        <p:spPr>
          <a:xfrm>
            <a:off x="1475517" y="7519627"/>
            <a:ext cx="450385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1475517" y="8298925"/>
            <a:ext cx="450385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1475517" y="7623572"/>
            <a:ext cx="4638971" cy="61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Laudo assinado, com premissas e memória de cálculo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475517" y="8402870"/>
            <a:ext cx="4638971" cy="61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Valor standalone separado do valor das sinergias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6559498" y="9363938"/>
            <a:ext cx="5168894" cy="9525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6559498" y="2922367"/>
            <a:ext cx="5168894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6559498" y="2922367"/>
            <a:ext cx="9525" cy="6450266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11719698" y="2922367"/>
            <a:ext cx="9525" cy="6450266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6892018" y="3225473"/>
            <a:ext cx="4954241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92018" y="3602555"/>
            <a:ext cx="4954241" cy="42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15"/>
              </a:lnSpc>
              <a:buNone/>
            </a:pPr>
            <a:r>
              <a:rPr lang="en-US" sz="25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Assessoria na compra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6892018" y="4143485"/>
            <a:ext cx="4638971" cy="70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80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“Quero comprar — como chego ao negócio certo sem me expor?”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92018" y="4977738"/>
            <a:ext cx="4638971" cy="292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1453"/>
              </a:lnSpc>
              <a:buNone/>
            </a:pP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Definimos com você a tese de aquisição, mapeamos os alvos e fazemos a abordagem reservada. Cuidamos do </a:t>
            </a:r>
            <a:r>
              <a:rPr lang="pt-BR" sz="1650" b="1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NDA</a:t>
            </a: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da proposta e do </a:t>
            </a:r>
            <a:r>
              <a:rPr lang="pt-BR" sz="1650" b="1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</a:t>
            </a: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estamos na negociação até à assinatura, para que cada concessão tenha preço e cada condição fique por escrito.</a:t>
            </a:r>
            <a:endParaRPr lang="pt-BR" sz="1650" dirty="0"/>
          </a:p>
        </p:txBody>
      </p:sp>
      <p:sp>
        <p:nvSpPr>
          <p:cNvPr id="26" name="Shape 24"/>
          <p:cNvSpPr/>
          <p:nvPr/>
        </p:nvSpPr>
        <p:spPr>
          <a:xfrm>
            <a:off x="6892018" y="8099753"/>
            <a:ext cx="450385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Shape 25"/>
          <p:cNvSpPr/>
          <p:nvPr/>
        </p:nvSpPr>
        <p:spPr>
          <a:xfrm>
            <a:off x="6892018" y="8588988"/>
            <a:ext cx="450385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/>
          <p:nvPr/>
        </p:nvSpPr>
        <p:spPr>
          <a:xfrm>
            <a:off x="6892018" y="8203698"/>
            <a:ext cx="4638971" cy="32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Seu nome só aparece quando você autorizar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892018" y="8692933"/>
            <a:ext cx="4638971" cy="32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Leitura técnica de cada contraproposta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1975999" y="9363938"/>
            <a:ext cx="5168962" cy="9525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Shape 29"/>
          <p:cNvSpPr/>
          <p:nvPr/>
        </p:nvSpPr>
        <p:spPr>
          <a:xfrm>
            <a:off x="11975999" y="2922367"/>
            <a:ext cx="5168962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Shape 30"/>
          <p:cNvSpPr/>
          <p:nvPr/>
        </p:nvSpPr>
        <p:spPr>
          <a:xfrm>
            <a:off x="11975999" y="2922367"/>
            <a:ext cx="9525" cy="6450266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Shape 31"/>
          <p:cNvSpPr/>
          <p:nvPr/>
        </p:nvSpPr>
        <p:spPr>
          <a:xfrm>
            <a:off x="17136267" y="2922367"/>
            <a:ext cx="9525" cy="6450266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/>
          <p:nvPr/>
        </p:nvSpPr>
        <p:spPr>
          <a:xfrm>
            <a:off x="12308518" y="3225473"/>
            <a:ext cx="4954316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08518" y="3602555"/>
            <a:ext cx="4954316" cy="42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415"/>
              </a:lnSpc>
              <a:buNone/>
            </a:pPr>
            <a:r>
              <a:rPr lang="en-US" sz="25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diligence coordenada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2308518" y="4143485"/>
            <a:ext cx="4954316" cy="36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80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 que eu não estou vendo nesse balanço?”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308518" y="4646306"/>
            <a:ext cx="4639041" cy="330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1453"/>
              </a:lnSpc>
              <a:buNone/>
            </a:pP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Planejamos o escopo, organizamos o data room e coordenamos quatro frentes: </a:t>
            </a:r>
            <a:r>
              <a:rPr lang="pt-BR" sz="1650" b="1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financeira, fiscal e trabalhista, jurídica e operacional e comercial</a:t>
            </a: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Conduzimos a financeira e a operacional; as demais ficam com especialistas sob a nossa coordenação, num único cronograma e com um só relatório.</a:t>
            </a:r>
            <a:endParaRPr lang="pt-BR" sz="1650" dirty="0"/>
          </a:p>
        </p:txBody>
      </p:sp>
      <p:sp>
        <p:nvSpPr>
          <p:cNvPr id="38" name="Shape 36"/>
          <p:cNvSpPr/>
          <p:nvPr/>
        </p:nvSpPr>
        <p:spPr>
          <a:xfrm>
            <a:off x="12308518" y="8099753"/>
            <a:ext cx="450392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Shape 37"/>
          <p:cNvSpPr/>
          <p:nvPr/>
        </p:nvSpPr>
        <p:spPr>
          <a:xfrm>
            <a:off x="12308518" y="8588988"/>
            <a:ext cx="450392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0" name="Text 38"/>
          <p:cNvSpPr/>
          <p:nvPr/>
        </p:nvSpPr>
        <p:spPr>
          <a:xfrm>
            <a:off x="12308518" y="8203698"/>
            <a:ext cx="4639041" cy="32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Relatório de achados classificados por gravidade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12308518" y="8692933"/>
            <a:ext cx="4639041" cy="32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Cada achado com o tratamento recomendado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416664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846395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CASA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boutique,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uma plataforma.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6482023" cy="75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quem ofereça uma lista de empresas à venda e uma noção rápida de preço. Quem compra está diante de uma decisão de peso — e precisa de um trabalho que resista à diligência e à negociação.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42997" y="2903347"/>
            <a:ext cx="16001964" cy="5850168"/>
          </a:xfrm>
          <a:prstGeom prst="rect">
            <a:avLst/>
          </a:prstGeom>
          <a:solidFill>
            <a:srgbClr val="FFFFFF"/>
          </a:solidFill>
          <a:ln w="8695">
            <a:solidFill>
              <a:srgbClr val="1A2733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9135285" y="2912042"/>
            <a:ext cx="9525" cy="5832778"/>
          </a:xfrm>
          <a:prstGeom prst="rect">
            <a:avLst/>
          </a:prstGeom>
          <a:solidFill>
            <a:srgbClr val="1A2733">
              <a:alpha val="14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1570755" y="3197757"/>
            <a:ext cx="7860013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PLATAFORMA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70755" y="4178061"/>
            <a:ext cx="7145466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1570755" y="3736705"/>
            <a:ext cx="7359830" cy="35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Vitrine de anúncios: você vê o que todos os outros compradores veem.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570755" y="4751938"/>
            <a:ext cx="7145466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1570755" y="4310581"/>
            <a:ext cx="7359830" cy="35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 pedido pelo vendedor tratado como referência de valor.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570755" y="5325814"/>
            <a:ext cx="7145466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1570755" y="4884458"/>
            <a:ext cx="7359830" cy="35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Diligência deixada ao comprador, sem coordenação entre frentes.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570755" y="5899690"/>
            <a:ext cx="7145466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1570755" y="5458334"/>
            <a:ext cx="7359830" cy="35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Achados que não viram preço nem cláusula.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570755" y="6032210"/>
            <a:ext cx="7359830" cy="35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negócio dá errado, ninguém responde pelo processo.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9143980" y="2912042"/>
            <a:ext cx="7992287" cy="5832778"/>
          </a:xfrm>
          <a:prstGeom prst="rect">
            <a:avLst/>
          </a:prstGeom>
          <a:solidFill>
            <a:srgbClr val="0E335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/>
          <p:nvPr/>
        </p:nvSpPr>
        <p:spPr>
          <a:xfrm>
            <a:off x="9563042" y="3197757"/>
            <a:ext cx="7869577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BOUTIQUE — O NOSSO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63042" y="4178061"/>
            <a:ext cx="7154161" cy="9525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/>
          <p:nvPr/>
        </p:nvSpPr>
        <p:spPr>
          <a:xfrm>
            <a:off x="9563042" y="3736705"/>
            <a:ext cx="7368786" cy="35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 dirigida pela sua tese, inclusive empresas que não estão à venda.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9563042" y="5069580"/>
            <a:ext cx="7154161" cy="9525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/>
          <p:nvPr/>
        </p:nvSpPr>
        <p:spPr>
          <a:xfrm>
            <a:off x="9563042" y="4310581"/>
            <a:ext cx="7368786" cy="673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 ancorado em laudo próprio, com teto definido antes da primeira proposta.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563042" y="5643457"/>
            <a:ext cx="7154161" cy="9525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Text 23"/>
          <p:cNvSpPr/>
          <p:nvPr/>
        </p:nvSpPr>
        <p:spPr>
          <a:xfrm>
            <a:off x="9563042" y="5202100"/>
            <a:ext cx="7368786" cy="35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Diligência coordenada pelos sócios, com seu advogado e contador.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9563042" y="6217333"/>
            <a:ext cx="7154161" cy="9525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/>
          <p:nvPr/>
        </p:nvSpPr>
        <p:spPr>
          <a:xfrm>
            <a:off x="9563042" y="5775977"/>
            <a:ext cx="7368786" cy="355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achado traduzido em ajuste de preço, retenção ou garantia.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9563042" y="6349853"/>
            <a:ext cx="7368786" cy="673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18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sócios respondem pelo caso do começo ao fim, com nome no documento.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142997" y="9001122"/>
            <a:ext cx="17602160" cy="409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507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pergunta que separa os dois modelos: quando o vendedor defender o preço dele, </a:t>
            </a:r>
            <a:r>
              <a:rPr lang="en-US" sz="19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vai sustentar o seu na mesa?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1201128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conduzimos a compra.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4714249" cy="395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Sete etapas, com dois marcos que mudam a natureza da conversa: o NDA, que abre a informação, e o MoU, que abre a diligência.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4842790" y="3623584"/>
            <a:ext cx="11520000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4842790" y="3315044"/>
            <a:ext cx="108000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3285" y="3315044"/>
            <a:ext cx="180000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6722" y="3315044"/>
            <a:ext cx="180000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72888" y="3315044"/>
            <a:ext cx="144000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94810" y="3315044"/>
            <a:ext cx="180000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68249" y="3315044"/>
            <a:ext cx="108000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99581" y="4283732"/>
            <a:ext cx="3143209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1699581" y="3775154"/>
            <a:ext cx="3237505" cy="40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125" b="1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Tese de aquisição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2790" y="4283732"/>
            <a:ext cx="11520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Shape 14"/>
          <p:cNvSpPr/>
          <p:nvPr/>
        </p:nvSpPr>
        <p:spPr>
          <a:xfrm>
            <a:off x="4842789" y="3824658"/>
            <a:ext cx="1440000" cy="266695"/>
          </a:xfrm>
          <a:prstGeom prst="rect">
            <a:avLst/>
          </a:prstGeom>
          <a:solidFill>
            <a:srgbClr val="297DC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Shape 15"/>
          <p:cNvSpPr/>
          <p:nvPr/>
        </p:nvSpPr>
        <p:spPr>
          <a:xfrm>
            <a:off x="1699581" y="4943880"/>
            <a:ext cx="3143209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/>
          <p:nvPr/>
        </p:nvSpPr>
        <p:spPr>
          <a:xfrm>
            <a:off x="1699581" y="4435303"/>
            <a:ext cx="3237505" cy="40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125" b="1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 e </a:t>
            </a:r>
            <a:r>
              <a:rPr lang="en-US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intermediação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2790" y="4943880"/>
            <a:ext cx="11520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4850525" y="4484806"/>
            <a:ext cx="2880000" cy="266695"/>
          </a:xfrm>
          <a:prstGeom prst="rect">
            <a:avLst/>
          </a:prstGeom>
          <a:solidFill>
            <a:srgbClr val="297DC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1699581" y="5604028"/>
            <a:ext cx="3143209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1699581" y="5095450"/>
            <a:ext cx="3237505" cy="40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125" b="1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1800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Assinatura</a:t>
            </a: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NDA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42790" y="5604028"/>
            <a:ext cx="11520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Shape 24"/>
          <p:cNvSpPr/>
          <p:nvPr/>
        </p:nvSpPr>
        <p:spPr>
          <a:xfrm>
            <a:off x="1699581" y="6264176"/>
            <a:ext cx="3143209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/>
          <p:nvPr/>
        </p:nvSpPr>
        <p:spPr>
          <a:xfrm>
            <a:off x="1699581" y="5755598"/>
            <a:ext cx="3237505" cy="40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125" b="1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1800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2790" y="6264176"/>
            <a:ext cx="11520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7743233" y="5805102"/>
            <a:ext cx="1440000" cy="266695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Shape 28"/>
          <p:cNvSpPr/>
          <p:nvPr/>
        </p:nvSpPr>
        <p:spPr>
          <a:xfrm>
            <a:off x="1699581" y="6924324"/>
            <a:ext cx="3143209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9"/>
          <p:cNvSpPr/>
          <p:nvPr/>
        </p:nvSpPr>
        <p:spPr>
          <a:xfrm>
            <a:off x="1699581" y="6415746"/>
            <a:ext cx="3237505" cy="40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125" b="1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Proposta e MoU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842790" y="6924324"/>
            <a:ext cx="11520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Shape 32"/>
          <p:cNvSpPr/>
          <p:nvPr/>
        </p:nvSpPr>
        <p:spPr>
          <a:xfrm>
            <a:off x="1699581" y="7584472"/>
            <a:ext cx="3143209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/>
          <p:nvPr/>
        </p:nvSpPr>
        <p:spPr>
          <a:xfrm>
            <a:off x="1699581" y="7075894"/>
            <a:ext cx="3237505" cy="40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125" b="1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diligence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842790" y="7584472"/>
            <a:ext cx="11520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7" name="Shape 35"/>
          <p:cNvSpPr/>
          <p:nvPr/>
        </p:nvSpPr>
        <p:spPr>
          <a:xfrm>
            <a:off x="9162598" y="7125398"/>
            <a:ext cx="2878666" cy="266695"/>
          </a:xfrm>
          <a:prstGeom prst="rect">
            <a:avLst/>
          </a:prstGeom>
          <a:solidFill>
            <a:srgbClr val="B0863C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Prazo base · 2 meses</a:t>
            </a:r>
          </a:p>
        </p:txBody>
      </p:sp>
      <p:sp>
        <p:nvSpPr>
          <p:cNvPr id="90" name="DD mês opcional"/>
          <p:cNvSpPr/>
          <p:nvPr/>
        </p:nvSpPr>
        <p:spPr>
          <a:xfrm>
            <a:off x="12041264" y="7125398"/>
            <a:ext cx="1439333" cy="266695"/>
          </a:xfrm>
          <a:prstGeom prst="rect">
            <a:avLst/>
          </a:prstGeom>
          <a:solidFill>
            <a:srgbClr val="B0863C">
              <a:alpha val="35000"/>
            </a:srgbClr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pt-BR" sz="1100" b="1" dirty="0">
                <a:solidFill>
                  <a:srgbClr val="6E4F17"/>
                </a:solidFill>
                <a:latin typeface="Arial" pitchFamily="34" charset="0"/>
                <a:cs typeface="Arial" pitchFamily="34" charset="0"/>
              </a:rPr>
              <a:t>+1 mês, se preciso</a:t>
            </a:r>
          </a:p>
        </p:txBody>
      </p:sp>
      <p:sp>
        <p:nvSpPr>
          <p:cNvPr id="38" name="Shape 36"/>
          <p:cNvSpPr/>
          <p:nvPr/>
        </p:nvSpPr>
        <p:spPr>
          <a:xfrm>
            <a:off x="1699581" y="8244620"/>
            <a:ext cx="3143209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Text 37"/>
          <p:cNvSpPr/>
          <p:nvPr/>
        </p:nvSpPr>
        <p:spPr>
          <a:xfrm>
            <a:off x="1699581" y="7736042"/>
            <a:ext cx="3237505" cy="40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125" b="1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</a:t>
            </a: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e fechamento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842790" y="8244620"/>
            <a:ext cx="11520000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/>
          <p:nvPr/>
        </p:nvSpPr>
        <p:spPr>
          <a:xfrm>
            <a:off x="1699581" y="8356961"/>
            <a:ext cx="14724000" cy="4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Durações indicativas para uma PME com informação organizada. O ritmo real é o do vendedor. Due diligence de uma empresa: 2 a 3 meses; cada empresa adicional soma cerca de um mês.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125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5A25AE0E-66C1-0267-58DB-56EA78D1760F}"/>
              </a:ext>
            </a:extLst>
          </p:cNvPr>
          <p:cNvSpPr/>
          <p:nvPr/>
        </p:nvSpPr>
        <p:spPr>
          <a:xfrm rot="5400000">
            <a:off x="3808131" y="5787976"/>
            <a:ext cx="4932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7333FB3C-526F-9FBF-DEC7-BEF8B38F2B72}"/>
              </a:ext>
            </a:extLst>
          </p:cNvPr>
          <p:cNvSpPr/>
          <p:nvPr/>
        </p:nvSpPr>
        <p:spPr>
          <a:xfrm rot="5400000">
            <a:off x="5287057" y="5760070"/>
            <a:ext cx="4932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D6EFA692-0EBE-4CBD-33DD-E4C09A9DF2DF}"/>
              </a:ext>
            </a:extLst>
          </p:cNvPr>
          <p:cNvSpPr/>
          <p:nvPr/>
        </p:nvSpPr>
        <p:spPr>
          <a:xfrm rot="5400000">
            <a:off x="6701589" y="5796559"/>
            <a:ext cx="4932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EB869E99-9642-94D0-43EF-0B6A6A9B5991}"/>
              </a:ext>
            </a:extLst>
          </p:cNvPr>
          <p:cNvSpPr/>
          <p:nvPr/>
        </p:nvSpPr>
        <p:spPr>
          <a:xfrm rot="5400000">
            <a:off x="8128995" y="5781532"/>
            <a:ext cx="4932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AEFDAFF7-3DA3-F321-38B7-B4FC65131F9A}"/>
              </a:ext>
            </a:extLst>
          </p:cNvPr>
          <p:cNvSpPr/>
          <p:nvPr/>
        </p:nvSpPr>
        <p:spPr>
          <a:xfrm rot="5400000">
            <a:off x="9582168" y="5805143"/>
            <a:ext cx="4932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1" name="Fluxograma: Decisão 60">
            <a:extLst>
              <a:ext uri="{FF2B5EF4-FFF2-40B4-BE49-F238E27FC236}">
                <a16:creationId xmlns:a16="http://schemas.microsoft.com/office/drawing/2014/main" id="{DCFFA4CB-D5C5-B1EB-CFEB-C4A1F10C8AE5}"/>
              </a:ext>
            </a:extLst>
          </p:cNvPr>
          <p:cNvSpPr/>
          <p:nvPr/>
        </p:nvSpPr>
        <p:spPr>
          <a:xfrm>
            <a:off x="7542323" y="5095450"/>
            <a:ext cx="396000" cy="334963"/>
          </a:xfrm>
          <a:prstGeom prst="flowChartDecision">
            <a:avLst/>
          </a:prstGeom>
          <a:solidFill>
            <a:srgbClr val="297D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Fluxograma: Decisão 64">
            <a:extLst>
              <a:ext uri="{FF2B5EF4-FFF2-40B4-BE49-F238E27FC236}">
                <a16:creationId xmlns:a16="http://schemas.microsoft.com/office/drawing/2014/main" id="{ADACEE04-BFDA-421E-4375-50DCE65A2063}"/>
              </a:ext>
            </a:extLst>
          </p:cNvPr>
          <p:cNvSpPr/>
          <p:nvPr/>
        </p:nvSpPr>
        <p:spPr>
          <a:xfrm>
            <a:off x="8961077" y="6458464"/>
            <a:ext cx="396000" cy="334963"/>
          </a:xfrm>
          <a:prstGeom prst="flowChartDecision">
            <a:avLst/>
          </a:prstGeom>
          <a:solidFill>
            <a:srgbClr val="194E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A1A84F14-41C6-CCBA-AAD4-31AB36A0AA7D}"/>
              </a:ext>
            </a:extLst>
          </p:cNvPr>
          <p:cNvSpPr/>
          <p:nvPr/>
        </p:nvSpPr>
        <p:spPr>
          <a:xfrm>
            <a:off x="13495660" y="3312896"/>
            <a:ext cx="108000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 err="1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endParaRPr lang="en-US" sz="1200" dirty="0"/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15E59F02-923C-28A5-A59F-FDD7376FCD73}"/>
              </a:ext>
            </a:extLst>
          </p:cNvPr>
          <p:cNvSpPr/>
          <p:nvPr/>
        </p:nvSpPr>
        <p:spPr>
          <a:xfrm rot="5400000">
            <a:off x="11009579" y="5802995"/>
            <a:ext cx="4932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3" name="Text 10">
            <a:extLst>
              <a:ext uri="{FF2B5EF4-FFF2-40B4-BE49-F238E27FC236}">
                <a16:creationId xmlns:a16="http://schemas.microsoft.com/office/drawing/2014/main" id="{AE72DB20-F2E5-4EFE-EFA1-51E234BD09EE}"/>
              </a:ext>
            </a:extLst>
          </p:cNvPr>
          <p:cNvSpPr/>
          <p:nvPr/>
        </p:nvSpPr>
        <p:spPr>
          <a:xfrm>
            <a:off x="14923067" y="3323627"/>
            <a:ext cx="108000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 err="1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</a:t>
            </a:r>
            <a:endParaRPr lang="en-US" sz="1200" dirty="0"/>
          </a:p>
        </p:txBody>
      </p:sp>
      <p:sp>
        <p:nvSpPr>
          <p:cNvPr id="75" name="Shape 17">
            <a:extLst>
              <a:ext uri="{FF2B5EF4-FFF2-40B4-BE49-F238E27FC236}">
                <a16:creationId xmlns:a16="http://schemas.microsoft.com/office/drawing/2014/main" id="{6C21C8FF-6145-D0B2-8DCA-8945EA254C67}"/>
              </a:ext>
            </a:extLst>
          </p:cNvPr>
          <p:cNvSpPr/>
          <p:nvPr/>
        </p:nvSpPr>
        <p:spPr>
          <a:xfrm rot="5400000">
            <a:off x="12436986" y="5813726"/>
            <a:ext cx="4932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1" name="Shape 17">
            <a:extLst>
              <a:ext uri="{FF2B5EF4-FFF2-40B4-BE49-F238E27FC236}">
                <a16:creationId xmlns:a16="http://schemas.microsoft.com/office/drawing/2014/main" id="{53C07C94-242A-9986-5464-FBEE661812C1}"/>
              </a:ext>
            </a:extLst>
          </p:cNvPr>
          <p:cNvSpPr/>
          <p:nvPr/>
        </p:nvSpPr>
        <p:spPr>
          <a:xfrm rot="5400000">
            <a:off x="13890153" y="5798699"/>
            <a:ext cx="4932000" cy="9525"/>
          </a:xfrm>
          <a:prstGeom prst="rect">
            <a:avLst/>
          </a:prstGeom>
          <a:solidFill>
            <a:srgbClr val="1A2733">
              <a:alpha val="1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3" name="Shape 35">
            <a:extLst>
              <a:ext uri="{FF2B5EF4-FFF2-40B4-BE49-F238E27FC236}">
                <a16:creationId xmlns:a16="http://schemas.microsoft.com/office/drawing/2014/main" id="{298B61CA-F328-1BEB-B729-F5DC49E4C898}"/>
              </a:ext>
            </a:extLst>
          </p:cNvPr>
          <p:cNvSpPr/>
          <p:nvPr/>
        </p:nvSpPr>
        <p:spPr>
          <a:xfrm>
            <a:off x="13483391" y="7779067"/>
            <a:ext cx="2880000" cy="266695"/>
          </a:xfrm>
          <a:prstGeom prst="rect">
            <a:avLst/>
          </a:prstGeom>
          <a:solidFill>
            <a:srgbClr val="0F2D49"/>
          </a:solidFill>
          <a:ln/>
        </p:spPr>
        <p:txBody>
          <a:bodyPr/>
          <a:lstStyle/>
          <a:p>
            <a:endParaRPr lang="en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43C501-99AB-D847-3359-A26E55A23FFC}"/>
              </a:ext>
            </a:extLst>
          </p:cNvPr>
          <p:cNvCxnSpPr/>
          <p:nvPr/>
        </p:nvCxnSpPr>
        <p:spPr>
          <a:xfrm flipH="1">
            <a:off x="7735738" y="4484806"/>
            <a:ext cx="14587" cy="792000"/>
          </a:xfrm>
          <a:prstGeom prst="line">
            <a:avLst/>
          </a:prstGeom>
          <a:ln w="38100">
            <a:solidFill>
              <a:srgbClr val="297DC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B48678B-C3DB-9FAB-15B3-2690D69F6609}"/>
              </a:ext>
            </a:extLst>
          </p:cNvPr>
          <p:cNvCxnSpPr/>
          <p:nvPr/>
        </p:nvCxnSpPr>
        <p:spPr>
          <a:xfrm flipH="1">
            <a:off x="9152483" y="5821628"/>
            <a:ext cx="14587" cy="792000"/>
          </a:xfrm>
          <a:prstGeom prst="line">
            <a:avLst/>
          </a:prstGeom>
          <a:ln w="38100">
            <a:solidFill>
              <a:srgbClr val="194E7C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27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2596708" cy="411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 DE AQUISIÇÃO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tese vem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do alvo.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6482023" cy="75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se escreve o que você quer comprar e por quê. Só então se constrói a lista — e ela inclui empresas que não estão anunciadas, abordadas uma a uma e sem expor o seu nome.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142997" y="2903347"/>
            <a:ext cx="8197987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DA TESE — PREENCHIDO COM VOCÊ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1142997" y="3897101"/>
            <a:ext cx="3130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1142997" y="3408087"/>
            <a:ext cx="3224001" cy="384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Setor e atividade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273096" y="3897101"/>
            <a:ext cx="432261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4273096" y="3265212"/>
            <a:ext cx="9525" cy="640584"/>
          </a:xfrm>
          <a:prstGeom prst="rect">
            <a:avLst/>
          </a:prstGeom>
          <a:solidFill>
            <a:srgbClr val="1A2733">
              <a:alpha val="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9"/>
          <p:cNvSpPr/>
          <p:nvPr/>
        </p:nvSpPr>
        <p:spPr>
          <a:xfrm>
            <a:off x="1142997" y="4542032"/>
            <a:ext cx="3130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1142997" y="4048671"/>
            <a:ext cx="3224001" cy="388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Faixa de faturamento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4273096" y="4542032"/>
            <a:ext cx="432261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Shape 12"/>
          <p:cNvSpPr/>
          <p:nvPr/>
        </p:nvSpPr>
        <p:spPr>
          <a:xfrm>
            <a:off x="4273096" y="3905796"/>
            <a:ext cx="9525" cy="644931"/>
          </a:xfrm>
          <a:prstGeom prst="rect">
            <a:avLst/>
          </a:prstGeom>
          <a:solidFill>
            <a:srgbClr val="1A2733">
              <a:alpha val="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1142997" y="5186964"/>
            <a:ext cx="3130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1142997" y="4693602"/>
            <a:ext cx="3224001" cy="388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Região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4273096" y="5186964"/>
            <a:ext cx="432261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Shape 16"/>
          <p:cNvSpPr/>
          <p:nvPr/>
        </p:nvSpPr>
        <p:spPr>
          <a:xfrm>
            <a:off x="4273096" y="4550727"/>
            <a:ext cx="9525" cy="644931"/>
          </a:xfrm>
          <a:prstGeom prst="rect">
            <a:avLst/>
          </a:prstGeom>
          <a:solidFill>
            <a:srgbClr val="1A2733">
              <a:alpha val="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1142997" y="6182416"/>
            <a:ext cx="3130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1142997" y="5338534"/>
            <a:ext cx="3224001" cy="739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Margem e geração de caixa mínimas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4273096" y="6182416"/>
            <a:ext cx="432261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Shape 20"/>
          <p:cNvSpPr/>
          <p:nvPr/>
        </p:nvSpPr>
        <p:spPr>
          <a:xfrm>
            <a:off x="4273096" y="5195659"/>
            <a:ext cx="9525" cy="995453"/>
          </a:xfrm>
          <a:prstGeom prst="rect">
            <a:avLst/>
          </a:prstGeom>
          <a:solidFill>
            <a:srgbClr val="1A2733">
              <a:alpha val="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Shape 21"/>
          <p:cNvSpPr/>
          <p:nvPr/>
        </p:nvSpPr>
        <p:spPr>
          <a:xfrm>
            <a:off x="1142997" y="6827348"/>
            <a:ext cx="3130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1142997" y="6333987"/>
            <a:ext cx="3224001" cy="388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Participação pretendida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4273096" y="6827348"/>
            <a:ext cx="432261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Shape 24"/>
          <p:cNvSpPr/>
          <p:nvPr/>
        </p:nvSpPr>
        <p:spPr>
          <a:xfrm>
            <a:off x="4273096" y="6191112"/>
            <a:ext cx="9525" cy="644931"/>
          </a:xfrm>
          <a:prstGeom prst="rect">
            <a:avLst/>
          </a:prstGeom>
          <a:solidFill>
            <a:srgbClr val="1A2733">
              <a:alpha val="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Shape 25"/>
          <p:cNvSpPr/>
          <p:nvPr/>
        </p:nvSpPr>
        <p:spPr>
          <a:xfrm>
            <a:off x="1142997" y="7472280"/>
            <a:ext cx="3130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/>
          <p:nvPr/>
        </p:nvSpPr>
        <p:spPr>
          <a:xfrm>
            <a:off x="1142997" y="6978918"/>
            <a:ext cx="3224001" cy="388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Capacidade de investimento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4273096" y="7472280"/>
            <a:ext cx="432261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Shape 28"/>
          <p:cNvSpPr/>
          <p:nvPr/>
        </p:nvSpPr>
        <p:spPr>
          <a:xfrm>
            <a:off x="4273096" y="6836043"/>
            <a:ext cx="9525" cy="644931"/>
          </a:xfrm>
          <a:prstGeom prst="rect">
            <a:avLst/>
          </a:prstGeom>
          <a:solidFill>
            <a:srgbClr val="1A2733">
              <a:alpha val="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Shape 29"/>
          <p:cNvSpPr/>
          <p:nvPr/>
        </p:nvSpPr>
        <p:spPr>
          <a:xfrm>
            <a:off x="1142997" y="8117211"/>
            <a:ext cx="3130098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/>
          <p:nvPr/>
        </p:nvSpPr>
        <p:spPr>
          <a:xfrm>
            <a:off x="1142997" y="7623850"/>
            <a:ext cx="3224001" cy="388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exclui o alvo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4273096" y="8117211"/>
            <a:ext cx="4322617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Shape 32"/>
          <p:cNvSpPr/>
          <p:nvPr/>
        </p:nvSpPr>
        <p:spPr>
          <a:xfrm>
            <a:off x="4273096" y="7480975"/>
            <a:ext cx="9525" cy="644931"/>
          </a:xfrm>
          <a:prstGeom prst="rect">
            <a:avLst/>
          </a:prstGeom>
          <a:solidFill>
            <a:srgbClr val="1A2733">
              <a:alpha val="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/>
          <p:nvPr/>
        </p:nvSpPr>
        <p:spPr>
          <a:xfrm>
            <a:off x="1142997" y="8282622"/>
            <a:ext cx="7676297" cy="609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500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última linha pesa tanto quanto as outras: dependência do dono, concentração de clientes ou passivo trabalhista relevante costumam ser critérios de exclusão.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319579" y="2903347"/>
            <a:ext cx="860784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UNIVERSO AO ALVO — ESQUEMA ILUSTRATIVO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9319579" y="3705741"/>
            <a:ext cx="7825314" cy="693298"/>
          </a:xfrm>
          <a:prstGeom prst="rect">
            <a:avLst/>
          </a:prstGeom>
          <a:solidFill>
            <a:srgbClr val="E4E9E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/>
          <p:nvPr/>
        </p:nvSpPr>
        <p:spPr>
          <a:xfrm>
            <a:off x="9605295" y="3877129"/>
            <a:ext cx="2894940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Universo do setor e da região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15778133" y="3877129"/>
            <a:ext cx="1157245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67371" y="4475189"/>
            <a:ext cx="6729732" cy="693298"/>
          </a:xfrm>
          <a:prstGeom prst="rect">
            <a:avLst/>
          </a:prstGeom>
          <a:solidFill>
            <a:srgbClr val="9DB4C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/>
          <p:nvPr/>
        </p:nvSpPr>
        <p:spPr>
          <a:xfrm>
            <a:off x="10153086" y="4646577"/>
            <a:ext cx="1654360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0E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Aderentes à tese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5780782" y="4646577"/>
            <a:ext cx="606805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0E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415093" y="5244637"/>
            <a:ext cx="5634218" cy="693298"/>
          </a:xfrm>
          <a:prstGeom prst="rect">
            <a:avLst/>
          </a:prstGeom>
          <a:solidFill>
            <a:srgbClr val="5E7E9B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/>
          <p:nvPr/>
        </p:nvSpPr>
        <p:spPr>
          <a:xfrm>
            <a:off x="10700810" y="5416025"/>
            <a:ext cx="2295555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 validada por você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5351327" y="5416025"/>
            <a:ext cx="488470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962884" y="6014085"/>
            <a:ext cx="4538636" cy="693298"/>
          </a:xfrm>
          <a:prstGeom prst="rect">
            <a:avLst/>
          </a:prstGeom>
          <a:solidFill>
            <a:srgbClr val="2C639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7" name="Text 45"/>
          <p:cNvSpPr/>
          <p:nvPr/>
        </p:nvSpPr>
        <p:spPr>
          <a:xfrm>
            <a:off x="11248601" y="6185474"/>
            <a:ext cx="1128510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Abordados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14707686" y="6185474"/>
            <a:ext cx="584320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SIGILO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1510675" y="6783533"/>
            <a:ext cx="3443122" cy="693298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0" name="Text 48"/>
          <p:cNvSpPr/>
          <p:nvPr/>
        </p:nvSpPr>
        <p:spPr>
          <a:xfrm>
            <a:off x="11796392" y="6954921"/>
            <a:ext cx="1059901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447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NDA</a:t>
            </a:r>
            <a:endParaRPr lang="en-US" sz="1725" dirty="0"/>
          </a:p>
        </p:txBody>
      </p:sp>
      <p:sp>
        <p:nvSpPr>
          <p:cNvPr id="51" name="Text 49"/>
          <p:cNvSpPr/>
          <p:nvPr/>
        </p:nvSpPr>
        <p:spPr>
          <a:xfrm>
            <a:off x="14126133" y="6954921"/>
            <a:ext cx="618149" cy="38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2058466" y="7552981"/>
            <a:ext cx="2347540" cy="693298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3" name="Text 51"/>
          <p:cNvSpPr/>
          <p:nvPr/>
        </p:nvSpPr>
        <p:spPr>
          <a:xfrm>
            <a:off x="12306116" y="7724431"/>
            <a:ext cx="1852240" cy="388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447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Alvo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9319579" y="8801202"/>
            <a:ext cx="8060074" cy="609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500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de alvos: mapeamento setorial, rede de contadores, advogados e assessores da região, e empresários que não responderiam a um anúncio.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1668625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acordo que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abre a informação.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6482023" cy="75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Nenhum vendedor sério entrega balanço, carteira ou contratos sem um acordo de confidencialidade. Assinar cedo, e bem, é o que faz o vendedor tratar você como comprador — e não como curioso.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142997" y="3202309"/>
            <a:ext cx="15588000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VÊ, EM CADA MOMENTO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1142997" y="3582280"/>
            <a:ext cx="3957627" cy="1634202"/>
          </a:xfrm>
          <a:prstGeom prst="rect">
            <a:avLst/>
          </a:prstGeom>
          <a:solidFill>
            <a:srgbClr val="9DB4C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1390604" y="3772756"/>
            <a:ext cx="3808655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26" dirty="0">
                <a:solidFill>
                  <a:srgbClr val="0E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NDA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90604" y="4081297"/>
            <a:ext cx="3808655" cy="41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348"/>
              </a:lnSpc>
              <a:buNone/>
            </a:pPr>
            <a:r>
              <a:rPr lang="en-US" sz="1875" dirty="0">
                <a:solidFill>
                  <a:srgbClr val="0E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Teaser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90604" y="4519380"/>
            <a:ext cx="380865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0E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Setor, porte e região, sem identificação.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5157754" y="3582280"/>
            <a:ext cx="3957627" cy="1634202"/>
          </a:xfrm>
          <a:prstGeom prst="rect">
            <a:avLst/>
          </a:prstGeom>
          <a:solidFill>
            <a:srgbClr val="5E7E9B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5405360" y="3772756"/>
            <a:ext cx="3808655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O NDA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05360" y="4081297"/>
            <a:ext cx="3808655" cy="41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34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Memorando e números-chave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405360" y="4519380"/>
            <a:ext cx="3566286" cy="544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Nome, demonstrações resumidas, modelo de negócio.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172510" y="3582280"/>
            <a:ext cx="3957627" cy="1634202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9420117" y="3772756"/>
            <a:ext cx="3808655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O MoU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20117" y="4081297"/>
            <a:ext cx="3808655" cy="41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34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room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420117" y="4519380"/>
            <a:ext cx="3808655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Documentação completa para a diligência.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3187267" y="3582280"/>
            <a:ext cx="3957695" cy="1634202"/>
          </a:xfrm>
          <a:prstGeom prst="rect">
            <a:avLst/>
          </a:prstGeom>
          <a:solidFill>
            <a:srgbClr val="0E335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13434873" y="3772756"/>
            <a:ext cx="3808730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2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DILIGÊNCIA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434873" y="4081297"/>
            <a:ext cx="3808730" cy="41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348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Acesso à gestão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434873" y="4519380"/>
            <a:ext cx="3566356" cy="544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Entrevistas, visita e, por último, clientes-chave.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142997" y="6062234"/>
            <a:ext cx="16056000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113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PROFUNDIDADE DA INFORMAÇÃO →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142997" y="6376775"/>
            <a:ext cx="16001964" cy="9525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6468267" y="6385471"/>
            <a:ext cx="9525" cy="2160000"/>
          </a:xfrm>
          <a:prstGeom prst="rect">
            <a:avLst/>
          </a:prstGeom>
          <a:solidFill>
            <a:srgbClr val="1A2733">
              <a:alpha val="14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1142997" y="6614056"/>
            <a:ext cx="543874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NDA COBRE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142997" y="6956833"/>
            <a:ext cx="5092646" cy="981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Definição de informação confidencial, uso restrito à avaliação do negócio, quem pode ter acesso do seu lado e devolução ou destruição ao fim da conversa.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792708" y="6385471"/>
            <a:ext cx="9525" cy="2160000"/>
          </a:xfrm>
          <a:prstGeom prst="rect">
            <a:avLst/>
          </a:prstGeom>
          <a:solidFill>
            <a:srgbClr val="1A2733">
              <a:alpha val="14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/>
          <p:nvPr/>
        </p:nvSpPr>
        <p:spPr>
          <a:xfrm>
            <a:off x="6857917" y="6614056"/>
            <a:ext cx="501969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MERECE ATENÇÃO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857917" y="6956833"/>
            <a:ext cx="4700263" cy="1295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Prazo de vigência, cláusula de não aliciamento de funcionários e clientes, e multa. Se você já atua no setor, a redação precisa preservar o seu negócio atual.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191883" y="6614056"/>
            <a:ext cx="544838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NOSSA PARTE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2191883" y="6956833"/>
            <a:ext cx="5101672" cy="1295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Minuta-padrão da casa ou revisão da minuta do vendedor, com a redação final do seu advogado. </a:t>
            </a:r>
            <a:r>
              <a:rPr lang="en-US" sz="16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nome só é revelado ao vendedor quando você autorizar.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78677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666737"/>
            <a:ext cx="2543637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078192"/>
            <a:ext cx="16128000" cy="61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327"/>
              </a:lnSpc>
              <a:buNone/>
            </a:pPr>
            <a:r>
              <a:rPr lang="en-US" sz="42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420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42997" y="1768501"/>
            <a:ext cx="16482023" cy="723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sequência precede a planilha — nunca o contrário. Testamos as três abordagens de avaliação em todo mandato; as que os dados não sustentam são descartadas por escrito, com o motivo declarado.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2997" y="3006593"/>
            <a:ext cx="17390" cy="960876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1427083" y="3044634"/>
            <a:ext cx="835236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ESCOPO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427083" y="3349302"/>
            <a:ext cx="7820852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avalia, para quem, para qual finalidade e em que data-base. Nenhuma metodologia é escolhida antes dessas quatro respostas.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267749" y="3006593"/>
            <a:ext cx="17390" cy="960876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9551834" y="3044634"/>
            <a:ext cx="835244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BASE E PREMISSA DE VALOR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51834" y="3349302"/>
            <a:ext cx="7820922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Mercado, uso ou investimento; continuidade, uso atual ou liquidação ordenada. É aqui que se testa o aproveitamento eficiente.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142997" y="4512669"/>
            <a:ext cx="7128000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ABORDAGENS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142997" y="5094776"/>
            <a:ext cx="2080234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Shape 12"/>
          <p:cNvSpPr/>
          <p:nvPr/>
        </p:nvSpPr>
        <p:spPr>
          <a:xfrm>
            <a:off x="3223231" y="5094776"/>
            <a:ext cx="4434023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3223231" y="4544879"/>
            <a:ext cx="4646978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076"/>
              </a:lnSpc>
              <a:buNone/>
            </a:pPr>
            <a:r>
              <a:rPr lang="en-US" sz="1125" b="1" kern="0" spc="158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223231" y="4744867"/>
            <a:ext cx="4646978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Approach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57254" y="5094776"/>
            <a:ext cx="4769871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/>
          <p:nvPr/>
        </p:nvSpPr>
        <p:spPr>
          <a:xfrm>
            <a:off x="7657254" y="4544879"/>
            <a:ext cx="5016411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076"/>
              </a:lnSpc>
              <a:buNone/>
            </a:pPr>
            <a:r>
              <a:rPr lang="en-US" sz="1125" b="1" kern="0" spc="158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RENDA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657254" y="4744867"/>
            <a:ext cx="5016411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Approach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427125" y="5094776"/>
            <a:ext cx="4717836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/>
          <p:nvPr/>
        </p:nvSpPr>
        <p:spPr>
          <a:xfrm>
            <a:off x="12427125" y="4544879"/>
            <a:ext cx="5189620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076"/>
              </a:lnSpc>
              <a:buNone/>
            </a:pPr>
            <a:r>
              <a:rPr lang="en-US" sz="1125" b="1" kern="0" spc="158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2427125" y="4744867"/>
            <a:ext cx="5189620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Approach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142997" y="5598616"/>
            <a:ext cx="208023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1142997" y="5217771"/>
            <a:ext cx="2156434" cy="304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050" b="1" kern="0" spc="12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3231" y="5598616"/>
            <a:ext cx="443402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3223231" y="5217771"/>
            <a:ext cx="4357494" cy="304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pagou por bens equivalentes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57254" y="5598616"/>
            <a:ext cx="476987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8" name="Text 26"/>
          <p:cNvSpPr/>
          <p:nvPr/>
        </p:nvSpPr>
        <p:spPr>
          <a:xfrm>
            <a:off x="7657254" y="5217771"/>
            <a:ext cx="4703417" cy="304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bem gera, trazido a valor presente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2427125" y="5598616"/>
            <a:ext cx="471783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12427125" y="5217771"/>
            <a:ext cx="4859372" cy="304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valem as partes, ou o que custaria repor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42997" y="6369083"/>
            <a:ext cx="208023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/>
          <p:nvPr/>
        </p:nvSpPr>
        <p:spPr>
          <a:xfrm>
            <a:off x="1142997" y="5721611"/>
            <a:ext cx="2156434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050" b="1" kern="0" spc="12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APLICÁVEL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23231" y="6369083"/>
            <a:ext cx="443402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/>
          <p:nvPr/>
        </p:nvSpPr>
        <p:spPr>
          <a:xfrm>
            <a:off x="3223231" y="5721611"/>
            <a:ext cx="4357494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existe amostra observável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57254" y="6369083"/>
            <a:ext cx="476987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/>
          <p:nvPr/>
        </p:nvSpPr>
        <p:spPr>
          <a:xfrm>
            <a:off x="7657254" y="5721611"/>
            <a:ext cx="47034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fluxo é projetável com confiança e mede o ativo, não a política de preço do gestor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2427125" y="6369083"/>
            <a:ext cx="471783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/>
          <p:nvPr/>
        </p:nvSpPr>
        <p:spPr>
          <a:xfrm>
            <a:off x="12427125" y="5721611"/>
            <a:ext cx="4859372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patrimônio supera o que a operação rende, ou o ativo é especializado e sem mercado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142997" y="7139550"/>
            <a:ext cx="208023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0" name="Text 38"/>
          <p:cNvSpPr/>
          <p:nvPr/>
        </p:nvSpPr>
        <p:spPr>
          <a:xfrm>
            <a:off x="1142997" y="6492078"/>
            <a:ext cx="2156434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050" b="1" kern="0" spc="12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23231" y="7139550"/>
            <a:ext cx="443402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2" name="Text 40"/>
          <p:cNvSpPr/>
          <p:nvPr/>
        </p:nvSpPr>
        <p:spPr>
          <a:xfrm>
            <a:off x="3223231" y="6492078"/>
            <a:ext cx="4357494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múltiplos de empresas listadas · múltiplos de transações · unidades de comparação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657254" y="7139550"/>
            <a:ext cx="476987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/>
          <p:nvPr/>
        </p:nvSpPr>
        <p:spPr>
          <a:xfrm>
            <a:off x="7657254" y="6492078"/>
            <a:ext cx="47034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de caixa descontado · capitalização direta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2427125" y="7139550"/>
            <a:ext cx="471783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6" name="Text 44"/>
          <p:cNvSpPr/>
          <p:nvPr/>
        </p:nvSpPr>
        <p:spPr>
          <a:xfrm>
            <a:off x="12427125" y="6492078"/>
            <a:ext cx="4859372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patrimônio líquido a valor de mercado · custo de reposição · custo de reprodução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42997" y="7910017"/>
            <a:ext cx="2080234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8" name="Text 46"/>
          <p:cNvSpPr/>
          <p:nvPr/>
        </p:nvSpPr>
        <p:spPr>
          <a:xfrm>
            <a:off x="1142997" y="7262545"/>
            <a:ext cx="2156434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050" b="1" kern="0" spc="12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23231" y="7910017"/>
            <a:ext cx="4434023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0" name="Text 48"/>
          <p:cNvSpPr/>
          <p:nvPr/>
        </p:nvSpPr>
        <p:spPr>
          <a:xfrm>
            <a:off x="3223231" y="7262545"/>
            <a:ext cx="4357494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do múltiplo — receita ou resultado — e o valor ou faixa do multiplicador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657254" y="7910017"/>
            <a:ext cx="4769871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2" name="Text 50"/>
          <p:cNvSpPr/>
          <p:nvPr/>
        </p:nvSpPr>
        <p:spPr>
          <a:xfrm>
            <a:off x="7657254" y="7262545"/>
            <a:ext cx="4703417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horizonte — janela, concessão ou perpetuidade de Gordon — e a taxa de desconto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2427125" y="7910017"/>
            <a:ext cx="4717836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Text 52"/>
          <p:cNvSpPr/>
          <p:nvPr/>
        </p:nvSpPr>
        <p:spPr>
          <a:xfrm>
            <a:off x="12427125" y="7262545"/>
            <a:ext cx="4859372" cy="57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quais ativos se reavaliam, quem assina cada laudo e o tratamento dos não operacionais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142997" y="8496307"/>
            <a:ext cx="13512846" cy="64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125" b="1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RECONCILIAÇÃO </a:t>
            </a: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cada indicação recebe peso conforme a qualidade dos insumos e a natureza do ativo. </a:t>
            </a:r>
            <a:r>
              <a:rPr lang="en-US" sz="16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média aritmética; nunca preferência de resultado.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4643220" y="8557172"/>
            <a:ext cx="2751916" cy="2666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IVS, edição em vigor desde 31.01.2025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1695594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memorando que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abre a diligência.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6482023" cy="75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Memorando de entendimentos, ou carta de intenções. Registra preço e estrutura indicativos antes de o vendedor abrir a empresa — e dá a você exclusividade para investigar sem concorrência.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42997" y="3334826"/>
            <a:ext cx="9050371" cy="468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42997" y="8052096"/>
            <a:ext cx="9072000" cy="9525"/>
          </a:xfrm>
          <a:prstGeom prst="rect">
            <a:avLst/>
          </a:prstGeom>
          <a:solidFill>
            <a:srgbClr val="1A2733">
              <a:alpha val="14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142997" y="3334826"/>
            <a:ext cx="9050371" cy="17390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/>
          <p:nvPr/>
        </p:nvSpPr>
        <p:spPr>
          <a:xfrm>
            <a:off x="1494537" y="3675429"/>
            <a:ext cx="171363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VINCULANTE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356797" y="3618911"/>
            <a:ext cx="2733534" cy="34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500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 mudar com a diligência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94537" y="4914141"/>
            <a:ext cx="398316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1494537" y="4209362"/>
            <a:ext cx="438148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 indicativo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94537" y="4540795"/>
            <a:ext cx="438148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base sobre a qual foi calculado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58660" y="4914141"/>
            <a:ext cx="398316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/>
          <p:nvPr/>
        </p:nvSpPr>
        <p:spPr>
          <a:xfrm>
            <a:off x="5858660" y="4209362"/>
            <a:ext cx="438148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de pagamento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858660" y="4540795"/>
            <a:ext cx="438148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vista, parcelas, earn-out, retenção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494537" y="5760961"/>
            <a:ext cx="398316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1494537" y="5056183"/>
            <a:ext cx="438148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Objeto da compra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94537" y="5387616"/>
            <a:ext cx="438148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quotas ou ativos, percentual adquirido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858660" y="5760961"/>
            <a:ext cx="398316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/>
          <p:nvPr/>
        </p:nvSpPr>
        <p:spPr>
          <a:xfrm>
            <a:off x="5858660" y="5056183"/>
            <a:ext cx="438148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Premissas do preço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858660" y="5387616"/>
            <a:ext cx="438148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dívida líquida e capital de giro normal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494537" y="6607782"/>
            <a:ext cx="398316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1494537" y="5903004"/>
            <a:ext cx="438148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Condições precedentes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94537" y="6234436"/>
            <a:ext cx="438148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diligência satisfatória, anuências, financiamento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858660" y="6607782"/>
            <a:ext cx="398316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/>
          <p:nvPr/>
        </p:nvSpPr>
        <p:spPr>
          <a:xfrm>
            <a:off x="5858660" y="5903004"/>
            <a:ext cx="438148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Permanência do vendedor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858660" y="6234436"/>
            <a:ext cx="438148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transição e não concorrência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0440975" y="3334826"/>
            <a:ext cx="6703986" cy="4680000"/>
          </a:xfrm>
          <a:prstGeom prst="rect">
            <a:avLst/>
          </a:prstGeom>
          <a:solidFill>
            <a:srgbClr val="0E335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/>
          <p:nvPr/>
        </p:nvSpPr>
        <p:spPr>
          <a:xfrm>
            <a:off x="10783820" y="3658039"/>
            <a:ext cx="119691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VINCULANTE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4579704" y="3601521"/>
            <a:ext cx="2444653" cy="34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500" i="1" dirty="0">
                <a:solidFill>
                  <a:srgbClr val="C9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 desde a assinatura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783820" y="4896750"/>
            <a:ext cx="6018297" cy="9525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/>
          <p:nvPr/>
        </p:nvSpPr>
        <p:spPr>
          <a:xfrm>
            <a:off x="10783820" y="4191972"/>
            <a:ext cx="662012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Exclusividade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783820" y="4523405"/>
            <a:ext cx="662012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C9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vendedor não negocia com terceiros no prazo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783820" y="5743571"/>
            <a:ext cx="6018297" cy="9525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/>
          <p:nvPr/>
        </p:nvSpPr>
        <p:spPr>
          <a:xfrm>
            <a:off x="10783820" y="5038793"/>
            <a:ext cx="662012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Escopo e prazo da diligência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783820" y="5370226"/>
            <a:ext cx="662012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C9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será aberto, e até quando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0783820" y="6590392"/>
            <a:ext cx="6018297" cy="9525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/>
          <p:nvPr/>
        </p:nvSpPr>
        <p:spPr>
          <a:xfrm>
            <a:off x="10783820" y="5885614"/>
            <a:ext cx="662012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Confidencialidade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0783820" y="6217046"/>
            <a:ext cx="662012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C9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inclusive da própria existência da negociação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783820" y="6732435"/>
            <a:ext cx="6620126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Custos e foro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783820" y="7063867"/>
            <a:ext cx="6620126" cy="2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350" dirty="0">
                <a:solidFill>
                  <a:srgbClr val="C9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parte arca com os seus assessores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42997" y="8686944"/>
            <a:ext cx="16482023" cy="723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 indicativo alto para ganhar a exclusividade, e baixado depois na diligência, desgasta a confiança. </a:t>
            </a:r>
            <a:r>
              <a:rPr lang="en-US" sz="180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Propomos o que o laudo sustenta, com as premissas escritas.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2684336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seis etapas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diligência.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6482023" cy="75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Diligência não é pedir todos os documentos e ler tudo. É decidir antes o que pode mudar o preço, ir fundo nisso, e chegar ao fim com cada achado já traduzido em número ou em cláusula.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42997" y="3708479"/>
            <a:ext cx="16001964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1142997" y="3419028"/>
            <a:ext cx="2555815" cy="212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>
              <a:lnSpc>
                <a:spcPct val="140217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1</a:t>
            </a:r>
          </a:p>
          <a:p>
            <a:pPr marL="0" indent="0">
              <a:lnSpc>
                <a:spcPct val="140217"/>
              </a:lnSpc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45102" y="3404573"/>
            <a:ext cx="2200307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40217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925740" y="3419028"/>
            <a:ext cx="2200307" cy="25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40217"/>
              </a:lnSpc>
              <a:buNone/>
            </a:pPr>
            <a:r>
              <a:rPr lang="en-US" sz="1050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12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42997" y="3812413"/>
            <a:ext cx="2556000" cy="152368"/>
          </a:xfrm>
          <a:prstGeom prst="rect">
            <a:avLst/>
          </a:prstGeom>
          <a:solidFill>
            <a:srgbClr val="9DB4C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Shape 14"/>
          <p:cNvSpPr/>
          <p:nvPr/>
        </p:nvSpPr>
        <p:spPr>
          <a:xfrm>
            <a:off x="3826586" y="4021910"/>
            <a:ext cx="5256000" cy="152368"/>
          </a:xfrm>
          <a:prstGeom prst="rect">
            <a:avLst/>
          </a:prstGeom>
          <a:solidFill>
            <a:srgbClr val="5E7E9B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Shape 15"/>
          <p:cNvSpPr/>
          <p:nvPr/>
        </p:nvSpPr>
        <p:spPr>
          <a:xfrm>
            <a:off x="6517474" y="4231408"/>
            <a:ext cx="5292000" cy="152368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Shape 16"/>
          <p:cNvSpPr/>
          <p:nvPr/>
        </p:nvSpPr>
        <p:spPr>
          <a:xfrm>
            <a:off x="9178557" y="4440905"/>
            <a:ext cx="5292000" cy="152368"/>
          </a:xfrm>
          <a:prstGeom prst="rect">
            <a:avLst/>
          </a:prstGeom>
          <a:solidFill>
            <a:srgbClr val="2C639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11878285" y="4650402"/>
            <a:ext cx="2592000" cy="152368"/>
          </a:xfrm>
          <a:prstGeom prst="rect">
            <a:avLst/>
          </a:prstGeom>
          <a:solidFill>
            <a:srgbClr val="0E335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14535389" y="4859900"/>
            <a:ext cx="2592000" cy="152368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1142997" y="5259874"/>
            <a:ext cx="2555815" cy="34780"/>
          </a:xfrm>
          <a:prstGeom prst="rect">
            <a:avLst/>
          </a:prstGeom>
          <a:solidFill>
            <a:srgbClr val="9DB4C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1142997" y="5466043"/>
            <a:ext cx="281139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142997" y="5789799"/>
            <a:ext cx="2811396" cy="33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806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 e escopo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42997" y="6201255"/>
            <a:ext cx="2632489" cy="11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2"/>
              </a:lnSpc>
              <a:buNone/>
            </a:pPr>
            <a:r>
              <a:rPr lang="en-US" sz="14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Materialidade, frentes, quem cobre cada uma, cronograma e lista de riscos da tese a confirmar.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3832159" y="5259874"/>
            <a:ext cx="2555882" cy="34780"/>
          </a:xfrm>
          <a:prstGeom prst="rect">
            <a:avLst/>
          </a:prstGeom>
          <a:solidFill>
            <a:srgbClr val="5E7E9B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3832159" y="5466043"/>
            <a:ext cx="281147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832159" y="5789799"/>
            <a:ext cx="2632559" cy="632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806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Pedido de informações e data room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3832159" y="6498450"/>
            <a:ext cx="2632559" cy="11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2"/>
              </a:lnSpc>
              <a:buNone/>
            </a:pPr>
            <a:r>
              <a:rPr lang="en-US" sz="14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por frente, data room organizado e registro de perguntas e respostas com o vendedor.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6521389" y="5259874"/>
            <a:ext cx="2555882" cy="34780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6521389" y="5466043"/>
            <a:ext cx="281147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521389" y="5789799"/>
            <a:ext cx="2811471" cy="33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806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por frentes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521389" y="6201255"/>
            <a:ext cx="2632559" cy="13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2"/>
              </a:lnSpc>
              <a:buNone/>
            </a:pPr>
            <a:r>
              <a:rPr lang="en-US" sz="1425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Financeira, fiscal e trabalhista, jurídica, societária e contratual, operacional e comercial — em paralelo, com um ponto único de coordenação.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9210619" y="5259874"/>
            <a:ext cx="2555882" cy="34780"/>
          </a:xfrm>
          <a:prstGeom prst="rect">
            <a:avLst/>
          </a:prstGeom>
          <a:solidFill>
            <a:srgbClr val="2C639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/>
          <p:nvPr/>
        </p:nvSpPr>
        <p:spPr>
          <a:xfrm>
            <a:off x="9210619" y="5466043"/>
            <a:ext cx="281147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210619" y="5789799"/>
            <a:ext cx="2811471" cy="33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806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 e visita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210619" y="6201255"/>
            <a:ext cx="2632559" cy="13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2"/>
              </a:lnSpc>
              <a:buNone/>
            </a:pPr>
            <a:r>
              <a:rPr lang="en-US" sz="14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Entrevistas com o dono e gestores-chave, visita à operação e, com autorização, conversa com clientes relevantes.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1899849" y="5259874"/>
            <a:ext cx="2555882" cy="34780"/>
          </a:xfrm>
          <a:prstGeom prst="rect">
            <a:avLst/>
          </a:prstGeom>
          <a:solidFill>
            <a:srgbClr val="0E335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/>
          <p:nvPr/>
        </p:nvSpPr>
        <p:spPr>
          <a:xfrm>
            <a:off x="11899849" y="5466043"/>
            <a:ext cx="281147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1899849" y="5789799"/>
            <a:ext cx="2811471" cy="33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6806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Relatório de achados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899849" y="6201255"/>
            <a:ext cx="2632559" cy="11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2"/>
              </a:lnSpc>
              <a:buNone/>
            </a:pPr>
            <a:r>
              <a:rPr lang="en-US" sz="14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achado com evidência, valor estimado e gravidade — do que é informativo ao que impede o negócio.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14589079" y="5259874"/>
            <a:ext cx="2555815" cy="3478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2" name="Text 40"/>
          <p:cNvSpPr/>
          <p:nvPr/>
        </p:nvSpPr>
        <p:spPr>
          <a:xfrm>
            <a:off x="14589079" y="5466043"/>
            <a:ext cx="281139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4589079" y="5789799"/>
            <a:ext cx="2632489" cy="632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806"/>
              </a:lnSpc>
              <a:buNone/>
            </a:pPr>
            <a:r>
              <a:rPr lang="en-US" sz="1950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Tradução em preço e contrato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4589079" y="6498450"/>
            <a:ext cx="2632489" cy="11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2"/>
              </a:lnSpc>
              <a:buNone/>
            </a:pPr>
            <a:r>
              <a:rPr lang="en-US" sz="14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Ajuste de preço, retenção, declarações e garantias, condições precedentes — ou a recomendação de não seguir.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142997" y="8829733"/>
            <a:ext cx="16482023" cy="5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2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Prazo indicativo para PME com informação organizada. A frente jurídica é conduzida pelo seu advogado; a fiscal e a trabalhista, por especialistas indicados ou por você escolhidos, sob a nossa coordenação.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6658580" y="9639396"/>
            <a:ext cx="56258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5200000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DA DILIGÊNCIA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609200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frentes,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só coordenador.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6482023" cy="75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diligência total olha o número e tudo o que pode quebrá-lo. Conduzimos a frente financeira e a operacional e comercial; as demais, com especialistas, sob a nossa coordenação.</a:t>
            </a:r>
            <a:endParaRPr lang="en-US" sz="1875" dirty="0"/>
          </a:p>
        </p:txBody>
      </p:sp>
      <p:sp>
        <p:nvSpPr>
          <p:cNvPr id="101" name="Cab 1"/>
          <p:cNvSpPr/>
          <p:nvPr/>
        </p:nvSpPr>
        <p:spPr>
          <a:xfrm>
            <a:off x="1315273" y="3050000"/>
            <a:ext cx="5200000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pt-BR" sz="1125" b="1" kern="0" spc="158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</a:t>
            </a:r>
          </a:p>
        </p:txBody>
      </p:sp>
      <p:sp>
        <p:nvSpPr>
          <p:cNvPr id="102" name="Cab 2"/>
          <p:cNvSpPr/>
          <p:nvPr/>
        </p:nvSpPr>
        <p:spPr>
          <a:xfrm>
            <a:off x="6772276" y="3050000"/>
            <a:ext cx="6700000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pt-BR" sz="1125" b="1" kern="0" spc="158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CONFIRMA</a:t>
            </a:r>
          </a:p>
        </p:txBody>
      </p:sp>
      <p:sp>
        <p:nvSpPr>
          <p:cNvPr id="103" name="Cab 3"/>
          <p:cNvSpPr/>
          <p:nvPr/>
        </p:nvSpPr>
        <p:spPr>
          <a:xfrm>
            <a:off x="13772276" y="3050000"/>
            <a:ext cx="3540000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pt-BR" sz="1125" b="1" kern="0" spc="158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CONDUZ</a:t>
            </a:r>
          </a:p>
        </p:txBody>
      </p:sp>
      <p:sp>
        <p:nvSpPr>
          <p:cNvPr id="104" name="Linha cab"/>
          <p:cNvSpPr/>
          <p:nvPr/>
        </p:nvSpPr>
        <p:spPr>
          <a:xfrm>
            <a:off x="1315273" y="3480000"/>
            <a:ext cx="15997003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Frente 1"/>
          <p:cNvSpPr/>
          <p:nvPr/>
        </p:nvSpPr>
        <p:spPr>
          <a:xfrm>
            <a:off x="1315273" y="3720000"/>
            <a:ext cx="5200000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Financeira — quality of earnings</a:t>
            </a:r>
          </a:p>
        </p:txBody>
      </p:sp>
      <p:sp>
        <p:nvSpPr>
          <p:cNvPr id="106" name="Confirma 1"/>
          <p:cNvSpPr/>
          <p:nvPr/>
        </p:nvSpPr>
        <p:spPr>
          <a:xfrm>
            <a:off x="6772276" y="3720000"/>
            <a:ext cx="6700000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500" dirty="0">
                <a:solidFill>
                  <a:srgbClr val="3E4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lucro é real e se repete: EBITDA ajustado, capital de giro normal da operação e toda a dívida, inclusive a que não aparece como tal.</a:t>
            </a:r>
          </a:p>
        </p:txBody>
      </p:sp>
      <p:sp>
        <p:nvSpPr>
          <p:cNvPr id="107" name="Conduz 1"/>
          <p:cNvSpPr/>
          <p:nvPr/>
        </p:nvSpPr>
        <p:spPr>
          <a:xfrm>
            <a:off x="13772276" y="3720000"/>
            <a:ext cx="35400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50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Tonello &amp; Siqueira</a:t>
            </a:r>
          </a:p>
        </p:txBody>
      </p:sp>
      <p:sp>
        <p:nvSpPr>
          <p:cNvPr id="108" name="Linha 1"/>
          <p:cNvSpPr/>
          <p:nvPr/>
        </p:nvSpPr>
        <p:spPr>
          <a:xfrm>
            <a:off x="1315273" y="4650000"/>
            <a:ext cx="1599700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Frente 2"/>
          <p:cNvSpPr/>
          <p:nvPr/>
        </p:nvSpPr>
        <p:spPr>
          <a:xfrm>
            <a:off x="1315273" y="4750000"/>
            <a:ext cx="5200000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e trabalhista</a:t>
            </a:r>
          </a:p>
        </p:txBody>
      </p:sp>
      <p:sp>
        <p:nvSpPr>
          <p:cNvPr id="110" name="Confirma 2"/>
          <p:cNvSpPr/>
          <p:nvPr/>
        </p:nvSpPr>
        <p:spPr>
          <a:xfrm>
            <a:off x="6772276" y="4750000"/>
            <a:ext cx="6700000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500" dirty="0">
                <a:solidFill>
                  <a:srgbClr val="3E4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tributos e encargos estão em dia e quais passivos fiscais e trabalhistas existem fora do balanço, com o custo estimado de cada um.</a:t>
            </a:r>
          </a:p>
        </p:txBody>
      </p:sp>
      <p:sp>
        <p:nvSpPr>
          <p:cNvPr id="111" name="Conduz 2"/>
          <p:cNvSpPr/>
          <p:nvPr/>
        </p:nvSpPr>
        <p:spPr>
          <a:xfrm>
            <a:off x="13772276" y="4750000"/>
            <a:ext cx="35400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Especialista, sob a nossa coordenação</a:t>
            </a:r>
          </a:p>
        </p:txBody>
      </p:sp>
      <p:sp>
        <p:nvSpPr>
          <p:cNvPr id="112" name="Linha 2"/>
          <p:cNvSpPr/>
          <p:nvPr/>
        </p:nvSpPr>
        <p:spPr>
          <a:xfrm>
            <a:off x="1315273" y="5680000"/>
            <a:ext cx="1599700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Frente 3"/>
          <p:cNvSpPr/>
          <p:nvPr/>
        </p:nvSpPr>
        <p:spPr>
          <a:xfrm>
            <a:off x="1315273" y="5780000"/>
            <a:ext cx="5200000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Jurídica, societária e contratual</a:t>
            </a:r>
          </a:p>
        </p:txBody>
      </p:sp>
      <p:sp>
        <p:nvSpPr>
          <p:cNvPr id="114" name="Confirma 3"/>
          <p:cNvSpPr/>
          <p:nvPr/>
        </p:nvSpPr>
        <p:spPr>
          <a:xfrm>
            <a:off x="6772276" y="5780000"/>
            <a:ext cx="6700000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500" dirty="0">
                <a:solidFill>
                  <a:srgbClr val="3E4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é dono de quê, o que os contratos obrigam, quais cláusulas mudam com a troca de controle e que processos em curso podem chegar ao comprador.</a:t>
            </a:r>
          </a:p>
        </p:txBody>
      </p:sp>
      <p:sp>
        <p:nvSpPr>
          <p:cNvPr id="115" name="Conduz 3"/>
          <p:cNvSpPr/>
          <p:nvPr/>
        </p:nvSpPr>
        <p:spPr>
          <a:xfrm>
            <a:off x="13772276" y="5780000"/>
            <a:ext cx="35400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advogado, sob a nossa coordenação</a:t>
            </a:r>
          </a:p>
        </p:txBody>
      </p:sp>
      <p:sp>
        <p:nvSpPr>
          <p:cNvPr id="116" name="Linha 3"/>
          <p:cNvSpPr/>
          <p:nvPr/>
        </p:nvSpPr>
        <p:spPr>
          <a:xfrm>
            <a:off x="1315273" y="6710000"/>
            <a:ext cx="15997003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Frente 4"/>
          <p:cNvSpPr/>
          <p:nvPr/>
        </p:nvSpPr>
        <p:spPr>
          <a:xfrm>
            <a:off x="1315273" y="6810000"/>
            <a:ext cx="5200000" cy="331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Operacional e comercial</a:t>
            </a:r>
          </a:p>
        </p:txBody>
      </p:sp>
      <p:sp>
        <p:nvSpPr>
          <p:cNvPr id="118" name="Confirma 4"/>
          <p:cNvSpPr/>
          <p:nvPr/>
        </p:nvSpPr>
        <p:spPr>
          <a:xfrm>
            <a:off x="6772276" y="6810000"/>
            <a:ext cx="6700000" cy="88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500" dirty="0">
                <a:solidFill>
                  <a:srgbClr val="3E4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receita continua depois da venda: concentração de clientes, retenção da equipe, maturidade dos processos e dependência do dono.</a:t>
            </a:r>
          </a:p>
        </p:txBody>
      </p:sp>
      <p:sp>
        <p:nvSpPr>
          <p:cNvPr id="119" name="Conduz 4"/>
          <p:cNvSpPr/>
          <p:nvPr/>
        </p:nvSpPr>
        <p:spPr>
          <a:xfrm>
            <a:off x="13772276" y="6810000"/>
            <a:ext cx="35400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50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Tonello &amp; Siqueira</a:t>
            </a:r>
          </a:p>
        </p:txBody>
      </p:sp>
      <p:sp>
        <p:nvSpPr>
          <p:cNvPr id="120" name="Linha 4"/>
          <p:cNvSpPr/>
          <p:nvPr/>
        </p:nvSpPr>
        <p:spPr>
          <a:xfrm>
            <a:off x="1315273" y="7867590"/>
            <a:ext cx="15997003" cy="9525"/>
          </a:xfrm>
          <a:prstGeom prst="rect">
            <a:avLst/>
          </a:prstGeom>
          <a:solidFill>
            <a:srgbClr val="1A2733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1" name="Nota escopo"/>
          <p:cNvSpPr/>
          <p:nvPr/>
        </p:nvSpPr>
        <p:spPr>
          <a:xfrm>
            <a:off x="1315273" y="7980000"/>
            <a:ext cx="15997003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pt-BR" sz="1350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Frentes de TI e dados e ambiental não fazem parte do escopo padrão, dado o porte das empresas-alvo.</a:t>
            </a:r>
          </a:p>
        </p:txBody>
      </p:sp>
      <p:sp>
        <p:nvSpPr>
          <p:cNvPr id="45" name="Text 43"/>
          <p:cNvSpPr/>
          <p:nvPr/>
        </p:nvSpPr>
        <p:spPr>
          <a:xfrm>
            <a:off x="1142997" y="8560000"/>
            <a:ext cx="16482023" cy="723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contingência trabalhista pode anular um EBITDA perfeito. </a:t>
            </a:r>
            <a:r>
              <a:rPr lang="en-US" sz="180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isso as quatro frentes andam juntas, com um ponto único de coordenação.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230" name="Text 45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1459503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4066350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E FECHAMENTO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assinatura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transição.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2997" y="1865302"/>
            <a:ext cx="16482023" cy="75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14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contrato de compra e venda é onde a diligência se paga. A redação é do seu advogado; a estrutura do preço e das garantias, construímos com ele a partir dos achados.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142997" y="3565955"/>
            <a:ext cx="8402954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PREÇO SE ESTRUTURA — EXEMPLO ILUSTRATIVO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1142997" y="3946841"/>
            <a:ext cx="4201429" cy="800085"/>
          </a:xfrm>
          <a:prstGeom prst="rect">
            <a:avLst/>
          </a:prstGeom>
          <a:solidFill>
            <a:srgbClr val="0E335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1352547" y="3946841"/>
            <a:ext cx="4117922" cy="83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vista no fechamento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344427" y="3946841"/>
            <a:ext cx="1527755" cy="800085"/>
          </a:xfrm>
          <a:prstGeom prst="rect">
            <a:avLst/>
          </a:prstGeom>
          <a:solidFill>
            <a:srgbClr val="2C639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5306327" y="3946841"/>
            <a:ext cx="1603955" cy="83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217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72182" y="3946841"/>
            <a:ext cx="1145850" cy="800085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6834082" y="3946841"/>
            <a:ext cx="1222050" cy="83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217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Earn-out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18033" y="3946841"/>
            <a:ext cx="763878" cy="800085"/>
          </a:xfrm>
          <a:prstGeom prst="rect">
            <a:avLst/>
          </a:prstGeom>
          <a:solidFill>
            <a:srgbClr val="9DB4C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7979933" y="3946841"/>
            <a:ext cx="840078" cy="83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217"/>
              </a:lnSpc>
              <a:buNone/>
            </a:pPr>
            <a:r>
              <a:rPr lang="en-US" sz="1350" dirty="0">
                <a:solidFill>
                  <a:srgbClr val="0E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Retenção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2997" y="4861184"/>
            <a:ext cx="8402954" cy="31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Proporções apenas para ilustrar — cada negócio tem a sua composição.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42997" y="5383094"/>
            <a:ext cx="7639049" cy="9525"/>
          </a:xfrm>
          <a:prstGeom prst="rect">
            <a:avLst/>
          </a:prstGeom>
          <a:solidFill>
            <a:srgbClr val="1A2733">
              <a:alpha val="14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/>
          <p:nvPr/>
        </p:nvSpPr>
        <p:spPr>
          <a:xfrm>
            <a:off x="1142997" y="5506089"/>
            <a:ext cx="7868220" cy="32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Parcelas </a:t>
            </a: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reduzem o desembolso inicial e mantêm o vendedor comprometido.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1142997" y="5910370"/>
            <a:ext cx="7639049" cy="9525"/>
          </a:xfrm>
          <a:prstGeom prst="rect">
            <a:avLst/>
          </a:prstGeom>
          <a:solidFill>
            <a:srgbClr val="1A2733">
              <a:alpha val="14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/>
          <p:nvPr/>
        </p:nvSpPr>
        <p:spPr>
          <a:xfrm>
            <a:off x="1142997" y="6033365"/>
            <a:ext cx="7868220" cy="61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Earn-out </a:t>
            </a: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parte do preço atrelada a metas: o vendedor recebe se o resultado prometido se confirmar.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142997" y="7254985"/>
            <a:ext cx="7639049" cy="9525"/>
          </a:xfrm>
          <a:prstGeom prst="rect">
            <a:avLst/>
          </a:prstGeom>
          <a:solidFill>
            <a:srgbClr val="1A2733">
              <a:alpha val="14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1142997" y="6727709"/>
            <a:ext cx="7639049" cy="9525"/>
          </a:xfrm>
          <a:prstGeom prst="rect">
            <a:avLst/>
          </a:prstGeom>
          <a:solidFill>
            <a:srgbClr val="1A2733">
              <a:alpha val="14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1142997" y="6850704"/>
            <a:ext cx="7868220" cy="32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Retenção </a:t>
            </a: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protege contra contingências identificadas na diligência.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9505913" y="3565955"/>
            <a:ext cx="3924000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MOMENTOS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9610662" y="4042079"/>
            <a:ext cx="19021" cy="3852000"/>
          </a:xfrm>
          <a:prstGeom prst="rect">
            <a:avLst/>
          </a:prstGeom>
          <a:solidFill>
            <a:srgbClr val="B0863C">
              <a:alpha val="5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9505913" y="3984882"/>
            <a:ext cx="228586" cy="228586"/>
          </a:xfrm>
          <a:prstGeom prst="ellipse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9886866" y="3946841"/>
            <a:ext cx="6912000" cy="46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249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Assinatura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886866" y="4449662"/>
            <a:ext cx="747583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de compra e venda de quotas ou ativos, com declarações e garantias, indenização, não concorrência do vendedor e condições precedentes.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9505913" y="5373516"/>
            <a:ext cx="228586" cy="228586"/>
          </a:xfrm>
          <a:prstGeom prst="ellipse">
            <a:avLst/>
          </a:prstGeom>
          <a:solidFill>
            <a:srgbClr val="0E3354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/>
          <p:nvPr/>
        </p:nvSpPr>
        <p:spPr>
          <a:xfrm>
            <a:off x="9886866" y="5335475"/>
            <a:ext cx="7983904" cy="46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249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Fechamento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886866" y="5838296"/>
            <a:ext cx="747583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Cumpridas as condições, pagamento, transferência das quotas, alteração contratual e troca de procurações bancárias.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9505913" y="6762149"/>
            <a:ext cx="228586" cy="228586"/>
          </a:xfrm>
          <a:prstGeom prst="ellipse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/>
          <p:nvPr/>
        </p:nvSpPr>
        <p:spPr>
          <a:xfrm>
            <a:off x="9886866" y="6724108"/>
            <a:ext cx="7983904" cy="46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249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Transição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886866" y="7226929"/>
            <a:ext cx="747583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Permanência combinada do vendedor, apresentação a clientes e fornecedores, e acompanhamento do ajuste de preço e do earn-out.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76387" y="723867"/>
            <a:ext cx="861408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142997" y="1135321"/>
            <a:ext cx="17602160" cy="63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</a:t>
            </a:r>
            <a:r>
              <a:rPr lang="en-US" sz="4350" i="1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assina.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2997" y="2074799"/>
            <a:ext cx="2476472" cy="3598682"/>
          </a:xfrm>
          <a:prstGeom prst="rect">
            <a:avLst/>
          </a:prstGeom>
          <a:ln w="8695">
            <a:solidFill>
              <a:srgbClr val="1A2733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463" b="463"/>
          <a:stretch/>
        </p:blipFill>
        <p:spPr>
          <a:xfrm>
            <a:off x="1227842" y="2159644"/>
            <a:ext cx="2306782" cy="3428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62314" y="2074799"/>
            <a:ext cx="5364548" cy="410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81"/>
              </a:lnSpc>
              <a:buNone/>
            </a:pPr>
            <a:r>
              <a:rPr lang="en-US" sz="25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Alexandre Fillard Tonello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3962314" y="2542432"/>
            <a:ext cx="536454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· VALUATION E MODELAGEM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3962314" y="2942339"/>
            <a:ext cx="5023167" cy="412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just">
              <a:lnSpc>
                <a:spcPct val="132717"/>
              </a:lnSpc>
              <a:spcAft>
                <a:spcPts val="900"/>
              </a:spcAft>
              <a:buNone/>
            </a:pPr>
            <a:r>
              <a:rPr lang="pt-BR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 pela UFSC e MBA Executivo pela FGV, soma quinze anos em finanças corporativas, Project Finance e M&amp;A no setor de energia, no Brasil, na América Latina e na África. No sistema Eletrobras, foi Head Latam, CFO da Rouar S.A., binacional no Uruguai, e Chief of Staff da Diretoria Administrativa da Eletrosul.</a:t>
            </a:r>
          </a:p>
          <a:p>
            <a:pPr marL="0" indent="0" algn="just">
              <a:lnSpc>
                <a:spcPct val="132717"/>
              </a:lnSpc>
              <a:buNone/>
            </a:pPr>
            <a:r>
              <a:rPr lang="pt-BR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frente da Tonello Advisory, consultoria de modelagem e valuation de projetos de energia, desenvolveu o rigor dos modelos da casa. Tem certificados executivos de Cambridge, Wharton, Yale, University of London e Nanjing </a:t>
            </a:r>
            <a:r>
              <a:rPr lang="pt-BR" sz="1575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</a:t>
            </a:r>
            <a:r>
              <a:rPr lang="pt-BR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</a:p>
        </p:txBody>
      </p:sp>
      <p:sp>
        <p:nvSpPr>
          <p:cNvPr id="10" name="Shape 7"/>
          <p:cNvSpPr/>
          <p:nvPr/>
        </p:nvSpPr>
        <p:spPr>
          <a:xfrm>
            <a:off x="3962314" y="7200019"/>
            <a:ext cx="4876862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8"/>
          <p:cNvSpPr/>
          <p:nvPr/>
        </p:nvSpPr>
        <p:spPr>
          <a:xfrm>
            <a:off x="3962314" y="7656172"/>
            <a:ext cx="4876862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9"/>
          <p:cNvSpPr/>
          <p:nvPr/>
        </p:nvSpPr>
        <p:spPr>
          <a:xfrm>
            <a:off x="3962314" y="7294440"/>
            <a:ext cx="5023167" cy="314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Avaliação do alvo e teto de preço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962314" y="8112325"/>
            <a:ext cx="4876862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1"/>
          <p:cNvSpPr/>
          <p:nvPr/>
        </p:nvSpPr>
        <p:spPr>
          <a:xfrm>
            <a:off x="3962314" y="7750593"/>
            <a:ext cx="5023167" cy="314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Diligência financeira e qualidade do resultado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62314" y="8206745"/>
            <a:ext cx="5023167" cy="314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Modelagem, taxa de desconto e cenários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448715" y="2074799"/>
            <a:ext cx="2476472" cy="3598682"/>
          </a:xfrm>
          <a:prstGeom prst="rect">
            <a:avLst/>
          </a:prstGeom>
          <a:ln w="8695">
            <a:solidFill>
              <a:srgbClr val="1A2733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463" b="463"/>
          <a:stretch/>
        </p:blipFill>
        <p:spPr>
          <a:xfrm>
            <a:off x="9533561" y="2159644"/>
            <a:ext cx="2306782" cy="34289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268033" y="2074799"/>
            <a:ext cx="5364623" cy="410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81"/>
              </a:lnSpc>
              <a:buNone/>
            </a:pPr>
            <a:r>
              <a:rPr lang="en-US" sz="25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 Monteiro de Siqueira</a:t>
            </a:r>
            <a:endParaRPr lang="en-US" sz="2550" dirty="0"/>
          </a:p>
        </p:txBody>
      </p:sp>
      <p:sp>
        <p:nvSpPr>
          <p:cNvPr id="19" name="Text 15"/>
          <p:cNvSpPr/>
          <p:nvPr/>
        </p:nvSpPr>
        <p:spPr>
          <a:xfrm>
            <a:off x="12268033" y="2542432"/>
            <a:ext cx="536462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· COMPRA, VENDA E NEGOCIAÇÃO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12268033" y="2942339"/>
            <a:ext cx="5023238" cy="412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just">
              <a:lnSpc>
                <a:spcPct val="132717"/>
              </a:lnSpc>
              <a:spcAft>
                <a:spcPts val="900"/>
              </a:spcAft>
              <a:buNone/>
            </a:pPr>
            <a:r>
              <a:rPr lang="pt-BR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Administrador, pós-graduado em Marketing pela UFSC/Fepese e com formação em Valuation e Finanças pela FIPECAFI. Especialista em compra e venda de empresas, já assessorou dezenas de transações, da avaliação inicial e da preparação do negócio até o fechamento.</a:t>
            </a:r>
          </a:p>
          <a:p>
            <a:pPr marL="0" indent="0" algn="just">
              <a:lnSpc>
                <a:spcPct val="132717"/>
              </a:lnSpc>
              <a:buNone/>
            </a:pPr>
            <a:r>
              <a:rPr lang="pt-BR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Conhece os dois lados da mesa: o que o vendedor esconde, onde o preço cai na diligência e como negociar sem perder o negócio. É autor do e-book </a:t>
            </a:r>
            <a:r>
              <a:rPr lang="pt-BR" sz="1575" i="1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 sua Empresa</a:t>
            </a:r>
            <a:r>
              <a:rPr lang="pt-BR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do blog </a:t>
            </a:r>
            <a:r>
              <a:rPr lang="pt-BR" sz="1575" i="1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 e Venda de Empresas</a:t>
            </a:r>
            <a:r>
              <a:rPr lang="pt-BR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escrito para donos de PME que pensam em comprar ou vender.</a:t>
            </a:r>
          </a:p>
        </p:txBody>
      </p:sp>
      <p:sp>
        <p:nvSpPr>
          <p:cNvPr id="21" name="Shape 17"/>
          <p:cNvSpPr/>
          <p:nvPr/>
        </p:nvSpPr>
        <p:spPr>
          <a:xfrm>
            <a:off x="12268033" y="7200019"/>
            <a:ext cx="4876930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Shape 18"/>
          <p:cNvSpPr/>
          <p:nvPr/>
        </p:nvSpPr>
        <p:spPr>
          <a:xfrm>
            <a:off x="12268033" y="7656172"/>
            <a:ext cx="4876930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19"/>
          <p:cNvSpPr/>
          <p:nvPr/>
        </p:nvSpPr>
        <p:spPr>
          <a:xfrm>
            <a:off x="12268033" y="7294440"/>
            <a:ext cx="5023238" cy="314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Busca e abordagem reservada de alvos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12268033" y="8112325"/>
            <a:ext cx="4876930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Text 21"/>
          <p:cNvSpPr/>
          <p:nvPr/>
        </p:nvSpPr>
        <p:spPr>
          <a:xfrm>
            <a:off x="12268033" y="7750593"/>
            <a:ext cx="5023238" cy="314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Proposta, MoU e negociação até a assinatura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2268033" y="8206745"/>
            <a:ext cx="5023238" cy="314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Coordenação das frentes da diligência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1142997" y="8859147"/>
            <a:ext cx="16001964" cy="9525"/>
          </a:xfrm>
          <a:prstGeom prst="rect">
            <a:avLst/>
          </a:prstGeom>
          <a:solidFill>
            <a:srgbClr val="1A2733">
              <a:alpha val="16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8" name="Text 24"/>
          <p:cNvSpPr/>
          <p:nvPr/>
        </p:nvSpPr>
        <p:spPr>
          <a:xfrm>
            <a:off x="1142997" y="9058342"/>
            <a:ext cx="16482023" cy="352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650" dirty="0">
                <a:solidFill>
                  <a:srgbClr val="194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Trabalhos conduzidos pela casa estão sob acordo de confidencialidade e não são citados sem autorização expressa do cliente. Com a sua compra será igual.</a:t>
            </a:r>
            <a:endParaRPr lang="en-US" sz="1650" dirty="0"/>
          </a:p>
        </p:txBody>
      </p:sp>
      <p:sp>
        <p:nvSpPr>
          <p:cNvPr id="29" name="Text 25"/>
          <p:cNvSpPr/>
          <p:nvPr/>
        </p:nvSpPr>
        <p:spPr>
          <a:xfrm>
            <a:off x="1142997" y="9639396"/>
            <a:ext cx="496238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 &amp; Siqueira · Confidencial — uso restrito ao destinatário</a:t>
            </a:r>
            <a:endParaRPr lang="en-US" sz="1125" dirty="0"/>
          </a:p>
        </p:txBody>
      </p:sp>
      <p:sp>
        <p:nvSpPr>
          <p:cNvPr id="30" name="Text 26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194E7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413847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0A9FE-66B5-11E0-E91D-3D0291CE7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">
            <a:extLst>
              <a:ext uri="{FF2B5EF4-FFF2-40B4-BE49-F238E27FC236}">
                <a16:creationId xmlns:a16="http://schemas.microsoft.com/office/drawing/2014/main" id="{6FA28827-6332-1C07-317B-585202699366}"/>
              </a:ext>
            </a:extLst>
          </p:cNvPr>
          <p:cNvSpPr/>
          <p:nvPr/>
        </p:nvSpPr>
        <p:spPr>
          <a:xfrm>
            <a:off x="-15027" y="10731"/>
            <a:ext cx="18287959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14000"/>
                </a:srgbClr>
              </a:gs>
              <a:gs pos="55000">
                <a:srgbClr val="D4AF6A">
                  <a:alpha val="0"/>
                </a:srgbClr>
              </a:gs>
            </a:gsLst>
            <a:path path="circle">
              <a:fillToRect l="90000" t="10000" r="10000" b="90000"/>
            </a:path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73423E8-B2D7-66AE-5697-F22D35227F0B}"/>
              </a:ext>
            </a:extLst>
          </p:cNvPr>
          <p:cNvSpPr/>
          <p:nvPr/>
        </p:nvSpPr>
        <p:spPr>
          <a:xfrm>
            <a:off x="-15027" y="-10708"/>
            <a:ext cx="18287959" cy="10286977"/>
          </a:xfrm>
          <a:prstGeom prst="rect">
            <a:avLst/>
          </a:prstGeom>
          <a:gradFill rotWithShape="1">
            <a:gsLst>
              <a:gs pos="0">
                <a:srgbClr val="0E2438">
                  <a:alpha val="100000"/>
                </a:srgbClr>
              </a:gs>
              <a:gs pos="45000">
                <a:srgbClr val="173A59">
                  <a:alpha val="100000"/>
                </a:srgbClr>
              </a:gs>
              <a:gs pos="72000">
                <a:srgbClr val="245078">
                  <a:alpha val="100000"/>
                </a:srgbClr>
              </a:gs>
              <a:gs pos="100000">
                <a:srgbClr val="356C9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63D3C7-73AE-6FA6-8297-536815541154}"/>
              </a:ext>
            </a:extLst>
          </p:cNvPr>
          <p:cNvSpPr/>
          <p:nvPr/>
        </p:nvSpPr>
        <p:spPr>
          <a:xfrm>
            <a:off x="1047691" y="813399"/>
            <a:ext cx="342845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1BB596-258F-4BB5-E78B-399543D3E543}"/>
              </a:ext>
            </a:extLst>
          </p:cNvPr>
          <p:cNvSpPr/>
          <p:nvPr/>
        </p:nvSpPr>
        <p:spPr>
          <a:xfrm>
            <a:off x="1561924" y="724886"/>
            <a:ext cx="1531541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HONORÁRIOS</a:t>
            </a:r>
            <a:endParaRPr lang="en-US" sz="13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846D93-41C3-F339-E4BC-058EF4EE9626}"/>
              </a:ext>
            </a:extLst>
          </p:cNvPr>
          <p:cNvSpPr/>
          <p:nvPr/>
        </p:nvSpPr>
        <p:spPr>
          <a:xfrm>
            <a:off x="1047691" y="1169558"/>
            <a:ext cx="11550231" cy="64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399"/>
              </a:lnSpc>
              <a:buNone/>
            </a:pPr>
            <a:r>
              <a:rPr lang="en-US" sz="4350" kern="0" spc="-43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Vários</a:t>
            </a:r>
            <a:r>
              <a:rPr lang="en-US" sz="4350" kern="0" spc="-43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serviços, duas </a:t>
            </a:r>
            <a:r>
              <a:rPr lang="en-US" sz="4350" kern="0" spc="-43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etapas</a:t>
            </a:r>
            <a:r>
              <a:rPr lang="en-US" sz="4350" kern="0" spc="-43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4350" i="1" kern="0" spc="-43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contratação.</a:t>
            </a:r>
            <a:endParaRPr lang="en-US" sz="43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B69DDE-65B7-6139-15B5-91DBEE3A2206}"/>
              </a:ext>
            </a:extLst>
          </p:cNvPr>
          <p:cNvSpPr/>
          <p:nvPr/>
        </p:nvSpPr>
        <p:spPr>
          <a:xfrm>
            <a:off x="15000357" y="1045789"/>
            <a:ext cx="2239911" cy="43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2408"/>
              </a:lnSpc>
              <a:buNone/>
            </a:pPr>
            <a:r>
              <a:rPr lang="en-US" sz="1950" kern="0" spc="1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Tonello</a:t>
            </a:r>
            <a:r>
              <a:rPr lang="en-US" sz="1950" i="1" kern="0" spc="1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en-US" sz="1950" kern="0" spc="1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Siqueira</a:t>
            </a:r>
            <a:endParaRPr lang="en-US" sz="1950" dirty="0"/>
          </a:p>
        </p:txBody>
      </p:sp>
      <p:graphicFrame>
        <p:nvGraphicFramePr>
          <p:cNvPr id="183" name="Tabela 182">
            <a:extLst>
              <a:ext uri="{FF2B5EF4-FFF2-40B4-BE49-F238E27FC236}">
                <a16:creationId xmlns:a16="http://schemas.microsoft.com/office/drawing/2014/main" id="{2965071D-C75E-4050-3E0C-81C37AFF6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068862"/>
              </p:ext>
            </p:extLst>
          </p:nvPr>
        </p:nvGraphicFramePr>
        <p:xfrm>
          <a:off x="1167597" y="2320904"/>
          <a:ext cx="16021155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0000">
                  <a:extLst>
                    <a:ext uri="{9D8B030D-6E8A-4147-A177-3AD203B41FA5}">
                      <a16:colId xmlns:a16="http://schemas.microsoft.com/office/drawing/2014/main" val="2558290249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3586872121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3509029159"/>
                    </a:ext>
                  </a:extLst>
                </a:gridCol>
                <a:gridCol w="3521155">
                  <a:extLst>
                    <a:ext uri="{9D8B030D-6E8A-4147-A177-3AD203B41FA5}">
                      <a16:colId xmlns:a16="http://schemas.microsoft.com/office/drawing/2014/main" val="3881038755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Contrato 1 — Busca, intermediação e modelagem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19050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Duração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19050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Empresa até R$ 5 mi*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19050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Empresa acima de R$ 5 mi*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19050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65433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Tese ao NDA — busca e abordagem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19050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~2 meses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19050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R$ 5.000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19050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R$ 5.000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19050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1511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Modelagem e negociação até o MoU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~1 mês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R$ 10.000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R$ 10.000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573939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Honorários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~3 meses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R$ 15.000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R$ 15.000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8304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Êxito — % do preço + % da economia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No fechamento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1,5% + 10%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1,0% + 10%</a:t>
                      </a:r>
                      <a:r>
                        <a:rPr lang="pt-BR" sz="1500" dirty="0">
                          <a:solidFill>
                            <a:srgbClr val="D6E0EC"/>
                          </a:solidFill>
                          <a:latin typeface="Georgia" panose="02040502050405020303" pitchFamily="18" charset="0"/>
                        </a:rPr>
                        <a:t> · R$ 15 mil creditados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568256"/>
                  </a:ext>
                </a:extLst>
              </a:tr>
            </a:tbl>
          </a:graphicData>
        </a:graphic>
      </p:graphicFrame>
      <p:graphicFrame>
        <p:nvGraphicFramePr>
          <p:cNvPr id="185" name="Tabela 184">
            <a:extLst>
              <a:ext uri="{FF2B5EF4-FFF2-40B4-BE49-F238E27FC236}">
                <a16:creationId xmlns:a16="http://schemas.microsoft.com/office/drawing/2014/main" id="{29EC866E-0FC1-1A2C-595F-05DC8460105E}"/>
              </a:ext>
            </a:extLst>
          </p:cNvPr>
          <p:cNvGraphicFramePr>
            <a:graphicFrameLocks noGrp="1"/>
          </p:cNvGraphicFramePr>
          <p:nvPr/>
        </p:nvGraphicFramePr>
        <p:xfrm>
          <a:off x="1167597" y="5050000"/>
          <a:ext cx="16021155" cy="2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0000">
                  <a:extLst>
                    <a:ext uri="{9D8B030D-6E8A-4147-A177-3AD203B41FA5}">
                      <a16:colId xmlns:a16="http://schemas.microsoft.com/office/drawing/2014/main" val="2558290249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3586872121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3509029159"/>
                    </a:ext>
                  </a:extLst>
                </a:gridCol>
                <a:gridCol w="3521155">
                  <a:extLst>
                    <a:ext uri="{9D8B030D-6E8A-4147-A177-3AD203B41FA5}">
                      <a16:colId xmlns:a16="http://schemas.microsoft.com/office/drawing/2014/main" val="338131569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Contrato 2 — DD financeira e operacional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19050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Duração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19050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Empresa até R$ 5 mi*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19050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Empresa acima de R$ 5 mi*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19050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2091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1 empresa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19050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~2–3 meses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19050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R$ 40.000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19050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R$ 80.000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19050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18492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Cada empresa adicional (até 4 no total)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+1 mês cada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+R$ 30.000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+R$ 60.000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2077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Acima de 4 empresas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Sob consulta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Sob consulta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Sob consulta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4A3B5"/>
                      </a:solidFill>
                      <a:prstDash val="solid"/>
                    </a:lnL>
                    <a:lnR w="9525" cap="flat" cmpd="sng" algn="ctr">
                      <a:solidFill>
                        <a:srgbClr val="94A3B5"/>
                      </a:solidFill>
                      <a:prstDash val="solid"/>
                    </a:lnR>
                    <a:lnT w="9525" cap="flat" cmpd="sng" algn="ctr">
                      <a:solidFill>
                        <a:srgbClr val="94A3B5"/>
                      </a:solidFill>
                      <a:prstDash val="solid"/>
                    </a:lnT>
                    <a:lnB w="9525" cap="flat" cmpd="sng" algn="ctr">
                      <a:solidFill>
                        <a:srgbClr val="94A3B5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475260"/>
                  </a:ext>
                </a:extLst>
              </a:tr>
            </a:tbl>
          </a:graphicData>
        </a:graphic>
      </p:graphicFrame>
      <p:sp>
        <p:nvSpPr>
          <p:cNvPr id="191" name="Legenda porte"/>
          <p:cNvSpPr txBox="1"/>
          <p:nvPr/>
        </p:nvSpPr>
        <p:spPr>
          <a:xfrm>
            <a:off x="1167597" y="7760000"/>
            <a:ext cx="16021155" cy="4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/>
            <a:r>
              <a:rPr lang="pt-BR" sz="1500" b="1" dirty="0">
                <a:solidFill>
                  <a:srgbClr val="E2CF8F"/>
                </a:solidFill>
                <a:latin typeface="Georgia" panose="02040502050405020303" pitchFamily="18" charset="0"/>
              </a:rPr>
              <a:t>* Porte: </a:t>
            </a:r>
            <a:r>
              <a:rPr lang="pt-BR" sz="1500" dirty="0">
                <a:solidFill>
                  <a:srgbClr val="FFFFFF"/>
                </a:solidFill>
                <a:latin typeface="Georgia" panose="02040502050405020303" pitchFamily="18" charset="0"/>
              </a:rPr>
              <a:t>medido pelo preço-alvo do laudo — o valor que recomendamos pagar pela empresa —, fixado antes da abordagem. Não é faturamento.</a:t>
            </a:r>
          </a:p>
        </p:txBody>
      </p:sp>
      <p:sp>
        <p:nvSpPr>
          <p:cNvPr id="190" name="Text 6"/>
          <p:cNvSpPr txBox="1"/>
          <p:nvPr/>
        </p:nvSpPr>
        <p:spPr>
          <a:xfrm>
            <a:off x="1167597" y="8280000"/>
            <a:ext cx="16021155" cy="1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/>
            <a:r>
              <a:rPr lang="pt-BR" sz="1400" i="1" dirty="0">
                <a:solidFill>
                  <a:srgbClr val="B9C9DE"/>
                </a:solidFill>
                <a:latin typeface="Georgia" panose="02040502050405020303" pitchFamily="18" charset="0"/>
              </a:rPr>
              <a:t>Notas: </a:t>
            </a:r>
            <a:r>
              <a:rPr lang="pt-BR" sz="1400" dirty="0">
                <a:solidFill>
                  <a:srgbClr val="B9C9DE"/>
                </a:solidFill>
                <a:latin typeface="Georgia" panose="02040502050405020303" pitchFamily="18" charset="0"/>
              </a:rPr>
              <a:t>Êxito: percentual sobre o preço final da transação mais 10% da economia obtida (preço-alvo menos preço do MoU), com mínimo de R$ 60.000. É devido também se a compra de empresa apresentada pela T&amp;S ocorrer em até 12 meses após o encerramento do mandato. Para empresas acima de R$ 5 mi, os R$ 15.000 do Contrato 1 são creditados do êxito. O Contrato 2 cobre até 4 empresas em diligência simultânea; acima disso, escopo e prazo são definidos sob consulta. As frentes fiscal e trabalhista e jurídica da diligência são contratadas pelo cliente com especialistas, sob a nossa coordenação. Prazos contados da entrega completa do data room pelo vendedor.</a:t>
            </a:r>
          </a:p>
        </p:txBody>
      </p:sp>
      <p:sp>
        <p:nvSpPr>
          <p:cNvPr id="231" name="Text 20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9D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3079332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0E2438">
                  <a:alpha val="100000"/>
                </a:srgbClr>
              </a:gs>
              <a:gs pos="55000">
                <a:srgbClr val="173A59">
                  <a:alpha val="100000"/>
                </a:srgbClr>
              </a:gs>
              <a:gs pos="100000">
                <a:srgbClr val="245078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15000"/>
                </a:srgbClr>
              </a:gs>
              <a:gs pos="55000">
                <a:srgbClr val="D4AF6A">
                  <a:alpha val="0"/>
                </a:srgbClr>
              </a:gs>
            </a:gsLst>
            <a:path path="circle">
              <a:fillToRect l="92000" t="8000" r="8000" b="92000"/>
            </a:path>
          </a:gradFill>
          <a:ln/>
        </p:spPr>
        <p:txBody>
          <a:bodyPr/>
          <a:lstStyle/>
          <a:p>
            <a:endParaRPr lang="en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11704277" y="4729656"/>
            <a:ext cx="8046699" cy="76146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2997" y="843900"/>
            <a:ext cx="400042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1676387" y="723867"/>
            <a:ext cx="2045299" cy="29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587"/>
              </a:lnSpc>
              <a:buNone/>
            </a:pPr>
            <a:r>
              <a:rPr lang="en-US" sz="1275" b="1" kern="0" spc="204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1142997" y="1135321"/>
            <a:ext cx="17602160" cy="675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646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</a:t>
            </a:r>
            <a:r>
              <a:rPr lang="en-US" sz="4650" i="1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conversar.</a:t>
            </a:r>
            <a:endParaRPr lang="en-US" sz="4650" dirty="0"/>
          </a:p>
        </p:txBody>
      </p:sp>
      <p:sp>
        <p:nvSpPr>
          <p:cNvPr id="8" name="Shape 5"/>
          <p:cNvSpPr/>
          <p:nvPr/>
        </p:nvSpPr>
        <p:spPr>
          <a:xfrm>
            <a:off x="1142997" y="2211136"/>
            <a:ext cx="16001964" cy="9525"/>
          </a:xfrm>
          <a:prstGeom prst="rect">
            <a:avLst/>
          </a:prstGeom>
          <a:solidFill>
            <a:srgbClr val="D4AF6A">
              <a:alpha val="4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6"/>
          <p:cNvSpPr/>
          <p:nvPr/>
        </p:nvSpPr>
        <p:spPr>
          <a:xfrm>
            <a:off x="6468267" y="2219831"/>
            <a:ext cx="9525" cy="5080000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1142997" y="2505546"/>
            <a:ext cx="5396828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2997" y="2901648"/>
            <a:ext cx="539682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494"/>
              </a:lnSpc>
              <a:buNone/>
            </a:pPr>
            <a:r>
              <a:rPr lang="en-US" sz="31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Primeira conversa</a:t>
            </a:r>
            <a:endParaRPr lang="en-US" sz="3125" dirty="0"/>
          </a:p>
        </p:txBody>
      </p:sp>
      <p:sp>
        <p:nvSpPr>
          <p:cNvPr id="12" name="Text 9"/>
          <p:cNvSpPr/>
          <p:nvPr/>
        </p:nvSpPr>
        <p:spPr>
          <a:xfrm>
            <a:off x="1142997" y="3581400"/>
            <a:ext cx="5053394" cy="381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2607"/>
              </a:lnSpc>
              <a:buNone/>
            </a:pPr>
            <a:r>
              <a:rPr lang="en-US" sz="2250" dirty="0">
                <a:solidFill>
                  <a:srgbClr val="EAF1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conversa sem custo e sem compromisso, direto com os sócios. Entendemos a sua tese, a sua capacidade de investimento e, se já existir, o alvo em vista. Ao final, você sabe se faz sentido seguir e por onde começar.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1802233" y="2219831"/>
            <a:ext cx="9525" cy="5080000"/>
          </a:xfrm>
          <a:prstGeom prst="rect">
            <a:avLst/>
          </a:prstGeom>
          <a:solidFill>
            <a:srgbClr val="D4AF6A">
              <a:alpha val="2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1"/>
          <p:cNvSpPr/>
          <p:nvPr/>
        </p:nvSpPr>
        <p:spPr>
          <a:xfrm>
            <a:off x="6896026" y="2505546"/>
            <a:ext cx="4935859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96026" y="2901648"/>
            <a:ext cx="493585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494"/>
              </a:lnSpc>
              <a:buNone/>
            </a:pPr>
            <a:r>
              <a:rPr lang="en-US" sz="31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Proposta por escrito</a:t>
            </a:r>
            <a:endParaRPr lang="en-US" sz="3125" dirty="0"/>
          </a:p>
        </p:txBody>
      </p:sp>
      <p:sp>
        <p:nvSpPr>
          <p:cNvPr id="16" name="Text 13"/>
          <p:cNvSpPr/>
          <p:nvPr/>
        </p:nvSpPr>
        <p:spPr>
          <a:xfrm>
            <a:off x="6896026" y="3581400"/>
            <a:ext cx="4621759" cy="381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2607"/>
              </a:lnSpc>
              <a:buNone/>
            </a:pPr>
            <a:r>
              <a:rPr lang="en-US" sz="2250" dirty="0">
                <a:solidFill>
                  <a:srgbClr val="EAF1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da conversa, você recebe o escopo, o prazo e os honorários de avaliação, assessoria e diligência, conforme o seu caso. Tudo por escrito e em etapas separadas: você contrata só o que precisa, quando precisar.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2229991" y="2505546"/>
            <a:ext cx="5406467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229991" y="2901648"/>
            <a:ext cx="54064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494"/>
              </a:lnSpc>
              <a:buNone/>
            </a:pPr>
            <a:r>
              <a:rPr lang="en-US" sz="31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Mandato e início</a:t>
            </a:r>
            <a:endParaRPr lang="en-US" sz="3125" dirty="0"/>
          </a:p>
        </p:txBody>
      </p:sp>
      <p:sp>
        <p:nvSpPr>
          <p:cNvPr id="19" name="Text 16"/>
          <p:cNvSpPr/>
          <p:nvPr/>
        </p:nvSpPr>
        <p:spPr>
          <a:xfrm>
            <a:off x="12229991" y="3581400"/>
            <a:ext cx="5062419" cy="381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2607"/>
              </a:lnSpc>
              <a:buNone/>
            </a:pPr>
            <a:r>
              <a:rPr lang="en-US" sz="2250" dirty="0">
                <a:solidFill>
                  <a:srgbClr val="EAF1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Assinamos o NDA e o contrato e preenchemos com você o quadro da tese, que define o que buscar e o que descartar. A partir dele começa a busca, com o seu nome protegido até você autorizar.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142997" y="8532673"/>
            <a:ext cx="5566376" cy="45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283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fala com quem assina o laudo.</a:t>
            </a:r>
            <a:endParaRPr lang="en-US" sz="2550" dirty="0"/>
          </a:p>
        </p:txBody>
      </p:sp>
      <p:sp>
        <p:nvSpPr>
          <p:cNvPr id="21" name="Text 18"/>
          <p:cNvSpPr/>
          <p:nvPr/>
        </p:nvSpPr>
        <p:spPr>
          <a:xfrm>
            <a:off x="1142997" y="9067897"/>
            <a:ext cx="5566376" cy="34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500" kern="0" spc="9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tonelloesiqueira.com.br</a:t>
            </a:r>
            <a:endParaRPr lang="en-US" sz="15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6514" y="8986653"/>
            <a:ext cx="3238447" cy="38598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2997" y="9639396"/>
            <a:ext cx="647531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9D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informações compartilhadas neste contato são tratadas com confidencialidade.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16648050" y="9639396"/>
            <a:ext cx="57311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kern="0" spc="68" dirty="0">
                <a:solidFill>
                  <a:srgbClr val="9DB4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308338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C0F1AC-E21F-9744-AC68-361BBB1DD890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36abe982-aefd-491d-83fe-3d52b81bf6d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4104</Words>
  <Application>Microsoft Macintosh PowerPoint</Application>
  <PresentationFormat>Custom</PresentationFormat>
  <Paragraphs>361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Alexandre Fillard Tonello</Manager>
  <Company>Tonello &amp; Siqueira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Apresentacao Comprador</dc:title>
  <dc:subject>Comprador</dc:subject>
  <dc:creator>Alexandre Fillard Tonello</dc:creator>
  <cp:keywords/>
  <dc:description/>
  <cp:lastModifiedBy>Alexandre Fillard Tonello</cp:lastModifiedBy>
  <cp:revision>17</cp:revision>
  <dcterms:created xsi:type="dcterms:W3CDTF">2026-09-23T19:38:59Z</dcterms:created>
  <dcterms:modified xsi:type="dcterms:W3CDTF">2026-09-29T02:00:48Z</dcterms:modified>
  <cp:category/>
</cp:coreProperties>
</file>